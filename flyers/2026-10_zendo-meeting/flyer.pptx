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25603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29768" y="384048"/>
            <a:ext cx="2240280" cy="292608"/>
          </a:xfrm>
          <a:prstGeom prst="roundRect">
            <a:avLst>
              <a:gd name="adj" fmla="val 12500"/>
            </a:avLst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地域おこし協力隊のみなさまへ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29768" y="804672"/>
            <a:ext cx="6702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その「やりたい」、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D0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クラウドファンディング</a:t>
            </a:r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全国の応援に変えませんか？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29768" y="2148840"/>
            <a:ext cx="670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企画づくりから公開後まで、KITAICHIがクラファンを伴走サポートします。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0" y="2560320"/>
            <a:ext cx="7562088" cy="1920240"/>
          </a:xfrm>
          <a:prstGeom prst="rect">
            <a:avLst/>
          </a:prstGeom>
          <a:solidFill>
            <a:srgbClr val="DFE6EB"/>
          </a:solidFill>
          <a:ln>
            <a:solidFill>
              <a:srgbClr val="9AA8B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【要差替】写真：協力隊の活動風景／支援プロジェクトの現場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（写真を挿入して、この枠は削除してください）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29768" y="4690872"/>
            <a:ext cx="64008" cy="201168"/>
          </a:xfrm>
          <a:prstGeom prst="roundRect">
            <a:avLst>
              <a:gd name="adj" fmla="val 28571"/>
            </a:avLst>
          </a:prstGeom>
          <a:solidFill>
            <a:srgbClr val="F28C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4645152"/>
            <a:ext cx="6565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クラファン、気になっているけど…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9768" y="5010912"/>
            <a:ext cx="1607058" cy="457200"/>
          </a:xfrm>
          <a:prstGeom prst="roundRect">
            <a:avLst>
              <a:gd name="adj" fmla="val 12000"/>
            </a:avLst>
          </a:prstGeom>
          <a:solidFill>
            <a:srgbClr val="E6F1F7"/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 </a:t>
            </a:r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何から始めればいいか分からない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128266" y="5010912"/>
            <a:ext cx="1607058" cy="457200"/>
          </a:xfrm>
          <a:prstGeom prst="roundRect">
            <a:avLst>
              <a:gd name="adj" fmla="val 12000"/>
            </a:avLst>
          </a:prstGeom>
          <a:solidFill>
            <a:srgbClr val="E6F1F7"/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 </a:t>
            </a:r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本業の活動が忙しくて手が回らない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826764" y="5010912"/>
            <a:ext cx="1607058" cy="457200"/>
          </a:xfrm>
          <a:prstGeom prst="roundRect">
            <a:avLst>
              <a:gd name="adj" fmla="val 12000"/>
            </a:avLst>
          </a:prstGeom>
          <a:solidFill>
            <a:srgbClr val="E6F1F7"/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 </a:t>
            </a:r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リターンや目標金額の決め方が不安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525262" y="5010912"/>
            <a:ext cx="1607058" cy="457200"/>
          </a:xfrm>
          <a:prstGeom prst="roundRect">
            <a:avLst>
              <a:gd name="adj" fmla="val 12000"/>
            </a:avLst>
          </a:prstGeom>
          <a:solidFill>
            <a:srgbClr val="E6F1F7"/>
          </a:solidFill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 </a:t>
            </a:r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集まらなかったらどうしよう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" y="5522976"/>
            <a:ext cx="6702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8C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▼ KITAICHIが、ぜんぶ一緒に考えます 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" y="5833872"/>
            <a:ext cx="160705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208" y="5925312"/>
            <a:ext cx="256032" cy="256032"/>
          </a:xfrm>
          <a:prstGeom prst="ellipse">
            <a:avLst/>
          </a:prstGeom>
          <a:solidFill>
            <a:srgbClr val="2A6F9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" y="5925312"/>
            <a:ext cx="11498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" y="6217920"/>
            <a:ext cx="14241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企画・設計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21208" y="6473952"/>
            <a:ext cx="14241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活動の想いを整理し、目標金額・リターン・スケジュールを一緒に設計。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28266" y="5833872"/>
            <a:ext cx="160705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19706" y="5925312"/>
            <a:ext cx="256032" cy="256032"/>
          </a:xfrm>
          <a:prstGeom prst="ellipse">
            <a:avLst/>
          </a:prstGeom>
          <a:solidFill>
            <a:srgbClr val="2A6F9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530602" y="5925312"/>
            <a:ext cx="11498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2219706" y="6217920"/>
            <a:ext cx="14241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ページ制作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219706" y="6473952"/>
            <a:ext cx="14241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伝わる文章・写真・構成で、応援したくなるプロジェクトページに。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26764" y="5833872"/>
            <a:ext cx="160705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18204" y="5925312"/>
            <a:ext cx="256032" cy="256032"/>
          </a:xfrm>
          <a:prstGeom prst="ellipse">
            <a:avLst/>
          </a:prstGeom>
          <a:solidFill>
            <a:srgbClr val="2A6F9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229100" y="5925312"/>
            <a:ext cx="11498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3918204" y="6217920"/>
            <a:ext cx="14241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広報・集客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918204" y="6473952"/>
            <a:ext cx="14241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SNS・プレスリリース・地域メディアへの発信で支援者を広げます。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525262" y="5833872"/>
            <a:ext cx="160705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16702" y="5925312"/>
            <a:ext cx="256032" cy="256032"/>
          </a:xfrm>
          <a:prstGeom prst="ellipse">
            <a:avLst/>
          </a:prstGeom>
          <a:solidFill>
            <a:srgbClr val="2A6F9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927598" y="5925312"/>
            <a:ext cx="11498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4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5616702" y="6217920"/>
            <a:ext cx="14241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終了後フォロー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616702" y="6473952"/>
            <a:ext cx="14241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リターン発送や支援者との関係づくりまでサポート。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429768" y="6976872"/>
            <a:ext cx="6702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D726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【要確認】</a:t>
            </a:r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サービス内容・料金体系（例：成功報酬型／初期費用0円 等）を記載するか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29768" y="7315200"/>
            <a:ext cx="64008" cy="201168"/>
          </a:xfrm>
          <a:prstGeom prst="roundRect">
            <a:avLst>
              <a:gd name="adj" fmla="val 28571"/>
            </a:avLst>
          </a:prstGeom>
          <a:solidFill>
            <a:srgbClr val="F28C2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66928" y="7269480"/>
            <a:ext cx="6565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KITAICHIについて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29768" y="7635240"/>
            <a:ext cx="1188720" cy="731520"/>
          </a:xfrm>
          <a:prstGeom prst="rect">
            <a:avLst/>
          </a:prstGeom>
          <a:solidFill>
            <a:srgbClr val="DFE6EB"/>
          </a:solidFill>
          <a:ln w="12700">
            <a:solidFill>
              <a:srgbClr val="9AA8B3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【要差替】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ロゴ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755648" y="7616952"/>
            <a:ext cx="5376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北海道を拠点に、地域の挑戦をクラウドファンディングで後押ししている会社です。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726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【要差替】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設立年・所在地・ミッション・代表者の一言など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755648" y="8119872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E6F1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2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支援実績 ○○件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3035808" y="8119872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E6F1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2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累計支援額 ○○万円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4544568" y="8119872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E6F1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2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達成率 ○○％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5687568" y="81198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←</a:t>
            </a:r>
            <a:pPr indent="0" marL="0">
              <a:buNone/>
            </a:pPr>
            <a:r>
              <a:rPr lang="en-US" sz="850" b="1" dirty="0">
                <a:solidFill>
                  <a:srgbClr val="D726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【要差替】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8549640"/>
            <a:ext cx="7562088" cy="2139696"/>
          </a:xfrm>
          <a:prstGeom prst="rect">
            <a:avLst/>
          </a:prstGeom>
          <a:solidFill>
            <a:srgbClr val="FFF1E3"/>
          </a:solidFill>
          <a:ln w="12700">
            <a:solidFill>
              <a:srgbClr val="FFF1E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29768" y="8732520"/>
            <a:ext cx="2331720" cy="274320"/>
          </a:xfrm>
          <a:prstGeom prst="roundRect">
            <a:avLst>
              <a:gd name="adj" fmla="val 13333"/>
            </a:avLst>
          </a:prstGeom>
          <a:solidFill>
            <a:srgbClr val="F28C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全道meeting参加者限定・先着5名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29768" y="90525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無料オンライン相談、受付中！</a:t>
            </a:r>
            <a:endParaRPr lang="en-US" sz="1900" dirty="0"/>
          </a:p>
        </p:txBody>
      </p:sp>
      <p:sp>
        <p:nvSpPr>
          <p:cNvPr id="46" name="Text 44"/>
          <p:cNvSpPr txBox="1"/>
          <p:nvPr/>
        </p:nvSpPr>
        <p:spPr>
          <a:xfrm>
            <a:off x="429768" y="9464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28C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アイデア段階・まだ何も決まっていなくてもOK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28C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30分・オンライン（Zoom等）で気軽に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28C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相談したからといって、依頼の義務はありません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29768" y="10067544"/>
            <a:ext cx="5120640" cy="0"/>
          </a:xfrm>
          <a:prstGeom prst="line">
            <a:avLst/>
          </a:prstGeom>
          <a:noFill/>
          <a:ln w="9525">
            <a:solidFill>
              <a:srgbClr val="E4B98B"/>
            </a:solidFill>
            <a:prstDash val="dash"/>
          </a:ln>
        </p:spPr>
      </p:sp>
      <p:sp>
        <p:nvSpPr>
          <p:cNvPr id="48" name="Text 46"/>
          <p:cNvSpPr txBox="1"/>
          <p:nvPr/>
        </p:nvSpPr>
        <p:spPr>
          <a:xfrm>
            <a:off x="429768" y="101224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632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株式会社KITAICHI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726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【要確認】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正式社名</a:t>
            </a:r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MAIL：</a:t>
            </a:r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726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【要差替】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TEL：</a:t>
            </a:r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726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【要差替】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WEB：</a:t>
            </a:r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726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【要差替】</a:t>
            </a:r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受付期限：</a:t>
            </a:r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726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【要差替】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2026年○月○日（○）まで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5989320" y="8961120"/>
            <a:ext cx="1143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3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【要差替】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予約フォーム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QR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5715000" y="101498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2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QRから30秒で予約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73736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29768" y="320040"/>
            <a:ext cx="6702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D0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CASE STUDY ／ クラファン事例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29768" y="566928"/>
            <a:ext cx="6702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協力隊の活動も、クラファンで</a:t>
            </a:r>
            <a:endParaRPr lang="en-US" sz="2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こんなふうに広がりました。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29768" y="1344168"/>
            <a:ext cx="6702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あなたの地域・あなたの活動でも、きっとできます。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938528"/>
            <a:ext cx="670255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2075688"/>
            <a:ext cx="1783080" cy="1965960"/>
          </a:xfrm>
          <a:prstGeom prst="rect">
            <a:avLst/>
          </a:prstGeom>
          <a:solidFill>
            <a:srgbClr val="DFE6EB"/>
          </a:solidFill>
          <a:ln w="12700">
            <a:solidFill>
              <a:srgbClr val="9AA8B3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【要差替】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事例1の写真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532888" y="2093976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CASE 01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093976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6F1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○○町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050792" y="2093976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E6F1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特産品開発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532888" y="23957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【要差替】</a:t>
            </a:r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規格外の○○を使った新商品を、町の新しい名物に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532888" y="27432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990088" y="27432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商品開発の初期費用と、町外への認知不足。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532888" y="2971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挑戦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29718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完成品をリターンにして、先行予約型のクラファンを実施。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532888" y="3236976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FF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支援総額</a:t>
            </a:r>
            <a:endParaRPr lang="en-US" sz="75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○○○万円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4041648" y="3236976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FF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支援者数</a:t>
            </a:r>
            <a:endParaRPr lang="en-US" sz="75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○○○人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5550408" y="3236976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FF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達成率</a:t>
            </a:r>
            <a:endParaRPr lang="en-US" sz="75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○○○％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2532888" y="3813048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pPr indent="0" marL="0">
              <a:buNone/>
            </a:pPr>
            <a:r>
              <a:rPr lang="en-US" sz="850" b="1" dirty="0">
                <a:solidFill>
                  <a:srgbClr val="D726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【要差替】</a:t>
            </a:r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協力隊・事業者の声。支援者とのつながりが販路拡大に、など」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9768" y="4343400"/>
            <a:ext cx="670255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4480560"/>
            <a:ext cx="1783080" cy="1965960"/>
          </a:xfrm>
          <a:prstGeom prst="rect">
            <a:avLst/>
          </a:prstGeom>
          <a:solidFill>
            <a:srgbClr val="DFE6EB"/>
          </a:solidFill>
          <a:ln w="12700">
            <a:solidFill>
              <a:srgbClr val="9AA8B3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【要差替】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事例2の写真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532888" y="4498848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CASE 02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4498848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6F1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○○市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050792" y="4498848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E6F1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拠点づくり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2532888" y="48006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【要差替】</a:t>
            </a:r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空き家を改修して、移住者と地域が集まる拠点に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532888" y="5148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2990088" y="51480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改修費が補助金だけでは足りない。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2532888" y="5376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挑戦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5376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改修ワークショップ参加権や命名権をリターンに設定。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532888" y="564184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FF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支援総額</a:t>
            </a:r>
            <a:endParaRPr lang="en-US" sz="75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○○○万円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4041648" y="564184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FF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支援者数</a:t>
            </a:r>
            <a:endParaRPr lang="en-US" sz="75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○○○人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5550408" y="564184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FF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達成率</a:t>
            </a:r>
            <a:endParaRPr lang="en-US" sz="75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○○○％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2532888" y="62179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pPr indent="0" marL="0">
              <a:buNone/>
            </a:pPr>
            <a:r>
              <a:rPr lang="en-US" sz="850" b="1" dirty="0">
                <a:solidFill>
                  <a:srgbClr val="D726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【要差替】</a:t>
            </a:r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協力隊の声。任期後の起業・定住につながった、など」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29768" y="6748272"/>
            <a:ext cx="670255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" y="6885432"/>
            <a:ext cx="1783080" cy="1965960"/>
          </a:xfrm>
          <a:prstGeom prst="rect">
            <a:avLst/>
          </a:prstGeom>
          <a:solidFill>
            <a:srgbClr val="DFE6EB"/>
          </a:solidFill>
          <a:ln w="12700">
            <a:solidFill>
              <a:srgbClr val="9AA8B3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【要差替】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事例3の写真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532888" y="690372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CASE 03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3337560" y="690372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6F1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○○村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050792" y="690372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E6F1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イベント・観光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2532888" y="720547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【要差替】</a:t>
            </a:r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途絶えかけた地域のお祭りを、全国の応援で復活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2532888" y="75529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990088" y="755294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担い手不足と運営費の確保。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2532888" y="77815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A6F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挑戦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2990088" y="778154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関係人口づくりを狙い、当日参加・オンライン参加型のリターンを用意。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2532888" y="804672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FF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支援総額</a:t>
            </a:r>
            <a:endParaRPr lang="en-US" sz="75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○○○万円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4041648" y="804672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FF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支援者数</a:t>
            </a:r>
            <a:endParaRPr lang="en-US" sz="75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○○○人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5550408" y="804672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FF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達成率</a:t>
            </a:r>
            <a:endParaRPr lang="en-US" sz="75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○○○％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2532888" y="862279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pPr indent="0" marL="0">
              <a:buNone/>
            </a:pPr>
            <a:r>
              <a:rPr lang="en-US" sz="850" b="1" dirty="0">
                <a:solidFill>
                  <a:srgbClr val="D726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【要差替】</a:t>
            </a:r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協力隊・地域の方の声。ファンが翌年も来てくれた、など」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9217152"/>
            <a:ext cx="7562088" cy="1472184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9768" y="9646920"/>
            <a:ext cx="64008" cy="201168"/>
          </a:xfrm>
          <a:prstGeom prst="roundRect">
            <a:avLst>
              <a:gd name="adj" fmla="val 28571"/>
            </a:avLst>
          </a:prstGeom>
          <a:solidFill>
            <a:srgbClr val="FFD08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66928" y="960120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次は、あなたの番です。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429768" y="999439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「自分の活動でもできる？」まずは無料相談でお気軽にどうぞ。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全道meeting参加者限定・先着5名／MAIL：○○○@○○○（要差替）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6217920" y="9445752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8B3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QR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5943600" y="104058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無料相談を予約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全道meeting配布チラシ（クラファン伴走サポート）</dc:title>
  <dc:subject>PptxGenJS Presentation</dc:subject>
  <dc:creator>PptxGenJS</dc:creator>
  <cp:lastModifiedBy>PptxGenJS</cp:lastModifiedBy>
  <cp:revision>1</cp:revision>
  <dcterms:created xsi:type="dcterms:W3CDTF">2026-09-27T08:46:37Z</dcterms:created>
  <dcterms:modified xsi:type="dcterms:W3CDTF">2026-09-27T08:46:37Z</dcterms:modified>
</cp:coreProperties>
</file>