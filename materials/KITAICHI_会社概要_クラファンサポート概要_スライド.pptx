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0000" y="198000"/>
            <a:ext cx="4320000" cy="360000"/>
          </a:xfrm>
          <a:prstGeom prst="rect">
            <a:avLst/>
          </a:prstGeom>
          <a:noFill/>
        </p:spPr>
        <p:txBody>
          <a:bodyPr wrap="square" anchor="b" lIns="28800" rIns="28800" tIns="7200" bIns="7200">
            <a:spAutoFit/>
          </a:bodyPr>
          <a:lstStyle/>
          <a:p>
            <a:pPr algn="l">
              <a:lnSpc>
                <a:spcPct val="108000"/>
              </a:lnSpc>
              <a:spcBef>
                <a:spcPts val="0"/>
              </a:spcBef>
            </a:pPr>
            <a:r>
              <a:rPr sz="2000" b="1">
                <a:solidFill>
                  <a:srgbClr val="0A3D3D"/>
                </a:solidFill>
                <a:latin typeface="Noto Sans JP"/>
              </a:rPr>
              <a:t>株式会社KITAICHI </a:t>
            </a:r>
            <a:r>
              <a:rPr sz="1000" b="0">
                <a:solidFill>
                  <a:srgbClr val="5A6B6B"/>
                </a:solidFill>
                <a:latin typeface="Noto Sans JP"/>
              </a:rPr>
              <a:t>（キタイチ）</a:t>
            </a:r>
          </a:p>
        </p:txBody>
      </p:sp>
      <p:sp>
        <p:nvSpPr>
          <p:cNvPr id="3" name="TextBox 2"/>
          <p:cNvSpPr txBox="1"/>
          <p:nvPr/>
        </p:nvSpPr>
        <p:spPr>
          <a:xfrm>
            <a:off x="2880000" y="180000"/>
            <a:ext cx="4320000" cy="360000"/>
          </a:xfrm>
          <a:prstGeom prst="rect">
            <a:avLst/>
          </a:prstGeom>
          <a:noFill/>
        </p:spPr>
        <p:txBody>
          <a:bodyPr wrap="square" anchor="b" lIns="28800" rIns="28800" tIns="7200" bIns="7200">
            <a:spAutoFit/>
          </a:bodyPr>
          <a:lstStyle/>
          <a:p>
            <a:pPr algn="r">
              <a:lnSpc>
                <a:spcPct val="115000"/>
              </a:lnSpc>
              <a:spcBef>
                <a:spcPts val="0"/>
              </a:spcBef>
            </a:pPr>
            <a:r>
              <a:rPr sz="1050" b="1">
                <a:solidFill>
                  <a:srgbClr val="0A6E6E"/>
                </a:solidFill>
                <a:latin typeface="Noto Sans JP"/>
              </a:rPr>
              <a:t>チャレンジする高校生は、</a:t>
            </a:r>
          </a:p>
          <a:p>
            <a:pPr algn="r">
              <a:lnSpc>
                <a:spcPct val="115000"/>
              </a:lnSpc>
              <a:spcBef>
                <a:spcPts val="0"/>
              </a:spcBef>
            </a:pPr>
            <a:r>
              <a:rPr sz="1050" b="1">
                <a:solidFill>
                  <a:srgbClr val="0A6E6E"/>
                </a:solidFill>
                <a:latin typeface="Noto Sans JP"/>
              </a:rPr>
              <a:t>地域が変わるきっかけになる。</a:t>
            </a:r>
          </a:p>
        </p:txBody>
      </p:sp>
      <p:sp>
        <p:nvSpPr>
          <p:cNvPr id="4" name="Rectangle 3"/>
          <p:cNvSpPr/>
          <p:nvPr/>
        </p:nvSpPr>
        <p:spPr>
          <a:xfrm>
            <a:off x="360000" y="594000"/>
            <a:ext cx="6840000" cy="108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students.jpg"/>
          <p:cNvPicPr>
            <a:picLocks noChangeAspect="1"/>
          </p:cNvPicPr>
          <p:nvPr/>
        </p:nvPicPr>
        <p:blipFill>
          <a:blip r:embed="rId2"/>
          <a:stretch>
            <a:fillRect/>
          </a:stretch>
        </p:blipFill>
        <p:spPr>
          <a:xfrm>
            <a:off x="492000" y="702000"/>
            <a:ext cx="2256000" cy="1692000"/>
          </a:xfrm>
          <a:prstGeom prst="rect">
            <a:avLst/>
          </a:prstGeom>
        </p:spPr>
      </p:pic>
      <p:pic>
        <p:nvPicPr>
          <p:cNvPr id="6" name="Picture 5" descr="slide_cf.jpg"/>
          <p:cNvPicPr>
            <a:picLocks noChangeAspect="1"/>
          </p:cNvPicPr>
          <p:nvPr/>
        </p:nvPicPr>
        <p:blipFill>
          <a:blip r:embed="rId3"/>
          <a:stretch>
            <a:fillRect/>
          </a:stretch>
        </p:blipFill>
        <p:spPr>
          <a:xfrm>
            <a:off x="3060000" y="734490"/>
            <a:ext cx="4140000" cy="1627020"/>
          </a:xfrm>
          <a:prstGeom prst="rect">
            <a:avLst/>
          </a:prstGeom>
        </p:spPr>
      </p:pic>
      <p:sp>
        <p:nvSpPr>
          <p:cNvPr id="7" name="Rectangle 6"/>
          <p:cNvSpPr/>
          <p:nvPr/>
        </p:nvSpPr>
        <p:spPr>
          <a:xfrm>
            <a:off x="360000" y="2484000"/>
            <a:ext cx="6840000" cy="3060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484000"/>
            <a:ext cx="6840000" cy="306000"/>
          </a:xfrm>
          <a:prstGeom prst="rect">
            <a:avLst/>
          </a:prstGeom>
          <a:noFill/>
        </p:spPr>
        <p:txBody>
          <a:bodyPr wrap="square" anchor="ctr" lIns="28800" rIns="28800" tIns="7200" bIns="7200">
            <a:spAutoFit/>
          </a:bodyPr>
          <a:lstStyle/>
          <a:p>
            <a:pPr algn="ctr">
              <a:lnSpc>
                <a:spcPct val="108000"/>
              </a:lnSpc>
              <a:spcBef>
                <a:spcPts val="0"/>
              </a:spcBef>
            </a:pPr>
            <a:r>
              <a:rPr sz="1300" b="1">
                <a:solidFill>
                  <a:srgbClr val="FFFFFF"/>
                </a:solidFill>
                <a:latin typeface="Noto Sans JP"/>
              </a:rPr>
              <a:t>会社概要 ＆ クラウドファンディング活用サポートのご案内</a:t>
            </a:r>
          </a:p>
        </p:txBody>
      </p:sp>
      <p:sp>
        <p:nvSpPr>
          <p:cNvPr id="9" name="Rectangle 8"/>
          <p:cNvSpPr/>
          <p:nvPr/>
        </p:nvSpPr>
        <p:spPr>
          <a:xfrm>
            <a:off x="360000" y="2905200"/>
            <a:ext cx="50400" cy="1800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2898000"/>
            <a:ext cx="3600000" cy="198000"/>
          </a:xfrm>
          <a:prstGeom prst="rect">
            <a:avLst/>
          </a:prstGeom>
          <a:noFill/>
        </p:spPr>
        <p:txBody>
          <a:bodyPr wrap="square" anchor="ctr" lIns="28800" rIns="28800" tIns="7200" bIns="7200">
            <a:spAutoFit/>
          </a:bodyPr>
          <a:lstStyle/>
          <a:p>
            <a:pPr algn="l">
              <a:lnSpc>
                <a:spcPct val="108000"/>
              </a:lnSpc>
              <a:spcBef>
                <a:spcPts val="0"/>
              </a:spcBef>
            </a:pPr>
            <a:r>
              <a:rPr sz="1250" b="1">
                <a:solidFill>
                  <a:srgbClr val="0A3D3D"/>
                </a:solidFill>
                <a:latin typeface="Noto Sans JP"/>
              </a:rPr>
              <a:t>サービス概要</a:t>
            </a:r>
          </a:p>
        </p:txBody>
      </p:sp>
      <p:sp>
        <p:nvSpPr>
          <p:cNvPr id="11" name="Rounded Rectangle 10"/>
          <p:cNvSpPr/>
          <p:nvPr/>
        </p:nvSpPr>
        <p:spPr>
          <a:xfrm>
            <a:off x="360000" y="3142800"/>
            <a:ext cx="6840000" cy="360000"/>
          </a:xfrm>
          <a:prstGeom prst="roundRect">
            <a:avLst>
              <a:gd name="adj" fmla="val 8000"/>
            </a:avLst>
          </a:prstGeom>
          <a:solidFill>
            <a:srgbClr val="F1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000" y="3142800"/>
            <a:ext cx="6623999" cy="360000"/>
          </a:xfrm>
          <a:prstGeom prst="rect">
            <a:avLst/>
          </a:prstGeom>
          <a:noFill/>
        </p:spPr>
        <p:txBody>
          <a:bodyPr wrap="square" anchor="ctr" lIns="28800" rIns="28800" tIns="7200" bIns="7200">
            <a:spAutoFit/>
          </a:bodyPr>
          <a:lstStyle/>
          <a:p>
            <a:pPr algn="l">
              <a:lnSpc>
                <a:spcPct val="108000"/>
              </a:lnSpc>
              <a:spcBef>
                <a:spcPts val="0"/>
              </a:spcBef>
            </a:pPr>
            <a:r>
              <a:rPr sz="1400" b="1">
                <a:solidFill>
                  <a:srgbClr val="0A3D3D"/>
                </a:solidFill>
                <a:latin typeface="Noto Sans JP"/>
              </a:rPr>
              <a:t>高校生のチャレンジを、</a:t>
            </a:r>
            <a:r>
              <a:rPr sz="1400" b="1">
                <a:solidFill>
                  <a:srgbClr val="0A6E6E"/>
                </a:solidFill>
                <a:latin typeface="Noto Sans JP"/>
              </a:rPr>
              <a:t>クラウドファンディング</a:t>
            </a:r>
            <a:r>
              <a:rPr sz="1400" b="1">
                <a:solidFill>
                  <a:srgbClr val="0A3D3D"/>
                </a:solidFill>
                <a:latin typeface="Noto Sans JP"/>
              </a:rPr>
              <a:t>で実現します。</a:t>
            </a:r>
          </a:p>
        </p:txBody>
      </p:sp>
      <p:sp>
        <p:nvSpPr>
          <p:cNvPr id="13" name="TextBox 12"/>
          <p:cNvSpPr txBox="1"/>
          <p:nvPr/>
        </p:nvSpPr>
        <p:spPr>
          <a:xfrm>
            <a:off x="360000" y="3556800"/>
            <a:ext cx="6840000" cy="432000"/>
          </a:xfrm>
          <a:prstGeom prst="rect">
            <a:avLst/>
          </a:prstGeom>
          <a:noFill/>
        </p:spPr>
        <p:txBody>
          <a:bodyPr wrap="square" anchor="t" lIns="28800" rIns="28800" tIns="7200" bIns="7200">
            <a:spAutoFit/>
          </a:bodyPr>
          <a:lstStyle/>
          <a:p>
            <a:pPr algn="l">
              <a:lnSpc>
                <a:spcPct val="125000"/>
              </a:lnSpc>
              <a:spcBef>
                <a:spcPts val="0"/>
              </a:spcBef>
            </a:pPr>
            <a:r>
              <a:rPr sz="950" b="0">
                <a:solidFill>
                  <a:srgbClr val="1F2933"/>
                </a:solidFill>
                <a:latin typeface="Noto Sans JP"/>
              </a:rPr>
              <a:t>高校生が主体的に地域のために挑戦し、町内外から応援を集めて実現する経験は、</a:t>
            </a:r>
            <a:r>
              <a:rPr sz="950" b="1">
                <a:solidFill>
                  <a:srgbClr val="0A6E6E"/>
                </a:solidFill>
                <a:latin typeface="Noto Sans JP"/>
              </a:rPr>
              <a:t>生徒の成長にも、地域の未来にも大きな意義があります。</a:t>
            </a:r>
            <a:r>
              <a:rPr sz="950" b="0">
                <a:solidFill>
                  <a:srgbClr val="1F2933"/>
                </a:solidFill>
                <a:latin typeface="Noto Sans JP"/>
              </a:rPr>
              <a:t>「やりたいけれど予算がない」というハードルを、企画から支援獲得までの伴走で乗り越えます。提供内容は次の2つです。</a:t>
            </a:r>
          </a:p>
        </p:txBody>
      </p:sp>
      <p:sp>
        <p:nvSpPr>
          <p:cNvPr id="14" name="Rounded Rectangle 13"/>
          <p:cNvSpPr/>
          <p:nvPr/>
        </p:nvSpPr>
        <p:spPr>
          <a:xfrm>
            <a:off x="360000" y="4132800"/>
            <a:ext cx="3330000" cy="720000"/>
          </a:xfrm>
          <a:prstGeom prst="roundRect">
            <a:avLst>
              <a:gd name="adj" fmla="val 8000"/>
            </a:avLst>
          </a:prstGeom>
          <a:solidFill>
            <a:srgbClr val="F1F8F8"/>
          </a:solidFill>
          <a:ln w="9525">
            <a:solidFill>
              <a:srgbClr val="B9D4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0000" y="4132800"/>
            <a:ext cx="3330000" cy="324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0000" y="4212000"/>
            <a:ext cx="522000" cy="151200"/>
          </a:xfrm>
          <a:prstGeom prst="roundRect">
            <a:avLst>
              <a:gd name="adj" fmla="val 8000"/>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000" y="4204800"/>
            <a:ext cx="522000" cy="162000"/>
          </a:xfrm>
          <a:prstGeom prst="rect">
            <a:avLst/>
          </a:prstGeom>
          <a:noFill/>
        </p:spPr>
        <p:txBody>
          <a:bodyPr wrap="square" anchor="ctr" lIns="28800" rIns="28800" tIns="7200" bIns="7200">
            <a:spAutoFit/>
          </a:bodyPr>
          <a:lstStyle/>
          <a:p>
            <a:pPr algn="ctr">
              <a:lnSpc>
                <a:spcPct val="108000"/>
              </a:lnSpc>
              <a:spcBef>
                <a:spcPts val="0"/>
              </a:spcBef>
            </a:pPr>
            <a:r>
              <a:rPr sz="900" b="1">
                <a:solidFill>
                  <a:srgbClr val="FFFFFF"/>
                </a:solidFill>
                <a:latin typeface="Noto Sans JP"/>
              </a:rPr>
              <a:t>提供①</a:t>
            </a:r>
          </a:p>
        </p:txBody>
      </p:sp>
      <p:sp>
        <p:nvSpPr>
          <p:cNvPr id="18" name="TextBox 17"/>
          <p:cNvSpPr txBox="1"/>
          <p:nvPr/>
        </p:nvSpPr>
        <p:spPr>
          <a:xfrm>
            <a:off x="450000" y="4384800"/>
            <a:ext cx="3150000" cy="216000"/>
          </a:xfrm>
          <a:prstGeom prst="rect">
            <a:avLst/>
          </a:prstGeom>
          <a:noFill/>
        </p:spPr>
        <p:txBody>
          <a:bodyPr wrap="square" anchor="t" lIns="28800" rIns="28800" tIns="7200" bIns="7200">
            <a:spAutoFit/>
          </a:bodyPr>
          <a:lstStyle/>
          <a:p>
            <a:pPr algn="l">
              <a:lnSpc>
                <a:spcPct val="110000"/>
              </a:lnSpc>
              <a:spcBef>
                <a:spcPts val="0"/>
              </a:spcBef>
            </a:pPr>
            <a:r>
              <a:rPr sz="1000" b="1">
                <a:solidFill>
                  <a:srgbClr val="0A3D3D"/>
                </a:solidFill>
                <a:latin typeface="Noto Sans JP"/>
              </a:rPr>
              <a:t>クラウドファンディングで地域での探究活動を実現</a:t>
            </a:r>
          </a:p>
        </p:txBody>
      </p:sp>
      <p:sp>
        <p:nvSpPr>
          <p:cNvPr id="19" name="TextBox 18"/>
          <p:cNvSpPr txBox="1"/>
          <p:nvPr/>
        </p:nvSpPr>
        <p:spPr>
          <a:xfrm>
            <a:off x="450000" y="4593600"/>
            <a:ext cx="3150000" cy="251999"/>
          </a:xfrm>
          <a:prstGeom prst="rect">
            <a:avLst/>
          </a:prstGeom>
          <a:noFill/>
        </p:spPr>
        <p:txBody>
          <a:bodyPr wrap="square" anchor="t" lIns="28800" rIns="28800" tIns="7200" bIns="7200">
            <a:spAutoFit/>
          </a:bodyPr>
          <a:lstStyle/>
          <a:p>
            <a:pPr algn="l">
              <a:lnSpc>
                <a:spcPct val="118000"/>
              </a:lnSpc>
              <a:spcBef>
                <a:spcPts val="0"/>
              </a:spcBef>
            </a:pPr>
            <a:r>
              <a:rPr sz="850" b="0">
                <a:solidFill>
                  <a:srgbClr val="3A4A4A"/>
                </a:solidFill>
                <a:latin typeface="Noto Sans JP"/>
              </a:rPr>
              <a:t>生徒の「地域のためにやりたいこと」を、企画づくりから支援の獲得まで伴走し、実現まで導きます。（例：花火大会・地域イベント 等）</a:t>
            </a:r>
          </a:p>
        </p:txBody>
      </p:sp>
      <p:sp>
        <p:nvSpPr>
          <p:cNvPr id="20" name="Rounded Rectangle 19"/>
          <p:cNvSpPr/>
          <p:nvPr/>
        </p:nvSpPr>
        <p:spPr>
          <a:xfrm>
            <a:off x="3870000" y="4132800"/>
            <a:ext cx="3330000" cy="720000"/>
          </a:xfrm>
          <a:prstGeom prst="roundRect">
            <a:avLst>
              <a:gd name="adj" fmla="val 8000"/>
            </a:avLst>
          </a:prstGeom>
          <a:solidFill>
            <a:srgbClr val="F1F8F8"/>
          </a:solidFill>
          <a:ln w="9525">
            <a:solidFill>
              <a:srgbClr val="B9D4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70000" y="4132800"/>
            <a:ext cx="3330000" cy="324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960000" y="4212000"/>
            <a:ext cx="522000" cy="151200"/>
          </a:xfrm>
          <a:prstGeom prst="roundRect">
            <a:avLst>
              <a:gd name="adj" fmla="val 8000"/>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60000" y="4204800"/>
            <a:ext cx="522000" cy="162000"/>
          </a:xfrm>
          <a:prstGeom prst="rect">
            <a:avLst/>
          </a:prstGeom>
          <a:noFill/>
        </p:spPr>
        <p:txBody>
          <a:bodyPr wrap="square" anchor="ctr" lIns="28800" rIns="28800" tIns="7200" bIns="7200">
            <a:spAutoFit/>
          </a:bodyPr>
          <a:lstStyle/>
          <a:p>
            <a:pPr algn="ctr">
              <a:lnSpc>
                <a:spcPct val="108000"/>
              </a:lnSpc>
              <a:spcBef>
                <a:spcPts val="0"/>
              </a:spcBef>
            </a:pPr>
            <a:r>
              <a:rPr sz="900" b="1">
                <a:solidFill>
                  <a:srgbClr val="FFFFFF"/>
                </a:solidFill>
                <a:latin typeface="Noto Sans JP"/>
              </a:rPr>
              <a:t>提供②</a:t>
            </a:r>
          </a:p>
        </p:txBody>
      </p:sp>
      <p:sp>
        <p:nvSpPr>
          <p:cNvPr id="24" name="TextBox 23"/>
          <p:cNvSpPr txBox="1"/>
          <p:nvPr/>
        </p:nvSpPr>
        <p:spPr>
          <a:xfrm>
            <a:off x="3960000" y="4384800"/>
            <a:ext cx="3150000" cy="216000"/>
          </a:xfrm>
          <a:prstGeom prst="rect">
            <a:avLst/>
          </a:prstGeom>
          <a:noFill/>
        </p:spPr>
        <p:txBody>
          <a:bodyPr wrap="square" anchor="t" lIns="28800" rIns="28800" tIns="7200" bIns="7200">
            <a:spAutoFit/>
          </a:bodyPr>
          <a:lstStyle/>
          <a:p>
            <a:pPr algn="l">
              <a:lnSpc>
                <a:spcPct val="110000"/>
              </a:lnSpc>
              <a:spcBef>
                <a:spcPts val="0"/>
              </a:spcBef>
            </a:pPr>
            <a:r>
              <a:rPr sz="1000" b="1">
                <a:solidFill>
                  <a:srgbClr val="0A3D3D"/>
                </a:solidFill>
                <a:latin typeface="Noto Sans JP"/>
              </a:rPr>
              <a:t>総合的な探究学習の伴走／単発授業にも対応</a:t>
            </a:r>
          </a:p>
        </p:txBody>
      </p:sp>
      <p:sp>
        <p:nvSpPr>
          <p:cNvPr id="25" name="TextBox 24"/>
          <p:cNvSpPr txBox="1"/>
          <p:nvPr/>
        </p:nvSpPr>
        <p:spPr>
          <a:xfrm>
            <a:off x="3960000" y="4593600"/>
            <a:ext cx="3150000" cy="251999"/>
          </a:xfrm>
          <a:prstGeom prst="rect">
            <a:avLst/>
          </a:prstGeom>
          <a:noFill/>
        </p:spPr>
        <p:txBody>
          <a:bodyPr wrap="square" anchor="t" lIns="28800" rIns="28800" tIns="7200" bIns="7200">
            <a:spAutoFit/>
          </a:bodyPr>
          <a:lstStyle/>
          <a:p>
            <a:pPr algn="l">
              <a:lnSpc>
                <a:spcPct val="118000"/>
              </a:lnSpc>
              <a:spcBef>
                <a:spcPts val="0"/>
              </a:spcBef>
            </a:pPr>
            <a:r>
              <a:rPr sz="850" b="0">
                <a:solidFill>
                  <a:srgbClr val="3A4A4A"/>
                </a:solidFill>
                <a:latin typeface="Noto Sans JP"/>
              </a:rPr>
              <a:t>年間を通じた探究の伴走のほか、1回〜数回の授業でクラウドファンディングを解説することも可能。予算に応じ柔軟に対応します。</a:t>
            </a:r>
          </a:p>
        </p:txBody>
      </p:sp>
      <p:sp>
        <p:nvSpPr>
          <p:cNvPr id="26" name="Rectangle 25"/>
          <p:cNvSpPr/>
          <p:nvPr/>
        </p:nvSpPr>
        <p:spPr>
          <a:xfrm>
            <a:off x="360000" y="4986000"/>
            <a:ext cx="50400" cy="1620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4978800"/>
            <a:ext cx="3330000" cy="180000"/>
          </a:xfrm>
          <a:prstGeom prst="rect">
            <a:avLst/>
          </a:prstGeom>
          <a:noFill/>
        </p:spPr>
        <p:txBody>
          <a:bodyPr wrap="square" anchor="ctr" lIns="28800" rIns="28800" tIns="7200" bIns="7200">
            <a:spAutoFit/>
          </a:bodyPr>
          <a:lstStyle/>
          <a:p>
            <a:pPr algn="l">
              <a:lnSpc>
                <a:spcPct val="108000"/>
              </a:lnSpc>
              <a:spcBef>
                <a:spcPts val="0"/>
              </a:spcBef>
            </a:pPr>
            <a:r>
              <a:rPr sz="1100" b="1">
                <a:solidFill>
                  <a:srgbClr val="0A3D3D"/>
                </a:solidFill>
                <a:latin typeface="Noto Sans JP"/>
              </a:rPr>
              <a:t>サポートの強み</a:t>
            </a:r>
          </a:p>
        </p:txBody>
      </p:sp>
      <p:sp>
        <p:nvSpPr>
          <p:cNvPr id="28" name="TextBox 27"/>
          <p:cNvSpPr txBox="1"/>
          <p:nvPr/>
        </p:nvSpPr>
        <p:spPr>
          <a:xfrm>
            <a:off x="360000" y="5194800"/>
            <a:ext cx="3330000" cy="1080000"/>
          </a:xfrm>
          <a:prstGeom prst="rect">
            <a:avLst/>
          </a:prstGeom>
          <a:noFill/>
        </p:spPr>
        <p:txBody>
          <a:bodyPr wrap="square" anchor="t" lIns="28800" rIns="28800" tIns="7200" bIns="7200">
            <a:spAutoFit/>
          </a:bodyPr>
          <a:lstStyle/>
          <a:p>
            <a:pPr algn="l">
              <a:lnSpc>
                <a:spcPct val="120000"/>
              </a:lnSpc>
              <a:spcBef>
                <a:spcPts val="0"/>
              </a:spcBef>
              <a:spcAft>
                <a:spcPts val="200"/>
              </a:spcAft>
            </a:pPr>
            <a:r>
              <a:rPr sz="900" b="1">
                <a:solidFill>
                  <a:srgbClr val="0A6E6E"/>
                </a:solidFill>
                <a:latin typeface="Noto Sans JP"/>
              </a:rPr>
              <a:t>① プロによる伴走</a:t>
            </a:r>
          </a:p>
          <a:p>
            <a:pPr algn="l">
              <a:lnSpc>
                <a:spcPct val="120000"/>
              </a:lnSpc>
              <a:spcBef>
                <a:spcPts val="0"/>
              </a:spcBef>
              <a:spcAft>
                <a:spcPts val="200"/>
              </a:spcAft>
            </a:pPr>
            <a:r>
              <a:rPr sz="830" b="0">
                <a:solidFill>
                  <a:srgbClr val="3A4A4A"/>
                </a:solidFill>
                <a:latin typeface="Noto Sans JP"/>
              </a:rPr>
              <a:t>元自治体職員・元サイト運営者・ファンドレイザーが、ページ制作・返礼品設計・プロモーションを支援。</a:t>
            </a:r>
          </a:p>
          <a:p>
            <a:pPr algn="l">
              <a:lnSpc>
                <a:spcPct val="120000"/>
              </a:lnSpc>
              <a:spcBef>
                <a:spcPts val="0"/>
              </a:spcBef>
              <a:spcAft>
                <a:spcPts val="200"/>
              </a:spcAft>
            </a:pPr>
            <a:r>
              <a:rPr sz="900" b="1">
                <a:solidFill>
                  <a:srgbClr val="0A6E6E"/>
                </a:solidFill>
                <a:latin typeface="Noto Sans JP"/>
              </a:rPr>
              <a:t>② 進行管理で負担を軽減</a:t>
            </a:r>
          </a:p>
          <a:p>
            <a:pPr algn="l">
              <a:lnSpc>
                <a:spcPct val="120000"/>
              </a:lnSpc>
              <a:spcBef>
                <a:spcPts val="0"/>
              </a:spcBef>
              <a:spcAft>
                <a:spcPts val="200"/>
              </a:spcAft>
            </a:pPr>
            <a:r>
              <a:rPr sz="830" b="0">
                <a:solidFill>
                  <a:srgbClr val="3A4A4A"/>
                </a:solidFill>
                <a:latin typeface="Noto Sans JP"/>
              </a:rPr>
              <a:t>企画から終了までスケジュールを管理し、できる限り負担のかからない運営を実現。</a:t>
            </a:r>
          </a:p>
          <a:p>
            <a:pPr algn="l">
              <a:lnSpc>
                <a:spcPct val="120000"/>
              </a:lnSpc>
              <a:spcBef>
                <a:spcPts val="0"/>
              </a:spcBef>
              <a:spcAft>
                <a:spcPts val="200"/>
              </a:spcAft>
            </a:pPr>
            <a:r>
              <a:rPr sz="900" b="1">
                <a:solidFill>
                  <a:srgbClr val="0A6E6E"/>
                </a:solidFill>
                <a:latin typeface="Noto Sans JP"/>
              </a:rPr>
              <a:t>③ 850件超の実績に基づく伴走力</a:t>
            </a:r>
          </a:p>
          <a:p>
            <a:pPr algn="l">
              <a:lnSpc>
                <a:spcPct val="120000"/>
              </a:lnSpc>
              <a:spcBef>
                <a:spcPts val="0"/>
              </a:spcBef>
              <a:spcAft>
                <a:spcPts val="200"/>
              </a:spcAft>
            </a:pPr>
            <a:r>
              <a:rPr sz="830" b="0">
                <a:solidFill>
                  <a:srgbClr val="3A4A4A"/>
                </a:solidFill>
                <a:latin typeface="Noto Sans JP"/>
              </a:rPr>
              <a:t>密に連絡を取り、生徒のモチベーション面まで寄り添いサポートします。</a:t>
            </a:r>
          </a:p>
        </p:txBody>
      </p:sp>
      <p:sp>
        <p:nvSpPr>
          <p:cNvPr id="29" name="Rectangle 28"/>
          <p:cNvSpPr/>
          <p:nvPr/>
        </p:nvSpPr>
        <p:spPr>
          <a:xfrm>
            <a:off x="3870000" y="4986000"/>
            <a:ext cx="50400" cy="1620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78000" y="4978800"/>
            <a:ext cx="3330000" cy="180000"/>
          </a:xfrm>
          <a:prstGeom prst="rect">
            <a:avLst/>
          </a:prstGeom>
          <a:noFill/>
        </p:spPr>
        <p:txBody>
          <a:bodyPr wrap="square" anchor="ctr" lIns="28800" rIns="28800" tIns="7200" bIns="7200">
            <a:spAutoFit/>
          </a:bodyPr>
          <a:lstStyle/>
          <a:p>
            <a:pPr algn="l">
              <a:lnSpc>
                <a:spcPct val="108000"/>
              </a:lnSpc>
              <a:spcBef>
                <a:spcPts val="0"/>
              </a:spcBef>
            </a:pPr>
            <a:r>
              <a:rPr sz="1100" b="1">
                <a:solidFill>
                  <a:srgbClr val="0A3D3D"/>
                </a:solidFill>
                <a:latin typeface="Noto Sans JP"/>
              </a:rPr>
              <a:t>サポートの流れ（5ステップ）</a:t>
            </a:r>
          </a:p>
        </p:txBody>
      </p:sp>
      <p:sp>
        <p:nvSpPr>
          <p:cNvPr id="31" name="TextBox 30"/>
          <p:cNvSpPr txBox="1"/>
          <p:nvPr/>
        </p:nvSpPr>
        <p:spPr>
          <a:xfrm>
            <a:off x="3870000" y="5194800"/>
            <a:ext cx="3330000" cy="1080000"/>
          </a:xfrm>
          <a:prstGeom prst="rect">
            <a:avLst/>
          </a:prstGeom>
          <a:noFill/>
        </p:spPr>
        <p:txBody>
          <a:bodyPr wrap="square" anchor="t" lIns="28800" rIns="28800" tIns="7200" bIns="7200">
            <a:spAutoFit/>
          </a:bodyPr>
          <a:lstStyle/>
          <a:p>
            <a:pPr algn="l">
              <a:lnSpc>
                <a:spcPct val="115000"/>
              </a:lnSpc>
              <a:spcBef>
                <a:spcPts val="0"/>
              </a:spcBef>
              <a:spcAft>
                <a:spcPts val="300"/>
              </a:spcAft>
            </a:pPr>
            <a:r>
              <a:rPr sz="830" b="1">
                <a:solidFill>
                  <a:srgbClr val="0A3D3D"/>
                </a:solidFill>
                <a:latin typeface="Noto Sans JP"/>
              </a:rPr>
              <a:t>01 企画設計　</a:t>
            </a:r>
            <a:r>
              <a:rPr sz="830" b="0">
                <a:solidFill>
                  <a:srgbClr val="3A4A4A"/>
                </a:solidFill>
                <a:latin typeface="Noto Sans JP"/>
              </a:rPr>
              <a:t>ヒアリング・スケジュール作成・企画内容の整理</a:t>
            </a:r>
          </a:p>
          <a:p>
            <a:pPr algn="l">
              <a:lnSpc>
                <a:spcPct val="115000"/>
              </a:lnSpc>
              <a:spcBef>
                <a:spcPts val="0"/>
              </a:spcBef>
              <a:spcAft>
                <a:spcPts val="300"/>
              </a:spcAft>
            </a:pPr>
            <a:r>
              <a:rPr sz="830" b="1">
                <a:solidFill>
                  <a:srgbClr val="0A3D3D"/>
                </a:solidFill>
                <a:latin typeface="Noto Sans JP"/>
              </a:rPr>
              <a:t>02 ページ制作　</a:t>
            </a:r>
            <a:r>
              <a:rPr sz="830" b="0">
                <a:solidFill>
                  <a:srgbClr val="3A4A4A"/>
                </a:solidFill>
                <a:latin typeface="Noto Sans JP"/>
              </a:rPr>
              <a:t>構成作成・文章入力・写真準備・トップ画像制作・審査対応</a:t>
            </a:r>
          </a:p>
          <a:p>
            <a:pPr algn="l">
              <a:lnSpc>
                <a:spcPct val="115000"/>
              </a:lnSpc>
              <a:spcBef>
                <a:spcPts val="0"/>
              </a:spcBef>
              <a:spcAft>
                <a:spcPts val="300"/>
              </a:spcAft>
            </a:pPr>
            <a:r>
              <a:rPr sz="830" b="1">
                <a:solidFill>
                  <a:srgbClr val="0A3D3D"/>
                </a:solidFill>
                <a:latin typeface="Noto Sans JP"/>
              </a:rPr>
              <a:t>03 リターン設計　</a:t>
            </a:r>
            <a:r>
              <a:rPr sz="830" b="0">
                <a:solidFill>
                  <a:srgbClr val="3A4A4A"/>
                </a:solidFill>
                <a:latin typeface="Noto Sans JP"/>
              </a:rPr>
              <a:t>返礼品のアイデア出し・内容検討・ページへの反映</a:t>
            </a:r>
          </a:p>
          <a:p>
            <a:pPr algn="l">
              <a:lnSpc>
                <a:spcPct val="115000"/>
              </a:lnSpc>
              <a:spcBef>
                <a:spcPts val="0"/>
              </a:spcBef>
              <a:spcAft>
                <a:spcPts val="300"/>
              </a:spcAft>
            </a:pPr>
            <a:r>
              <a:rPr sz="830" b="1">
                <a:solidFill>
                  <a:srgbClr val="0A3D3D"/>
                </a:solidFill>
                <a:latin typeface="Noto Sans JP"/>
              </a:rPr>
              <a:t>04 プロモ準備　</a:t>
            </a:r>
            <a:r>
              <a:rPr sz="830" b="0">
                <a:solidFill>
                  <a:srgbClr val="3A4A4A"/>
                </a:solidFill>
                <a:latin typeface="Noto Sans JP"/>
              </a:rPr>
              <a:t>告知方法のヒアリング・戦略策定・告知先リスト・例文提供</a:t>
            </a:r>
          </a:p>
          <a:p>
            <a:pPr algn="l">
              <a:lnSpc>
                <a:spcPct val="115000"/>
              </a:lnSpc>
              <a:spcBef>
                <a:spcPts val="0"/>
              </a:spcBef>
              <a:spcAft>
                <a:spcPts val="300"/>
              </a:spcAft>
            </a:pPr>
            <a:r>
              <a:rPr sz="830" b="1">
                <a:solidFill>
                  <a:srgbClr val="0A3D3D"/>
                </a:solidFill>
                <a:latin typeface="Noto Sans JP"/>
              </a:rPr>
              <a:t>05 公開後対応　</a:t>
            </a:r>
            <a:r>
              <a:rPr sz="830" b="0">
                <a:solidFill>
                  <a:srgbClr val="3A4A4A"/>
                </a:solidFill>
                <a:latin typeface="Noto Sans JP"/>
              </a:rPr>
              <a:t>告知活動・改善アドバイス・支援者対応・リターン発送</a:t>
            </a:r>
          </a:p>
        </p:txBody>
      </p:sp>
      <p:sp>
        <p:nvSpPr>
          <p:cNvPr id="32" name="Rounded Rectangle 31"/>
          <p:cNvSpPr/>
          <p:nvPr/>
        </p:nvSpPr>
        <p:spPr>
          <a:xfrm>
            <a:off x="360000" y="6310800"/>
            <a:ext cx="6840000" cy="360000"/>
          </a:xfrm>
          <a:prstGeom prst="roundRect">
            <a:avLst>
              <a:gd name="adj" fmla="val 8000"/>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6000" y="6310800"/>
            <a:ext cx="1152000" cy="360000"/>
          </a:xfrm>
          <a:prstGeom prst="rect">
            <a:avLst/>
          </a:prstGeom>
          <a:noFill/>
        </p:spPr>
        <p:txBody>
          <a:bodyPr wrap="square" anchor="ctr" lIns="28800" rIns="28800" tIns="7200" bIns="7200">
            <a:spAutoFit/>
          </a:bodyPr>
          <a:lstStyle/>
          <a:p>
            <a:pPr algn="l">
              <a:lnSpc>
                <a:spcPct val="100000"/>
              </a:lnSpc>
              <a:spcBef>
                <a:spcPts val="0"/>
              </a:spcBef>
            </a:pPr>
            <a:r>
              <a:rPr sz="1000" b="1">
                <a:solidFill>
                  <a:srgbClr val="FFFFFF"/>
                </a:solidFill>
                <a:latin typeface="Noto Sans JP"/>
              </a:rPr>
              <a:t>サポート料金</a:t>
            </a:r>
          </a:p>
          <a:p>
            <a:pPr algn="l">
              <a:lnSpc>
                <a:spcPct val="100000"/>
              </a:lnSpc>
              <a:spcBef>
                <a:spcPts val="0"/>
              </a:spcBef>
            </a:pPr>
            <a:r>
              <a:rPr sz="700" b="0">
                <a:solidFill>
                  <a:srgbClr val="BFE3E3"/>
                </a:solidFill>
                <a:latin typeface="Noto Sans JP"/>
              </a:rPr>
              <a:t>成功報酬型</a:t>
            </a:r>
          </a:p>
        </p:txBody>
      </p:sp>
      <p:sp>
        <p:nvSpPr>
          <p:cNvPr id="34" name="TextBox 33"/>
          <p:cNvSpPr txBox="1"/>
          <p:nvPr/>
        </p:nvSpPr>
        <p:spPr>
          <a:xfrm>
            <a:off x="1692000" y="6310800"/>
            <a:ext cx="5400000" cy="360000"/>
          </a:xfrm>
          <a:prstGeom prst="rect">
            <a:avLst/>
          </a:prstGeom>
          <a:noFill/>
        </p:spPr>
        <p:txBody>
          <a:bodyPr wrap="square" anchor="ctr" lIns="28800" rIns="28800" tIns="7200" bIns="7200">
            <a:spAutoFit/>
          </a:bodyPr>
          <a:lstStyle/>
          <a:p>
            <a:pPr algn="l">
              <a:lnSpc>
                <a:spcPct val="108000"/>
              </a:lnSpc>
              <a:spcBef>
                <a:spcPts val="0"/>
              </a:spcBef>
            </a:pPr>
            <a:r>
              <a:rPr sz="1100" b="0">
                <a:solidFill>
                  <a:srgbClr val="FFFFFF"/>
                </a:solidFill>
                <a:latin typeface="Noto Sans JP"/>
              </a:rPr>
              <a:t>集まった支援額 × </a:t>
            </a:r>
            <a:r>
              <a:rPr sz="1300" b="1">
                <a:solidFill>
                  <a:srgbClr val="FFE08A"/>
                </a:solidFill>
                <a:latin typeface="Noto Sans JP"/>
              </a:rPr>
              <a:t>5％ ＋ 税</a:t>
            </a:r>
            <a:r>
              <a:rPr sz="800" b="0">
                <a:solidFill>
                  <a:srgbClr val="D6EFEF"/>
                </a:solidFill>
                <a:latin typeface="Noto Sans JP"/>
              </a:rPr>
              <a:t>　― 持ち出しの費用は一切ございません（成果が出た分のみのお支払い）</a:t>
            </a:r>
          </a:p>
        </p:txBody>
      </p:sp>
      <p:sp>
        <p:nvSpPr>
          <p:cNvPr id="35" name="Rounded Rectangle 34"/>
          <p:cNvSpPr/>
          <p:nvPr/>
        </p:nvSpPr>
        <p:spPr>
          <a:xfrm>
            <a:off x="360000" y="6760800"/>
            <a:ext cx="6840000" cy="774000"/>
          </a:xfrm>
          <a:prstGeom prst="roundRect">
            <a:avLst>
              <a:gd name="adj" fmla="val 8000"/>
            </a:avLst>
          </a:prstGeom>
          <a:solidFill>
            <a:srgbClr val="FFF7EC"/>
          </a:solidFill>
          <a:ln w="9525">
            <a:solidFill>
              <a:srgbClr val="F0D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6000" y="6825600"/>
            <a:ext cx="6588000" cy="684000"/>
          </a:xfrm>
          <a:prstGeom prst="rect">
            <a:avLst/>
          </a:prstGeom>
          <a:noFill/>
        </p:spPr>
        <p:txBody>
          <a:bodyPr wrap="square" anchor="t" lIns="28800" rIns="28800" tIns="7200" bIns="7200">
            <a:spAutoFit/>
          </a:bodyPr>
          <a:lstStyle/>
          <a:p>
            <a:pPr algn="l">
              <a:lnSpc>
                <a:spcPct val="130000"/>
              </a:lnSpc>
              <a:spcBef>
                <a:spcPts val="0"/>
              </a:spcBef>
              <a:spcAft>
                <a:spcPts val="200"/>
              </a:spcAft>
            </a:pPr>
            <a:r>
              <a:rPr sz="900" b="1">
                <a:solidFill>
                  <a:srgbClr val="B8741A"/>
                </a:solidFill>
                <a:latin typeface="Noto Sans JP"/>
              </a:rPr>
              <a:t>これまでの実績・取り組み</a:t>
            </a:r>
          </a:p>
          <a:p>
            <a:pPr algn="l">
              <a:lnSpc>
                <a:spcPct val="130000"/>
              </a:lnSpc>
              <a:spcBef>
                <a:spcPts val="0"/>
              </a:spcBef>
              <a:spcAft>
                <a:spcPts val="200"/>
              </a:spcAft>
            </a:pPr>
            <a:r>
              <a:rPr sz="840" b="0">
                <a:solidFill>
                  <a:srgbClr val="1F2933"/>
                </a:solidFill>
                <a:latin typeface="Noto Sans JP"/>
              </a:rPr>
              <a:t>● ふるさとチョイス クラウドファンディングのサイト運営業務を受託し、全国自治体 850プロジェクトの立ち上げをサポート（令和7年度）。</a:t>
            </a:r>
          </a:p>
          <a:p>
            <a:pPr algn="l">
              <a:lnSpc>
                <a:spcPct val="130000"/>
              </a:lnSpc>
              <a:spcBef>
                <a:spcPts val="0"/>
              </a:spcBef>
              <a:spcAft>
                <a:spcPts val="200"/>
              </a:spcAft>
            </a:pPr>
            <a:r>
              <a:rPr sz="840" b="0">
                <a:solidFill>
                  <a:srgbClr val="1F2933"/>
                </a:solidFill>
                <a:latin typeface="Noto Sans JP"/>
              </a:rPr>
              <a:t>● 三重県立相可高校の総合的な探究学習を1年間伴走。生徒が地域貢献の取り組みを具体化し、クラファンで実現するまで支援。</a:t>
            </a:r>
          </a:p>
          <a:p>
            <a:pPr algn="l">
              <a:lnSpc>
                <a:spcPct val="130000"/>
              </a:lnSpc>
              <a:spcBef>
                <a:spcPts val="0"/>
              </a:spcBef>
              <a:spcAft>
                <a:spcPts val="200"/>
              </a:spcAft>
            </a:pPr>
            <a:r>
              <a:rPr sz="840" b="0">
                <a:solidFill>
                  <a:srgbClr val="1F2933"/>
                </a:solidFill>
                <a:latin typeface="Noto Sans JP"/>
              </a:rPr>
              <a:t>● 北海道立上ノ国高校の生徒会が、町民も楽しめる学校祭を目指し花火大会を企画。募金とクラファンで幅広く応援を獲得。</a:t>
            </a:r>
          </a:p>
        </p:txBody>
      </p:sp>
      <p:sp>
        <p:nvSpPr>
          <p:cNvPr id="37" name="Rectangle 36"/>
          <p:cNvSpPr/>
          <p:nvPr/>
        </p:nvSpPr>
        <p:spPr>
          <a:xfrm>
            <a:off x="360000" y="7650000"/>
            <a:ext cx="50400" cy="1620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8000" y="7642800"/>
            <a:ext cx="3330000" cy="180000"/>
          </a:xfrm>
          <a:prstGeom prst="rect">
            <a:avLst/>
          </a:prstGeom>
          <a:noFill/>
        </p:spPr>
        <p:txBody>
          <a:bodyPr wrap="square" anchor="ctr" lIns="28800" rIns="28800" tIns="7200" bIns="7200">
            <a:spAutoFit/>
          </a:bodyPr>
          <a:lstStyle/>
          <a:p>
            <a:pPr algn="l">
              <a:lnSpc>
                <a:spcPct val="108000"/>
              </a:lnSpc>
              <a:spcBef>
                <a:spcPts val="0"/>
              </a:spcBef>
            </a:pPr>
            <a:r>
              <a:rPr sz="1100" b="1">
                <a:solidFill>
                  <a:srgbClr val="0A3D3D"/>
                </a:solidFill>
                <a:latin typeface="Noto Sans JP"/>
              </a:rPr>
              <a:t>会社概要</a:t>
            </a:r>
          </a:p>
        </p:txBody>
      </p:sp>
      <p:graphicFrame>
        <p:nvGraphicFramePr>
          <p:cNvPr id="39" name="Table 38"/>
          <p:cNvGraphicFramePr>
            <a:graphicFrameLocks noGrp="1"/>
          </p:cNvGraphicFramePr>
          <p:nvPr/>
        </p:nvGraphicFramePr>
        <p:xfrm>
          <a:off x="360000" y="7858800"/>
          <a:ext cx="3330000" cy="1080000"/>
        </p:xfrm>
        <a:graphic>
          <a:graphicData uri="http://schemas.openxmlformats.org/drawingml/2006/table">
            <a:tbl>
              <a:tblPr bandRow="1">
                <a:tableStyleId>{5C22544A-7EE6-4342-B048-85BDC9FD1C3A}</a:tableStyleId>
              </a:tblPr>
              <a:tblGrid>
                <a:gridCol w="972000"/>
                <a:gridCol w="2358000"/>
              </a:tblGrid>
              <a:tr h="216000">
                <a:tc>
                  <a:txBody>
                    <a:bodyPr/>
                    <a:lstStyle/>
                    <a:p>
                      <a:pPr>
                        <a:lnSpc>
                          <a:spcPct val="105000"/>
                        </a:lnSpc>
                      </a:pPr>
                      <a:r>
                        <a:rPr sz="760" b="1">
                          <a:solidFill>
                            <a:srgbClr val="0A3D3D"/>
                          </a:solidFill>
                          <a:latin typeface="Noto Sans JP"/>
                        </a:rPr>
                        <a:t>会社名</a:t>
                      </a:r>
                    </a:p>
                  </a:txBody>
                  <a:tcPr marL="43200" marR="36000" marT="10800" marB="10800" anchor="ctr">
                    <a:solidFill>
                      <a:srgbClr val="EEF5F5"/>
                    </a:solidFill>
                  </a:tcPr>
                </a:tc>
                <a:tc>
                  <a:txBody>
                    <a:bodyPr/>
                    <a:lstStyle/>
                    <a:p>
                      <a:pPr>
                        <a:lnSpc>
                          <a:spcPct val="105000"/>
                        </a:lnSpc>
                      </a:pPr>
                      <a:r>
                        <a:rPr sz="760" b="0">
                          <a:solidFill>
                            <a:srgbClr val="1F2933"/>
                          </a:solidFill>
                          <a:latin typeface="Noto Sans JP"/>
                        </a:rPr>
                        <a:t>株式会社KITAICHI（キタイチ）</a:t>
                      </a:r>
                    </a:p>
                  </a:txBody>
                  <a:tcPr marL="43200" marR="36000" marT="10800" marB="10800" anchor="ctr">
                    <a:solidFill>
                      <a:srgbClr val="FFFFFF"/>
                    </a:solidFill>
                  </a:tcPr>
                </a:tc>
              </a:tr>
              <a:tr h="216000">
                <a:tc>
                  <a:txBody>
                    <a:bodyPr/>
                    <a:lstStyle/>
                    <a:p>
                      <a:pPr>
                        <a:lnSpc>
                          <a:spcPct val="105000"/>
                        </a:lnSpc>
                      </a:pPr>
                      <a:r>
                        <a:rPr sz="760" b="1">
                          <a:solidFill>
                            <a:srgbClr val="0A3D3D"/>
                          </a:solidFill>
                          <a:latin typeface="Noto Sans JP"/>
                        </a:rPr>
                        <a:t>代表者</a:t>
                      </a:r>
                    </a:p>
                  </a:txBody>
                  <a:tcPr marL="43200" marR="36000" marT="10800" marB="10800" anchor="ctr">
                    <a:solidFill>
                      <a:srgbClr val="EEF5F5"/>
                    </a:solidFill>
                  </a:tcPr>
                </a:tc>
                <a:tc>
                  <a:txBody>
                    <a:bodyPr/>
                    <a:lstStyle/>
                    <a:p>
                      <a:pPr>
                        <a:lnSpc>
                          <a:spcPct val="105000"/>
                        </a:lnSpc>
                      </a:pPr>
                      <a:r>
                        <a:rPr sz="760" b="0">
                          <a:solidFill>
                            <a:srgbClr val="1F2933"/>
                          </a:solidFill>
                          <a:latin typeface="Noto Sans JP"/>
                        </a:rPr>
                        <a:t>代表　佐近　航（さこん わたる）</a:t>
                      </a:r>
                    </a:p>
                  </a:txBody>
                  <a:tcPr marL="43200" marR="36000" marT="10800" marB="10800" anchor="ctr">
                    <a:solidFill>
                      <a:srgbClr val="FFFFFF"/>
                    </a:solidFill>
                  </a:tcPr>
                </a:tc>
              </a:tr>
              <a:tr h="216000">
                <a:tc>
                  <a:txBody>
                    <a:bodyPr/>
                    <a:lstStyle/>
                    <a:p>
                      <a:pPr>
                        <a:lnSpc>
                          <a:spcPct val="105000"/>
                        </a:lnSpc>
                      </a:pPr>
                      <a:r>
                        <a:rPr sz="760" b="1">
                          <a:solidFill>
                            <a:srgbClr val="0A3D3D"/>
                          </a:solidFill>
                          <a:latin typeface="Noto Sans JP"/>
                        </a:rPr>
                        <a:t>事業内容</a:t>
                      </a:r>
                    </a:p>
                  </a:txBody>
                  <a:tcPr marL="43200" marR="36000" marT="10800" marB="10800" anchor="ctr">
                    <a:solidFill>
                      <a:srgbClr val="EEF5F5"/>
                    </a:solidFill>
                  </a:tcPr>
                </a:tc>
                <a:tc>
                  <a:txBody>
                    <a:bodyPr/>
                    <a:lstStyle/>
                    <a:p>
                      <a:pPr>
                        <a:lnSpc>
                          <a:spcPct val="105000"/>
                        </a:lnSpc>
                      </a:pPr>
                      <a:r>
                        <a:rPr sz="760" b="0">
                          <a:solidFill>
                            <a:srgbClr val="1F2933"/>
                          </a:solidFill>
                          <a:latin typeface="Noto Sans JP"/>
                        </a:rPr>
                        <a:t>まちづくり・地域創生に関する事業のサポート／クラウドファンディングの企画・運営伴走</a:t>
                      </a:r>
                    </a:p>
                  </a:txBody>
                  <a:tcPr marL="43200" marR="36000" marT="10800" marB="10800" anchor="ctr">
                    <a:solidFill>
                      <a:srgbClr val="FFFFFF"/>
                    </a:solidFill>
                  </a:tcPr>
                </a:tc>
              </a:tr>
              <a:tr h="216000">
                <a:tc>
                  <a:txBody>
                    <a:bodyPr/>
                    <a:lstStyle/>
                    <a:p>
                      <a:pPr>
                        <a:lnSpc>
                          <a:spcPct val="105000"/>
                        </a:lnSpc>
                      </a:pPr>
                      <a:r>
                        <a:rPr sz="760" b="1">
                          <a:solidFill>
                            <a:srgbClr val="0A3D3D"/>
                          </a:solidFill>
                          <a:latin typeface="Noto Sans JP"/>
                        </a:rPr>
                        <a:t>主な強み</a:t>
                      </a:r>
                    </a:p>
                  </a:txBody>
                  <a:tcPr marL="43200" marR="36000" marT="10800" marB="10800" anchor="ctr">
                    <a:solidFill>
                      <a:srgbClr val="EEF5F5"/>
                    </a:solidFill>
                  </a:tcPr>
                </a:tc>
                <a:tc>
                  <a:txBody>
                    <a:bodyPr/>
                    <a:lstStyle/>
                    <a:p>
                      <a:pPr>
                        <a:lnSpc>
                          <a:spcPct val="105000"/>
                        </a:lnSpc>
                      </a:pPr>
                      <a:r>
                        <a:rPr sz="760" b="0">
                          <a:solidFill>
                            <a:srgbClr val="1F2933"/>
                          </a:solidFill>
                          <a:latin typeface="Noto Sans JP"/>
                        </a:rPr>
                        <a:t>CAMPFIREパートナー企業。元自治体職員・元サイト運営者・ファンドレイザーが在籍</a:t>
                      </a:r>
                    </a:p>
                  </a:txBody>
                  <a:tcPr marL="43200" marR="36000" marT="10800" marB="10800" anchor="ctr">
                    <a:solidFill>
                      <a:srgbClr val="FFFFFF"/>
                    </a:solidFill>
                  </a:tcPr>
                </a:tc>
              </a:tr>
              <a:tr h="216000">
                <a:tc>
                  <a:txBody>
                    <a:bodyPr/>
                    <a:lstStyle/>
                    <a:p>
                      <a:pPr>
                        <a:lnSpc>
                          <a:spcPct val="105000"/>
                        </a:lnSpc>
                      </a:pPr>
                      <a:r>
                        <a:rPr sz="760" b="1">
                          <a:solidFill>
                            <a:srgbClr val="0A3D3D"/>
                          </a:solidFill>
                          <a:latin typeface="Noto Sans JP"/>
                        </a:rPr>
                        <a:t>お問い合わせ</a:t>
                      </a:r>
                    </a:p>
                  </a:txBody>
                  <a:tcPr marL="43200" marR="36000" marT="10800" marB="10800" anchor="ctr">
                    <a:solidFill>
                      <a:srgbClr val="EEF5F5"/>
                    </a:solidFill>
                  </a:tcPr>
                </a:tc>
                <a:tc>
                  <a:txBody>
                    <a:bodyPr/>
                    <a:lstStyle/>
                    <a:p>
                      <a:pPr>
                        <a:lnSpc>
                          <a:spcPct val="105000"/>
                        </a:lnSpc>
                      </a:pPr>
                      <a:r>
                        <a:rPr sz="760" b="0">
                          <a:solidFill>
                            <a:srgbClr val="1F2933"/>
                          </a:solidFill>
                          <a:latin typeface="Noto Sans JP"/>
                        </a:rPr>
                        <a:t>メール：info@kita1.jp</a:t>
                      </a:r>
                    </a:p>
                  </a:txBody>
                  <a:tcPr marL="43200" marR="36000" marT="10800" marB="10800" anchor="ctr">
                    <a:solidFill>
                      <a:srgbClr val="FFFFFF"/>
                    </a:solidFill>
                  </a:tcPr>
                </a:tc>
              </a:tr>
            </a:tbl>
          </a:graphicData>
        </a:graphic>
      </p:graphicFrame>
      <p:sp>
        <p:nvSpPr>
          <p:cNvPr id="40" name="Rectangle 39"/>
          <p:cNvSpPr/>
          <p:nvPr/>
        </p:nvSpPr>
        <p:spPr>
          <a:xfrm>
            <a:off x="3870000" y="7650000"/>
            <a:ext cx="50400" cy="162000"/>
          </a:xfrm>
          <a:prstGeom prst="rect">
            <a:avLst/>
          </a:prstGeom>
          <a:solidFill>
            <a:srgbClr val="0A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78000" y="7642800"/>
            <a:ext cx="3330000" cy="180000"/>
          </a:xfrm>
          <a:prstGeom prst="rect">
            <a:avLst/>
          </a:prstGeom>
          <a:noFill/>
        </p:spPr>
        <p:txBody>
          <a:bodyPr wrap="square" anchor="ctr" lIns="28800" rIns="28800" tIns="7200" bIns="7200">
            <a:spAutoFit/>
          </a:bodyPr>
          <a:lstStyle/>
          <a:p>
            <a:pPr algn="l">
              <a:lnSpc>
                <a:spcPct val="108000"/>
              </a:lnSpc>
              <a:spcBef>
                <a:spcPts val="0"/>
              </a:spcBef>
            </a:pPr>
            <a:r>
              <a:rPr sz="1000" b="1">
                <a:solidFill>
                  <a:srgbClr val="0A3D3D"/>
                </a:solidFill>
                <a:latin typeface="Noto Sans JP"/>
              </a:rPr>
              <a:t>私たちの想い ─ 高校生のチャレンジを応援したい</a:t>
            </a:r>
          </a:p>
        </p:txBody>
      </p:sp>
      <p:sp>
        <p:nvSpPr>
          <p:cNvPr id="42" name="Rounded Rectangle 41"/>
          <p:cNvSpPr/>
          <p:nvPr/>
        </p:nvSpPr>
        <p:spPr>
          <a:xfrm>
            <a:off x="3870000" y="7858800"/>
            <a:ext cx="3330000" cy="1080000"/>
          </a:xfrm>
          <a:prstGeom prst="roundRect">
            <a:avLst>
              <a:gd name="adj" fmla="val 8000"/>
            </a:avLst>
          </a:prstGeom>
          <a:solidFill>
            <a:srgbClr val="F4F9F9"/>
          </a:solidFill>
          <a:ln w="9525">
            <a:solidFill>
              <a:srgbClr val="CB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60000" y="7912800"/>
            <a:ext cx="3150000" cy="1007999"/>
          </a:xfrm>
          <a:prstGeom prst="rect">
            <a:avLst/>
          </a:prstGeom>
          <a:noFill/>
        </p:spPr>
        <p:txBody>
          <a:bodyPr wrap="square" anchor="t" lIns="28800" rIns="28800" tIns="7200" bIns="7200">
            <a:spAutoFit/>
          </a:bodyPr>
          <a:lstStyle/>
          <a:p>
            <a:pPr algn="l">
              <a:lnSpc>
                <a:spcPct val="128000"/>
              </a:lnSpc>
              <a:spcBef>
                <a:spcPts val="0"/>
              </a:spcBef>
              <a:spcAft>
                <a:spcPts val="200"/>
              </a:spcAft>
            </a:pPr>
            <a:r>
              <a:rPr sz="950" b="1">
                <a:solidFill>
                  <a:srgbClr val="0A6E6E"/>
                </a:solidFill>
                <a:latin typeface="Noto Sans JP"/>
              </a:rPr>
              <a:t>高校生には、地域を変えるほどの力がある。</a:t>
            </a:r>
          </a:p>
          <a:p>
            <a:pPr algn="l">
              <a:lnSpc>
                <a:spcPct val="128000"/>
              </a:lnSpc>
              <a:spcBef>
                <a:spcPts val="0"/>
              </a:spcBef>
              <a:spcAft>
                <a:spcPts val="200"/>
              </a:spcAft>
            </a:pPr>
            <a:r>
              <a:rPr sz="819" b="0">
                <a:solidFill>
                  <a:srgbClr val="1F2933"/>
                </a:solidFill>
                <a:latin typeface="Noto Sans JP"/>
              </a:rPr>
              <a:t>私は財政破綻を経験した夕張市役所で、地域再生や高校魅力化事業を担当していました。夕張高校の生徒会長が「夕張に言い訳するのではなく、夕張だからできることに目を向けたい」とまちづくり会議で大人たちに向けて話し、その言葉が財政再生計画の見直しにつながりました。高校生は地域を変える力があります。だからこそ、高校生のチャレンジに資金と応援を届けるサポートをさせてください。</a:t>
            </a:r>
          </a:p>
          <a:p>
            <a:pPr algn="l">
              <a:lnSpc>
                <a:spcPct val="128000"/>
              </a:lnSpc>
              <a:spcBef>
                <a:spcPts val="0"/>
              </a:spcBef>
              <a:spcAft>
                <a:spcPts val="200"/>
              </a:spcAft>
            </a:pPr>
            <a:r>
              <a:rPr sz="750" b="0">
                <a:solidFill>
                  <a:srgbClr val="5A6B6B"/>
                </a:solidFill>
                <a:latin typeface="Noto Sans JP"/>
              </a:rPr>
              <a:t>株式会社KITAICHI 代表　佐近　航</a:t>
            </a:r>
          </a:p>
        </p:txBody>
      </p:sp>
      <p:sp>
        <p:nvSpPr>
          <p:cNvPr id="44" name="Rounded Rectangle 43"/>
          <p:cNvSpPr/>
          <p:nvPr/>
        </p:nvSpPr>
        <p:spPr>
          <a:xfrm>
            <a:off x="360000" y="9064800"/>
            <a:ext cx="6840000" cy="378000"/>
          </a:xfrm>
          <a:prstGeom prst="roundRect">
            <a:avLst>
              <a:gd name="adj" fmla="val 8000"/>
            </a:avLst>
          </a:prstGeom>
          <a:solidFill>
            <a:srgbClr val="0A3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3999" y="9064800"/>
            <a:ext cx="3960000" cy="378000"/>
          </a:xfrm>
          <a:prstGeom prst="rect">
            <a:avLst/>
          </a:prstGeom>
          <a:noFill/>
        </p:spPr>
        <p:txBody>
          <a:bodyPr wrap="square" anchor="ctr" lIns="28800" rIns="28800" tIns="7200" bIns="7200">
            <a:spAutoFit/>
          </a:bodyPr>
          <a:lstStyle/>
          <a:p>
            <a:pPr algn="l">
              <a:lnSpc>
                <a:spcPct val="105000"/>
              </a:lnSpc>
              <a:spcBef>
                <a:spcPts val="0"/>
              </a:spcBef>
            </a:pPr>
            <a:r>
              <a:rPr sz="1000" b="1">
                <a:solidFill>
                  <a:srgbClr val="FFFFFF"/>
                </a:solidFill>
                <a:latin typeface="Noto Sans JP"/>
              </a:rPr>
              <a:t>ご相談・お問い合わせ</a:t>
            </a:r>
          </a:p>
          <a:p>
            <a:pPr algn="l">
              <a:lnSpc>
                <a:spcPct val="105000"/>
              </a:lnSpc>
              <a:spcBef>
                <a:spcPts val="0"/>
              </a:spcBef>
            </a:pPr>
            <a:r>
              <a:rPr sz="750" b="0">
                <a:solidFill>
                  <a:srgbClr val="BBCCDD"/>
                </a:solidFill>
                <a:latin typeface="Noto Sans JP"/>
              </a:rPr>
              <a:t>まずは雑談レベルでもOKです。お気軽にご相談ください。</a:t>
            </a:r>
          </a:p>
        </p:txBody>
      </p:sp>
      <p:sp>
        <p:nvSpPr>
          <p:cNvPr id="46" name="TextBox 45"/>
          <p:cNvSpPr txBox="1"/>
          <p:nvPr/>
        </p:nvSpPr>
        <p:spPr>
          <a:xfrm>
            <a:off x="4320000" y="9064800"/>
            <a:ext cx="2736000" cy="378000"/>
          </a:xfrm>
          <a:prstGeom prst="rect">
            <a:avLst/>
          </a:prstGeom>
          <a:noFill/>
        </p:spPr>
        <p:txBody>
          <a:bodyPr wrap="square" anchor="ctr" lIns="28800" rIns="28800" tIns="7200" bIns="7200">
            <a:spAutoFit/>
          </a:bodyPr>
          <a:lstStyle/>
          <a:p>
            <a:pPr algn="r">
              <a:lnSpc>
                <a:spcPct val="110000"/>
              </a:lnSpc>
              <a:spcBef>
                <a:spcPts val="0"/>
              </a:spcBef>
            </a:pPr>
            <a:r>
              <a:rPr sz="900" b="0">
                <a:solidFill>
                  <a:srgbClr val="FFFFFF"/>
                </a:solidFill>
                <a:latin typeface="Noto Sans JP"/>
              </a:rPr>
              <a:t>株式会社KITAICHI</a:t>
            </a:r>
          </a:p>
          <a:p>
            <a:pPr algn="r">
              <a:lnSpc>
                <a:spcPct val="110000"/>
              </a:lnSpc>
              <a:spcBef>
                <a:spcPts val="0"/>
              </a:spcBef>
            </a:pPr>
            <a:r>
              <a:rPr sz="900" b="0">
                <a:solidFill>
                  <a:srgbClr val="FFFFFF"/>
                </a:solidFill>
                <a:latin typeface="Noto Sans JP"/>
              </a:rPr>
              <a:t>メール：</a:t>
            </a:r>
            <a:r>
              <a:rPr sz="1000" b="1">
                <a:solidFill>
                  <a:srgbClr val="FFFFFF"/>
                </a:solidFill>
                <a:latin typeface="Noto Sans JP"/>
              </a:rPr>
              <a:t>info@kita1.jp</a:t>
            </a:r>
          </a:p>
        </p:txBody>
      </p:sp>
      <p:sp>
        <p:nvSpPr>
          <p:cNvPr id="47" name="TextBox 46"/>
          <p:cNvSpPr txBox="1"/>
          <p:nvPr/>
        </p:nvSpPr>
        <p:spPr>
          <a:xfrm>
            <a:off x="360000" y="9478800"/>
            <a:ext cx="6840000" cy="432000"/>
          </a:xfrm>
          <a:prstGeom prst="rect">
            <a:avLst/>
          </a:prstGeom>
          <a:noFill/>
        </p:spPr>
        <p:txBody>
          <a:bodyPr wrap="square" anchor="t" lIns="28800" rIns="28800" tIns="7200" bIns="7200">
            <a:spAutoFit/>
          </a:bodyPr>
          <a:lstStyle/>
          <a:p>
            <a:pPr algn="l">
              <a:lnSpc>
                <a:spcPct val="125000"/>
              </a:lnSpc>
              <a:spcBef>
                <a:spcPts val="0"/>
              </a:spcBef>
            </a:pPr>
            <a:r>
              <a:rPr sz="700" b="0">
                <a:solidFill>
                  <a:srgbClr val="5A6B6B"/>
                </a:solidFill>
                <a:latin typeface="Noto Sans JP"/>
              </a:rPr>
              <a:t>※上記成功報酬とは別に、クラウドファンディングサイト（CAMPFIRE等）の手数料がかかります。契約先は学校・保護者会などの任意団体でも対応可能です。</a:t>
            </a:r>
          </a:p>
          <a:p>
            <a:pPr algn="l">
              <a:lnSpc>
                <a:spcPct val="125000"/>
              </a:lnSpc>
              <a:spcBef>
                <a:spcPts val="0"/>
              </a:spcBef>
            </a:pPr>
            <a:r>
              <a:rPr sz="700" b="0">
                <a:solidFill>
                  <a:srgbClr val="5A6B6B"/>
                </a:solidFill>
                <a:latin typeface="Noto Sans JP"/>
              </a:rPr>
              <a:t>※基本はオンライン対応。交通費のご負担で対面授業にも参加いたします。授業の運営委託をご希望の場合は予算に合わせて柔軟に対応しますのでご相談ください。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