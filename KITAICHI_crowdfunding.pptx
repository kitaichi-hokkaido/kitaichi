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216000"/>
            <a:ext cx="3240000" cy="34200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16000"/>
            <a:ext cx="3240000" cy="34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挑戦するあなたの、一歩を応援します！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12000"/>
            <a:ext cx="414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55E"/>
                </a:solidFill>
                <a:latin typeface="Meiryo"/>
                <a:ea typeface="Meiryo"/>
              </a:rPr>
              <a:t>資金調達の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55E"/>
                </a:solidFill>
                <a:latin typeface="Meiryo"/>
                <a:ea typeface="Meiryo"/>
              </a:rPr>
              <a:t>新しい選択肢、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E24A4A"/>
                </a:solidFill>
                <a:latin typeface="Meiryo"/>
                <a:ea typeface="Meiryo"/>
              </a:rPr>
              <a:t>クラウドファンディング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55E"/>
                </a:solidFill>
                <a:latin typeface="Meiryo"/>
                <a:ea typeface="Meiryo"/>
              </a:rPr>
              <a:t>というカタチ。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6000" y="468000"/>
            <a:ext cx="2736000" cy="1944000"/>
          </a:xfrm>
          <a:prstGeom prst="roundRect">
            <a:avLst/>
          </a:prstGeom>
          <a:solidFill>
            <a:srgbClr val="DB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16000" y="503999"/>
            <a:ext cx="1440000" cy="576000"/>
          </a:xfrm>
          <a:prstGeom prst="roundRect">
            <a:avLst/>
          </a:prstGeom>
          <a:solidFill>
            <a:srgbClr val="FFD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16000" y="503999"/>
            <a:ext cx="1440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355E"/>
                </a:solidFill>
                <a:latin typeface="Meiryo"/>
                <a:ea typeface="Meiryo"/>
              </a:rPr>
              <a:t>はじめてでも、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355E"/>
                </a:solidFill>
                <a:latin typeface="Meiryo"/>
                <a:ea typeface="Meiryo"/>
              </a:rPr>
              <a:t>一人じゃないから心強い！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6000" y="1188000"/>
            <a:ext cx="2736000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1F355E"/>
                </a:solidFill>
                <a:latin typeface="Meiryo"/>
                <a:ea typeface="Meiryo"/>
              </a:rPr>
              <a:t>👩  🧑  👧  👨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55555"/>
                </a:solidFill>
                <a:latin typeface="Meiryo"/>
                <a:ea typeface="Meiryo"/>
              </a:rPr>
              <a:t>（イラスト差し替え用）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412000"/>
            <a:ext cx="414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333"/>
                </a:solidFill>
                <a:latin typeface="Meiryo"/>
                <a:ea typeface="Meiryo"/>
              </a:rPr>
              <a:t>クラウドファンディングは、資金を集めるだけではありません。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333"/>
                </a:solidFill>
                <a:latin typeface="Meiryo"/>
                <a:ea typeface="Meiryo"/>
              </a:rPr>
              <a:t>あなたの挑戦を多くの人に知ってもらい、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E24A4A"/>
                </a:solidFill>
                <a:latin typeface="Meiryo"/>
                <a:ea typeface="Meiryo"/>
              </a:rPr>
              <a:t>共感や応援</a:t>
            </a:r>
            <a:r>
              <a:rPr sz="1100" b="0">
                <a:solidFill>
                  <a:srgbClr val="333333"/>
                </a:solidFill>
                <a:latin typeface="Meiryo"/>
                <a:ea typeface="Meiryo"/>
              </a:rPr>
              <a:t>を力に変えることができます。</a:t>
            </a:r>
          </a:p>
        </p:txBody>
      </p:sp>
      <p:sp>
        <p:nvSpPr>
          <p:cNvPr id="11" name="Pentagon 10"/>
          <p:cNvSpPr/>
          <p:nvPr/>
        </p:nvSpPr>
        <p:spPr>
          <a:xfrm>
            <a:off x="1800000" y="3348000"/>
            <a:ext cx="3960000" cy="306000"/>
          </a:xfrm>
          <a:prstGeom prst="homePlate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00000" y="3348000"/>
            <a:ext cx="3960000" cy="30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0000" y="3348000"/>
            <a:ext cx="3960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クラウドファンディングで得られる３つの価値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" y="3726000"/>
            <a:ext cx="6983999" cy="1620000"/>
          </a:xfrm>
          <a:prstGeom prst="round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2000" y="3888000"/>
            <a:ext cx="540000" cy="540000"/>
          </a:xfrm>
          <a:prstGeom prst="ellipse">
            <a:avLst/>
          </a:prstGeom>
          <a:solidFill>
            <a:srgbClr val="4CA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3888000"/>
            <a:ext cx="54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eiryo"/>
                <a:ea typeface="Meiryo"/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000" y="3906000"/>
            <a:ext cx="162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CA34C"/>
                </a:solidFill>
                <a:latin typeface="Meiryo"/>
                <a:ea typeface="Meiryo"/>
              </a:rPr>
              <a:t>資金調達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4500000"/>
            <a:ext cx="223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3333"/>
                </a:solidFill>
                <a:latin typeface="Meiryo"/>
                <a:ea typeface="Meiryo"/>
              </a:rPr>
              <a:t>新しい挑戦に必要な資金を集めることができます。</a:t>
            </a:r>
          </a:p>
        </p:txBody>
      </p:sp>
      <p:sp>
        <p:nvSpPr>
          <p:cNvPr id="19" name="Oval 18"/>
          <p:cNvSpPr/>
          <p:nvPr/>
        </p:nvSpPr>
        <p:spPr>
          <a:xfrm>
            <a:off x="2710800" y="3888000"/>
            <a:ext cx="540000" cy="540000"/>
          </a:xfrm>
          <a:prstGeom prst="ellipse">
            <a:avLst/>
          </a:prstGeom>
          <a:solidFill>
            <a:srgbClr val="E2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0800" y="3888000"/>
            <a:ext cx="54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eiryo"/>
                <a:ea typeface="Meiryo"/>
              </a:rPr>
              <a:t>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2800" y="3906000"/>
            <a:ext cx="162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24A4A"/>
                </a:solidFill>
                <a:latin typeface="Meiryo"/>
                <a:ea typeface="Meiryo"/>
              </a:rPr>
              <a:t>情報発信・認知拡大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0800" y="4500000"/>
            <a:ext cx="223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3333"/>
                </a:solidFill>
                <a:latin typeface="Meiryo"/>
                <a:ea typeface="Meiryo"/>
              </a:rPr>
              <a:t>プロジェクトや想いを広く伝え、地域や全国に知ってもらえます。</a:t>
            </a:r>
          </a:p>
        </p:txBody>
      </p:sp>
      <p:sp>
        <p:nvSpPr>
          <p:cNvPr id="23" name="Oval 22"/>
          <p:cNvSpPr/>
          <p:nvPr/>
        </p:nvSpPr>
        <p:spPr>
          <a:xfrm>
            <a:off x="4989600" y="3888000"/>
            <a:ext cx="540000" cy="540000"/>
          </a:xfrm>
          <a:prstGeom prst="ellipse">
            <a:avLst/>
          </a:prstGeom>
          <a:solidFill>
            <a:srgbClr val="F2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9600" y="3888000"/>
            <a:ext cx="54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eiryo"/>
                <a:ea typeface="Meiryo"/>
              </a:rPr>
              <a:t>❤️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1600" y="3906000"/>
            <a:ext cx="162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29A1B"/>
                </a:solidFill>
                <a:latin typeface="Meiryo"/>
                <a:ea typeface="Meiryo"/>
              </a:rPr>
              <a:t>ファンづくり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9600" y="4500000"/>
            <a:ext cx="223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3333"/>
                </a:solidFill>
                <a:latin typeface="Meiryo"/>
                <a:ea typeface="Meiryo"/>
              </a:rPr>
              <a:t>共感してくれる応援者がファンになり、未来のお客様につながります。</a:t>
            </a:r>
          </a:p>
        </p:txBody>
      </p:sp>
      <p:sp>
        <p:nvSpPr>
          <p:cNvPr id="27" name="Pentagon 26"/>
          <p:cNvSpPr/>
          <p:nvPr/>
        </p:nvSpPr>
        <p:spPr>
          <a:xfrm>
            <a:off x="1800000" y="5508000"/>
            <a:ext cx="3960000" cy="306000"/>
          </a:xfrm>
          <a:prstGeom prst="homePlate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00000" y="5508000"/>
            <a:ext cx="3960000" cy="30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00000" y="5508000"/>
            <a:ext cx="3960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こんな挑戦に活用されています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" y="5886000"/>
            <a:ext cx="6983999" cy="1440000"/>
          </a:xfrm>
          <a:prstGeom prst="round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96000" y="5976000"/>
            <a:ext cx="1116000" cy="12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000" y="6030000"/>
            <a:ext cx="1116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F355E"/>
                </a:solidFill>
                <a:latin typeface="Meiryo"/>
                <a:ea typeface="Meiryo"/>
              </a:rPr>
              <a:t>開業・起業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000" y="6263999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1F355E"/>
                </a:solidFill>
                <a:latin typeface="Meiryo"/>
                <a:ea typeface="Meiryo"/>
              </a:rPr>
              <a:t>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000" y="6732000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333333"/>
                </a:solidFill>
                <a:latin typeface="Meiryo"/>
                <a:ea typeface="Meiryo"/>
              </a:rPr>
              <a:t>夢だったお店をオープンしたい！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40800" y="5976000"/>
            <a:ext cx="1116000" cy="12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40800" y="6030000"/>
            <a:ext cx="1116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F355E"/>
                </a:solidFill>
                <a:latin typeface="Meiryo"/>
                <a:ea typeface="Meiryo"/>
              </a:rPr>
              <a:t>商品・サービス開発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0800" y="6263999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1F355E"/>
                </a:solidFill>
                <a:latin typeface="Meiryo"/>
                <a:ea typeface="Meiryo"/>
              </a:rPr>
              <a:t>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40800" y="6732000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333333"/>
                </a:solidFill>
                <a:latin typeface="Meiryo"/>
                <a:ea typeface="Meiryo"/>
              </a:rPr>
              <a:t>こだわりの商品をカタチにしたい！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85600" y="5976000"/>
            <a:ext cx="1116000" cy="12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85600" y="6030000"/>
            <a:ext cx="1116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F355E"/>
                </a:solidFill>
                <a:latin typeface="Meiryo"/>
                <a:ea typeface="Meiryo"/>
              </a:rPr>
              <a:t>事業拡大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5600" y="6263999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1F355E"/>
                </a:solidFill>
                <a:latin typeface="Meiryo"/>
                <a:ea typeface="Meiryo"/>
              </a:rPr>
              <a:t>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85600" y="6732000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333333"/>
                </a:solidFill>
                <a:latin typeface="Meiryo"/>
                <a:ea typeface="Meiryo"/>
              </a:rPr>
              <a:t>もっと多くの人に届けたい！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30400" y="5976000"/>
            <a:ext cx="1116000" cy="12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30400" y="6030000"/>
            <a:ext cx="1116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F355E"/>
                </a:solidFill>
                <a:latin typeface="Meiryo"/>
                <a:ea typeface="Meiryo"/>
              </a:rPr>
              <a:t>設備・改装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30400" y="6263999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1F355E"/>
                </a:solidFill>
                <a:latin typeface="Meiryo"/>
                <a:ea typeface="Meiryo"/>
              </a:rPr>
              <a:t>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30400" y="6732000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333333"/>
                </a:solidFill>
                <a:latin typeface="Meiryo"/>
                <a:ea typeface="Meiryo"/>
              </a:rPr>
              <a:t>居心地の良いお店にしたい！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75200" y="5976000"/>
            <a:ext cx="1116000" cy="12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75200" y="6030000"/>
            <a:ext cx="1116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F355E"/>
                </a:solidFill>
                <a:latin typeface="Meiryo"/>
                <a:ea typeface="Meiryo"/>
              </a:rPr>
              <a:t>地域・観光・まちづくり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75200" y="6263999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1F355E"/>
                </a:solidFill>
                <a:latin typeface="Meiryo"/>
                <a:ea typeface="Meiryo"/>
              </a:rPr>
              <a:t>🏞️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75200" y="6732000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333333"/>
                </a:solidFill>
                <a:latin typeface="Meiryo"/>
                <a:ea typeface="Meiryo"/>
              </a:rPr>
              <a:t>地域を元気にする活動を広げたい！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0000" y="5976000"/>
            <a:ext cx="1116000" cy="126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0000" y="6030000"/>
            <a:ext cx="1116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F355E"/>
                </a:solidFill>
                <a:latin typeface="Meiryo"/>
                <a:ea typeface="Meiryo"/>
              </a:rPr>
              <a:t>テストマーケティング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0000" y="6263999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1F355E"/>
                </a:solidFill>
                <a:latin typeface="Meiryo"/>
                <a:ea typeface="Meiryo"/>
              </a:rPr>
              <a:t>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0000" y="6732000"/>
            <a:ext cx="111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333333"/>
                </a:solidFill>
                <a:latin typeface="Meiryo"/>
                <a:ea typeface="Meiryo"/>
              </a:rPr>
              <a:t>新しいアイデアの反応を確かめたい！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8000" y="7488000"/>
            <a:ext cx="3348000" cy="1620000"/>
          </a:xfrm>
          <a:prstGeom prst="round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8000" y="7560000"/>
            <a:ext cx="3348000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355E"/>
                </a:solidFill>
                <a:latin typeface="Meiryo"/>
                <a:ea typeface="Meiryo"/>
              </a:rPr>
              <a:t>こんなお悩みありませんか？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000" y="7848000"/>
            <a:ext cx="2808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333333"/>
                </a:solidFill>
                <a:latin typeface="Meiryo"/>
                <a:ea typeface="Meiryo"/>
              </a:rPr>
              <a:t>☑  クラウドファンディングって難しそう…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333333"/>
                </a:solidFill>
                <a:latin typeface="Meiryo"/>
                <a:ea typeface="Meiryo"/>
              </a:rPr>
              <a:t>☑  一人で準備するのは負担が大きい…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333333"/>
                </a:solidFill>
                <a:latin typeface="Meiryo"/>
                <a:ea typeface="Meiryo"/>
              </a:rPr>
              <a:t>☑  どうやって支援を集めたらいいの？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333333"/>
                </a:solidFill>
                <a:latin typeface="Meiryo"/>
                <a:ea typeface="Meiryo"/>
              </a:rPr>
              <a:t>☑  ページ作りや発信に自信がない…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333333"/>
                </a:solidFill>
                <a:latin typeface="Meiryo"/>
                <a:ea typeface="Meiryo"/>
              </a:rPr>
              <a:t>☑  失敗したらどうしよう…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44000" y="7488000"/>
            <a:ext cx="3528000" cy="1620000"/>
          </a:xfrm>
          <a:prstGeom prst="roundRect">
            <a:avLst/>
          </a:prstGeom>
          <a:solidFill>
            <a:srgbClr val="DB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4000" y="7560000"/>
            <a:ext cx="3528000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355E"/>
                </a:solidFill>
                <a:latin typeface="Meiryo"/>
                <a:ea typeface="Meiryo"/>
              </a:rPr>
              <a:t>KITAICHIが伴走サポートします！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24000" y="7848000"/>
            <a:ext cx="3168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F355E"/>
                </a:solidFill>
                <a:latin typeface="Meiryo"/>
                <a:ea typeface="Meiryo"/>
              </a:rPr>
              <a:t>✓  企画・設計から公開後まで、しっかり伴走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1F355E"/>
                </a:solidFill>
                <a:latin typeface="Meiryo"/>
                <a:ea typeface="Meiryo"/>
              </a:rPr>
              <a:t>✓  魅力が伝わるページ制作や発信をサポート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1F355E"/>
                </a:solidFill>
                <a:latin typeface="Meiryo"/>
                <a:ea typeface="Meiryo"/>
              </a:rPr>
              <a:t>✓  クラウドファンディングが初めての方も安心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24000" y="8712000"/>
            <a:ext cx="316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33333"/>
                </a:solidFill>
                <a:latin typeface="Meiryo"/>
                <a:ea typeface="Meiryo"/>
              </a:rPr>
              <a:t>あなたの想いを、カタチにするお手伝いをします。</a:t>
            </a:r>
          </a:p>
        </p:txBody>
      </p:sp>
      <p:sp>
        <p:nvSpPr>
          <p:cNvPr id="62" name="Chevron 61"/>
          <p:cNvSpPr/>
          <p:nvPr/>
        </p:nvSpPr>
        <p:spPr>
          <a:xfrm>
            <a:off x="3564000" y="8064000"/>
            <a:ext cx="324000" cy="432000"/>
          </a:xfrm>
          <a:prstGeom prst="chevron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44000" y="9216000"/>
            <a:ext cx="7272000" cy="900000"/>
          </a:xfrm>
          <a:prstGeom prst="roundRect">
            <a:avLst/>
          </a:prstGeom>
          <a:solidFill>
            <a:srgbClr val="FFD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88000" y="9414000"/>
            <a:ext cx="648000" cy="503999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8000" y="9414000"/>
            <a:ext cx="648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</a:rPr>
              <a:t>まずは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7999" y="9324000"/>
            <a:ext cx="396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F355E"/>
                </a:solidFill>
                <a:latin typeface="Meiryo"/>
                <a:ea typeface="Meiryo"/>
              </a:rPr>
              <a:t>無料で相談してみませんか？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33333"/>
                </a:solidFill>
                <a:latin typeface="Meiryo"/>
                <a:ea typeface="Meiryo"/>
              </a:rPr>
              <a:t>「何から始めればいいかわからない…」という方も大歓迎！</a:t>
            </a:r>
          </a:p>
          <a:p>
            <a:pPr algn="l">
              <a:lnSpc>
                <a:spcPct val="110000"/>
              </a:lnSpc>
            </a:pPr>
            <a:r>
              <a:rPr sz="900" b="0">
                <a:solidFill>
                  <a:srgbClr val="333333"/>
                </a:solidFill>
                <a:latin typeface="Meiryo"/>
                <a:ea typeface="Meiryo"/>
              </a:rPr>
              <a:t>あなたの挑戦に合った方法をご提案します。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868000" y="9378000"/>
            <a:ext cx="1404000" cy="576000"/>
          </a:xfrm>
          <a:prstGeom prst="round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68000" y="9378000"/>
            <a:ext cx="1404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お気軽に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ご連絡ください！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000" y="10188000"/>
            <a:ext cx="252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55555"/>
                </a:solidFill>
                <a:latin typeface="Meiryo"/>
                <a:ea typeface="Meiryo"/>
              </a:rPr>
              <a:t>あなたの挑戦を、応援でつなぐパートナー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F355E"/>
                </a:solidFill>
                <a:latin typeface="Meiryo"/>
                <a:ea typeface="Meiryo"/>
              </a:rPr>
              <a:t>株式会社 KITAICHI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0000" y="10188000"/>
            <a:ext cx="234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333333"/>
                </a:solidFill>
                <a:latin typeface="Meiryo"/>
                <a:ea typeface="Meiryo"/>
              </a:rPr>
              <a:t>📞 03-6804-2813</a:t>
            </a:r>
          </a:p>
          <a:p>
            <a:pPr algn="l">
              <a:lnSpc>
                <a:spcPct val="105000"/>
              </a:lnSpc>
            </a:pPr>
            <a:r>
              <a:rPr sz="900" b="0">
                <a:solidFill>
                  <a:srgbClr val="333333"/>
                </a:solidFill>
                <a:latin typeface="Meiryo"/>
                <a:ea typeface="Meiryo"/>
              </a:rPr>
              <a:t>✉ info@kitaichi.co.jp</a:t>
            </a:r>
          </a:p>
          <a:p>
            <a:pPr algn="l">
              <a:lnSpc>
                <a:spcPct val="105000"/>
              </a:lnSpc>
            </a:pPr>
            <a:r>
              <a:rPr sz="900" b="0">
                <a:solidFill>
                  <a:srgbClr val="333333"/>
                </a:solidFill>
                <a:latin typeface="Meiryo"/>
                <a:ea typeface="Meiryo"/>
              </a:rPr>
              <a:t>🌐 https://kitaichi.co.jp/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56000" y="10188000"/>
            <a:ext cx="180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55555"/>
                </a:solidFill>
                <a:latin typeface="Meiryo"/>
                <a:ea typeface="Meiryo"/>
              </a:rPr>
              <a:t>企画からページ制作、リターン設計、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55555"/>
                </a:solidFill>
                <a:latin typeface="Meiryo"/>
                <a:ea typeface="Meiryo"/>
              </a:rPr>
              <a:t>プロモーションまでワンストップでサポート！</a:t>
            </a:r>
          </a:p>
          <a:p>
            <a:pPr algn="l">
              <a:lnSpc>
                <a:spcPct val="105000"/>
              </a:lnSpc>
            </a:pPr>
            <a:r>
              <a:rPr sz="750" b="0">
                <a:solidFill>
                  <a:srgbClr val="555555"/>
                </a:solidFill>
                <a:latin typeface="Meiryo"/>
                <a:ea typeface="Meiryo"/>
              </a:rPr>
              <a:t>あなたの挑戦に伴走します。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