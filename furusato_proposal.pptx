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Oval 1"/>
          <p:cNvSpPr/>
          <p:nvPr/>
        </p:nvSpPr>
        <p:spPr>
          <a:xfrm>
            <a:off x="8503920" y="-2194560"/>
            <a:ext cx="5029200" cy="502920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3931920"/>
            <a:ext cx="3840480" cy="384048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1417320"/>
            <a:ext cx="10058400" cy="365760"/>
          </a:xfrm>
          <a:prstGeom prst="rect">
            <a:avLst/>
          </a:prstGeom>
          <a:noFill/>
        </p:spPr>
        <p:txBody>
          <a:bodyPr wrap="square" anchor="t" lIns="0" rIns="0" tIns="0" bIns="0">
            <a:spAutoFit/>
          </a:bodyPr>
          <a:lstStyle/>
          <a:p>
            <a:pPr algn="l">
              <a:lnSpc>
                <a:spcPct val="115000"/>
              </a:lnSpc>
            </a:pPr>
            <a:r>
              <a:rPr sz="1500" b="1">
                <a:solidFill>
                  <a:srgbClr val="FFB066"/>
                </a:solidFill>
                <a:latin typeface="Meiryo"/>
                <a:ea typeface="Meiryo"/>
              </a:rPr>
              <a:t>ふるさと住民登録制度　企画運営サポートのご提案</a:t>
            </a:r>
          </a:p>
        </p:txBody>
      </p:sp>
      <p:sp>
        <p:nvSpPr>
          <p:cNvPr id="5" name="TextBox 4"/>
          <p:cNvSpPr txBox="1"/>
          <p:nvPr/>
        </p:nvSpPr>
        <p:spPr>
          <a:xfrm>
            <a:off x="758952" y="2057400"/>
            <a:ext cx="10515600" cy="2011680"/>
          </a:xfrm>
          <a:prstGeom prst="rect">
            <a:avLst/>
          </a:prstGeom>
          <a:noFill/>
        </p:spPr>
        <p:txBody>
          <a:bodyPr wrap="square" anchor="t" lIns="0" rIns="0" tIns="0" bIns="0">
            <a:spAutoFit/>
          </a:bodyPr>
          <a:lstStyle/>
          <a:p>
            <a:pPr algn="l">
              <a:lnSpc>
                <a:spcPct val="115000"/>
              </a:lnSpc>
            </a:pPr>
            <a:r>
              <a:rPr sz="4200" b="1">
                <a:solidFill>
                  <a:srgbClr val="FFFFFF"/>
                </a:solidFill>
                <a:latin typeface="Meiryo"/>
                <a:ea typeface="Meiryo"/>
              </a:rPr>
              <a:t>地域の応援者を増やし、</a:t>
            </a:r>
          </a:p>
          <a:p>
            <a:pPr algn="l">
              <a:lnSpc>
                <a:spcPct val="115000"/>
              </a:lnSpc>
            </a:pPr>
            <a:r>
              <a:rPr sz="4200" b="1">
                <a:solidFill>
                  <a:srgbClr val="FFFFFF"/>
                </a:solidFill>
                <a:latin typeface="Meiryo"/>
                <a:ea typeface="Meiryo"/>
              </a:rPr>
              <a:t>継続的な「関わり」をつくる。</a:t>
            </a:r>
          </a:p>
        </p:txBody>
      </p:sp>
      <p:sp>
        <p:nvSpPr>
          <p:cNvPr id="6" name="TextBox 5"/>
          <p:cNvSpPr txBox="1"/>
          <p:nvPr/>
        </p:nvSpPr>
        <p:spPr>
          <a:xfrm>
            <a:off x="758952" y="4114800"/>
            <a:ext cx="10058400" cy="914400"/>
          </a:xfrm>
          <a:prstGeom prst="rect">
            <a:avLst/>
          </a:prstGeom>
          <a:noFill/>
        </p:spPr>
        <p:txBody>
          <a:bodyPr wrap="square" anchor="t" lIns="0" rIns="0" tIns="0" bIns="0">
            <a:spAutoFit/>
          </a:bodyPr>
          <a:lstStyle/>
          <a:p>
            <a:pPr algn="l">
              <a:lnSpc>
                <a:spcPct val="115000"/>
              </a:lnSpc>
            </a:pPr>
            <a:r>
              <a:rPr sz="1700" b="0">
                <a:solidFill>
                  <a:srgbClr val="BCD2E8"/>
                </a:solidFill>
                <a:latin typeface="Meiryo"/>
                <a:ea typeface="Meiryo"/>
              </a:rPr>
              <a:t>～ クラウドファンディングで培った「地域と人をつなぐ力」を、</a:t>
            </a:r>
          </a:p>
          <a:p>
            <a:pPr algn="l">
              <a:lnSpc>
                <a:spcPct val="115000"/>
              </a:lnSpc>
            </a:pPr>
            <a:r>
              <a:rPr sz="1700" b="0">
                <a:solidFill>
                  <a:srgbClr val="BCD2E8"/>
                </a:solidFill>
                <a:latin typeface="Meiryo"/>
                <a:ea typeface="Meiryo"/>
              </a:rPr>
              <a:t>ふるさと住民登録制度の運用へ ～</a:t>
            </a:r>
          </a:p>
        </p:txBody>
      </p:sp>
      <p:sp>
        <p:nvSpPr>
          <p:cNvPr id="7" name="TextBox 6"/>
          <p:cNvSpPr txBox="1"/>
          <p:nvPr/>
        </p:nvSpPr>
        <p:spPr>
          <a:xfrm>
            <a:off x="8046720" y="5669280"/>
            <a:ext cx="3657600" cy="822960"/>
          </a:xfrm>
          <a:prstGeom prst="rect">
            <a:avLst/>
          </a:prstGeom>
          <a:noFill/>
        </p:spPr>
        <p:txBody>
          <a:bodyPr wrap="square" anchor="t" lIns="0" rIns="0" tIns="0" bIns="0">
            <a:spAutoFit/>
          </a:bodyPr>
          <a:lstStyle/>
          <a:p>
            <a:pPr algn="r">
              <a:lnSpc>
                <a:spcPct val="115000"/>
              </a:lnSpc>
            </a:pPr>
            <a:r>
              <a:rPr sz="2200" b="1">
                <a:solidFill>
                  <a:srgbClr val="FFFFFF"/>
                </a:solidFill>
                <a:latin typeface="Meiryo"/>
                <a:ea typeface="Meiryo"/>
              </a:rPr>
              <a:t>KITAICHI</a:t>
            </a:r>
          </a:p>
          <a:p>
            <a:pPr algn="r">
              <a:lnSpc>
                <a:spcPct val="115000"/>
              </a:lnSpc>
            </a:pPr>
            <a:r>
              <a:rPr sz="1200" b="0">
                <a:solidFill>
                  <a:srgbClr val="9FB6CD"/>
                </a:solidFill>
                <a:latin typeface="Meiryo"/>
                <a:ea typeface="Meiryo"/>
              </a:rPr>
              <a:t>株式会社KITAICHI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このご提案を一言でいうと</a:t>
            </a:r>
          </a:p>
        </p:txBody>
      </p:sp>
      <p:sp>
        <p:nvSpPr>
          <p:cNvPr id="4" name="TextBox 3"/>
          <p:cNvSpPr txBox="1"/>
          <p:nvPr/>
        </p:nvSpPr>
        <p:spPr>
          <a:xfrm>
            <a:off x="758952" y="1051560"/>
            <a:ext cx="10515600" cy="118872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制度の「企画 → 募集 → 担い手活動」まで、</a:t>
            </a:r>
          </a:p>
          <a:p>
            <a:pPr algn="l">
              <a:lnSpc>
                <a:spcPct val="115000"/>
              </a:lnSpc>
            </a:pPr>
            <a:r>
              <a:rPr sz="2800" b="1">
                <a:solidFill>
                  <a:srgbClr val="13314F"/>
                </a:solidFill>
                <a:latin typeface="Meiryo"/>
                <a:ea typeface="Meiryo"/>
              </a:rPr>
              <a:t>KITAICHIがまるごと伴走します。</a:t>
            </a:r>
          </a:p>
        </p:txBody>
      </p:sp>
      <p:sp>
        <p:nvSpPr>
          <p:cNvPr id="5" name="Rounded Rectangle 4"/>
          <p:cNvSpPr/>
          <p:nvPr/>
        </p:nvSpPr>
        <p:spPr>
          <a:xfrm>
            <a:off x="1097280" y="2743200"/>
            <a:ext cx="2651760" cy="1371600"/>
          </a:xfrm>
          <a:prstGeom prst="roundRect">
            <a:avLst>
              <a:gd name="adj" fmla="val 8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FFFFFF"/>
                </a:solidFill>
                <a:latin typeface="Meiryo"/>
                <a:ea typeface="Meiryo"/>
              </a:rPr>
              <a:t>① 企画設計</a:t>
            </a:r>
          </a:p>
        </p:txBody>
      </p:sp>
      <p:sp>
        <p:nvSpPr>
          <p:cNvPr id="6" name="Chevron 5"/>
          <p:cNvSpPr/>
          <p:nvPr/>
        </p:nvSpPr>
        <p:spPr>
          <a:xfrm>
            <a:off x="3822192" y="3200400"/>
            <a:ext cx="384048" cy="457200"/>
          </a:xfrm>
          <a:prstGeom prst="chevron">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51960" y="2743200"/>
            <a:ext cx="2651760" cy="1371600"/>
          </a:xfrm>
          <a:prstGeom prst="roundRect">
            <a:avLst>
              <a:gd name="adj" fmla="val 8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FFFFFF"/>
                </a:solidFill>
                <a:latin typeface="Meiryo"/>
                <a:ea typeface="Meiryo"/>
              </a:rPr>
              <a:t>② 募集支援</a:t>
            </a:r>
          </a:p>
        </p:txBody>
      </p:sp>
      <p:sp>
        <p:nvSpPr>
          <p:cNvPr id="8" name="Chevron 7"/>
          <p:cNvSpPr/>
          <p:nvPr/>
        </p:nvSpPr>
        <p:spPr>
          <a:xfrm>
            <a:off x="6976872" y="3200400"/>
            <a:ext cx="384048" cy="457200"/>
          </a:xfrm>
          <a:prstGeom prst="chevron">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0" y="2743200"/>
            <a:ext cx="2651760" cy="1371600"/>
          </a:xfrm>
          <a:prstGeom prst="roundRect">
            <a:avLst>
              <a:gd name="adj" fmla="val 8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FFFFFF"/>
                </a:solidFill>
                <a:latin typeface="Meiryo"/>
                <a:ea typeface="Meiryo"/>
              </a:rPr>
              <a:t>③ 担い手活動</a:t>
            </a:r>
          </a:p>
        </p:txBody>
      </p:sp>
      <p:sp>
        <p:nvSpPr>
          <p:cNvPr id="10" name="Rounded Rectangle 9"/>
          <p:cNvSpPr/>
          <p:nvPr/>
        </p:nvSpPr>
        <p:spPr>
          <a:xfrm>
            <a:off x="758952" y="4846320"/>
            <a:ext cx="10607040" cy="1143000"/>
          </a:xfrm>
          <a:prstGeom prst="roundRect">
            <a:avLst>
              <a:gd name="adj" fmla="val 8000"/>
            </a:avLst>
          </a:prstGeom>
          <a:solidFill>
            <a:srgbClr val="FFF6EE"/>
          </a:solidFill>
          <a:ln w="19050">
            <a:solidFill>
              <a:srgbClr val="F6D3B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800" b="1">
                <a:solidFill>
                  <a:srgbClr val="B4571D"/>
                </a:solidFill>
                <a:latin typeface="Meiryo"/>
                <a:ea typeface="Meiryo"/>
              </a:rPr>
              <a:t>費用は特別交付税措置の範囲内で検討可能です（総務省確認済み）。</a:t>
            </a:r>
          </a:p>
          <a:p>
            <a:pPr algn="l">
              <a:lnSpc>
                <a:spcPct val="110000"/>
              </a:lnSpc>
            </a:pPr>
            <a:r>
              <a:rPr sz="1600" b="0">
                <a:solidFill>
                  <a:srgbClr val="B4571D"/>
                </a:solidFill>
                <a:latin typeface="Meiryo"/>
                <a:ea typeface="Meiryo"/>
              </a:rPr>
              <a:t>まずは雑談レベルからでも大丈夫です。</a:t>
            </a:r>
          </a:p>
        </p:txBody>
      </p:sp>
      <p:sp>
        <p:nvSpPr>
          <p:cNvPr id="11" name="TextBox 10"/>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2" name="TextBox 11"/>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ふるさと住民登録制度とは</a:t>
            </a:r>
          </a:p>
        </p:txBody>
      </p:sp>
      <p:sp>
        <p:nvSpPr>
          <p:cNvPr id="4" name="TextBox 3"/>
          <p:cNvSpPr txBox="1"/>
          <p:nvPr/>
        </p:nvSpPr>
        <p:spPr>
          <a:xfrm>
            <a:off x="758952" y="1051560"/>
            <a:ext cx="10515600" cy="1280160"/>
          </a:xfrm>
          <a:prstGeom prst="rect">
            <a:avLst/>
          </a:prstGeom>
          <a:noFill/>
        </p:spPr>
        <p:txBody>
          <a:bodyPr wrap="square" anchor="t" lIns="0" rIns="0" tIns="0" bIns="0">
            <a:spAutoFit/>
          </a:bodyPr>
          <a:lstStyle/>
          <a:p>
            <a:pPr algn="l">
              <a:lnSpc>
                <a:spcPct val="115000"/>
              </a:lnSpc>
            </a:pPr>
            <a:r>
              <a:rPr sz="3000" b="1">
                <a:solidFill>
                  <a:srgbClr val="FFFFFF"/>
                </a:solidFill>
                <a:latin typeface="Meiryo"/>
                <a:ea typeface="Meiryo"/>
              </a:rPr>
              <a:t>「登録」ではなく、</a:t>
            </a:r>
          </a:p>
          <a:p>
            <a:pPr algn="l">
              <a:lnSpc>
                <a:spcPct val="115000"/>
              </a:lnSpc>
            </a:pPr>
            <a:r>
              <a:rPr sz="3000" b="1">
                <a:solidFill>
                  <a:srgbClr val="FFFFFF"/>
                </a:solidFill>
                <a:latin typeface="Meiryo"/>
                <a:ea typeface="Meiryo"/>
              </a:rPr>
              <a:t>地域との「関わり」を育てる仕組み。</a:t>
            </a:r>
          </a:p>
        </p:txBody>
      </p:sp>
      <p:sp>
        <p:nvSpPr>
          <p:cNvPr id="5" name="TextBox 4"/>
          <p:cNvSpPr txBox="1"/>
          <p:nvPr/>
        </p:nvSpPr>
        <p:spPr>
          <a:xfrm>
            <a:off x="758952" y="2697480"/>
            <a:ext cx="10515600" cy="731520"/>
          </a:xfrm>
          <a:prstGeom prst="rect">
            <a:avLst/>
          </a:prstGeom>
          <a:noFill/>
        </p:spPr>
        <p:txBody>
          <a:bodyPr wrap="square" anchor="t" lIns="0" rIns="0" tIns="0" bIns="0">
            <a:spAutoFit/>
          </a:bodyPr>
          <a:lstStyle/>
          <a:p>
            <a:pPr algn="l">
              <a:lnSpc>
                <a:spcPct val="115000"/>
              </a:lnSpc>
            </a:pPr>
            <a:r>
              <a:rPr sz="1600" b="0">
                <a:solidFill>
                  <a:srgbClr val="CDDDF0"/>
                </a:solidFill>
                <a:latin typeface="Meiryo"/>
                <a:ea typeface="Meiryo"/>
              </a:rPr>
              <a:t>地域を応援したい人・関わりたい人・未来に参加したい人とつながり、継続的な関係を育てる制度です。</a:t>
            </a:r>
          </a:p>
        </p:txBody>
      </p:sp>
      <p:sp>
        <p:nvSpPr>
          <p:cNvPr id="6" name="Rounded Rectangle 5"/>
          <p:cNvSpPr/>
          <p:nvPr/>
        </p:nvSpPr>
        <p:spPr>
          <a:xfrm>
            <a:off x="1097280" y="3840480"/>
            <a:ext cx="4297680" cy="18288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a:solidFill>
                  <a:srgbClr val="CFE0F0"/>
                </a:solidFill>
                <a:latin typeface="Meiryo"/>
                <a:ea typeface="Meiryo"/>
              </a:rPr>
              <a:t>ふるさと納税</a:t>
            </a:r>
          </a:p>
          <a:p>
            <a:pPr algn="ctr">
              <a:lnSpc>
                <a:spcPct val="110000"/>
              </a:lnSpc>
            </a:pPr>
            <a:r>
              <a:rPr sz="800" b="0">
                <a:solidFill>
                  <a:srgbClr val="FFFFFF"/>
                </a:solidFill>
                <a:latin typeface="Meiryo"/>
                <a:ea typeface="Meiryo"/>
              </a:rPr>
              <a:t/>
            </a:r>
          </a:p>
          <a:p>
            <a:pPr algn="ctr">
              <a:lnSpc>
                <a:spcPct val="110000"/>
              </a:lnSpc>
            </a:pPr>
            <a:r>
              <a:rPr sz="1600" b="0">
                <a:solidFill>
                  <a:srgbClr val="FFFFFF"/>
                </a:solidFill>
                <a:latin typeface="Meiryo"/>
                <a:ea typeface="Meiryo"/>
              </a:rPr>
              <a:t>「寄附」という形で</a:t>
            </a:r>
          </a:p>
          <a:p>
            <a:pPr algn="ctr">
              <a:lnSpc>
                <a:spcPct val="110000"/>
              </a:lnSpc>
            </a:pPr>
            <a:r>
              <a:rPr sz="1600" b="0">
                <a:solidFill>
                  <a:srgbClr val="FFFFFF"/>
                </a:solidFill>
                <a:latin typeface="Meiryo"/>
                <a:ea typeface="Meiryo"/>
              </a:rPr>
              <a:t>地域との接点を広げた</a:t>
            </a:r>
          </a:p>
        </p:txBody>
      </p:sp>
      <p:sp>
        <p:nvSpPr>
          <p:cNvPr id="7" name="Right Arrow 6"/>
          <p:cNvSpPr/>
          <p:nvPr/>
        </p:nvSpPr>
        <p:spPr>
          <a:xfrm>
            <a:off x="5623560" y="4526280"/>
            <a:ext cx="868680" cy="457200"/>
          </a:xfrm>
          <a:prstGeom prst="rightArrow">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20840" y="3840480"/>
            <a:ext cx="4297680" cy="1828800"/>
          </a:xfrm>
          <a:prstGeom prst="roundRect">
            <a:avLst>
              <a:gd name="adj" fmla="val 8000"/>
            </a:avLst>
          </a:prstGeom>
          <a:solidFill>
            <a:srgbClr val="3A2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a:solidFill>
                  <a:srgbClr val="FFB066"/>
                </a:solidFill>
                <a:latin typeface="Meiryo"/>
                <a:ea typeface="Meiryo"/>
              </a:rPr>
              <a:t>ふるさと住民登録制度</a:t>
            </a:r>
          </a:p>
          <a:p>
            <a:pPr algn="ctr">
              <a:lnSpc>
                <a:spcPct val="110000"/>
              </a:lnSpc>
            </a:pPr>
            <a:r>
              <a:rPr sz="800" b="0">
                <a:solidFill>
                  <a:srgbClr val="FFFFFF"/>
                </a:solidFill>
                <a:latin typeface="Meiryo"/>
                <a:ea typeface="Meiryo"/>
              </a:rPr>
              <a:t/>
            </a:r>
          </a:p>
          <a:p>
            <a:pPr algn="ctr">
              <a:lnSpc>
                <a:spcPct val="110000"/>
              </a:lnSpc>
            </a:pPr>
            <a:r>
              <a:rPr sz="1600" b="0">
                <a:solidFill>
                  <a:srgbClr val="FFE2CC"/>
                </a:solidFill>
                <a:latin typeface="Meiryo"/>
                <a:ea typeface="Meiryo"/>
              </a:rPr>
              <a:t>「関わり」という形で</a:t>
            </a:r>
          </a:p>
          <a:p>
            <a:pPr algn="ctr">
              <a:lnSpc>
                <a:spcPct val="110000"/>
              </a:lnSpc>
            </a:pPr>
            <a:r>
              <a:rPr sz="1600" b="0">
                <a:solidFill>
                  <a:srgbClr val="FFE2CC"/>
                </a:solidFill>
                <a:latin typeface="Meiryo"/>
                <a:ea typeface="Meiryo"/>
              </a:rPr>
              <a:t>地域の応援者を増やす</a:t>
            </a:r>
          </a:p>
        </p:txBody>
      </p:sp>
      <p:sp>
        <p:nvSpPr>
          <p:cNvPr id="9" name="TextBox 8"/>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10" name="TextBox 9"/>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運用検討にあたり</a:t>
            </a:r>
          </a:p>
        </p:txBody>
      </p:sp>
      <p:sp>
        <p:nvSpPr>
          <p:cNvPr id="4" name="TextBox 3"/>
          <p:cNvSpPr txBox="1"/>
          <p:nvPr/>
        </p:nvSpPr>
        <p:spPr>
          <a:xfrm>
            <a:off x="758952" y="1005840"/>
            <a:ext cx="10058400" cy="731520"/>
          </a:xfrm>
          <a:prstGeom prst="rect">
            <a:avLst/>
          </a:prstGeom>
          <a:noFill/>
        </p:spPr>
        <p:txBody>
          <a:bodyPr wrap="square" anchor="t" lIns="0" rIns="0" tIns="0" bIns="0">
            <a:spAutoFit/>
          </a:bodyPr>
          <a:lstStyle/>
          <a:p>
            <a:pPr algn="l">
              <a:lnSpc>
                <a:spcPct val="115000"/>
              </a:lnSpc>
            </a:pPr>
            <a:r>
              <a:rPr sz="3200" b="1">
                <a:solidFill>
                  <a:srgbClr val="13314F"/>
                </a:solidFill>
                <a:latin typeface="Meiryo"/>
                <a:ea typeface="Meiryo"/>
              </a:rPr>
              <a:t>こんな不安はありませんか？</a:t>
            </a:r>
          </a:p>
        </p:txBody>
      </p:sp>
      <p:sp>
        <p:nvSpPr>
          <p:cNvPr id="5" name="Rounded Rectangle 4"/>
          <p:cNvSpPr/>
          <p:nvPr/>
        </p:nvSpPr>
        <p:spPr>
          <a:xfrm>
            <a:off x="914400" y="2194560"/>
            <a:ext cx="3383280" cy="237744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34440" y="2514600"/>
            <a:ext cx="685800" cy="685800"/>
          </a:xfrm>
          <a:prstGeom prst="roundRect">
            <a:avLst>
              <a:gd name="adj" fmla="val 8000"/>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7" name="TextBox 6"/>
          <p:cNvSpPr txBox="1"/>
          <p:nvPr/>
        </p:nvSpPr>
        <p:spPr>
          <a:xfrm>
            <a:off x="1234440" y="3383280"/>
            <a:ext cx="2743200" cy="274320"/>
          </a:xfrm>
          <a:prstGeom prst="rect">
            <a:avLst/>
          </a:prstGeom>
          <a:noFill/>
        </p:spPr>
        <p:txBody>
          <a:bodyPr wrap="square" anchor="t" lIns="0" rIns="0" tIns="0" bIns="0">
            <a:spAutoFit/>
          </a:bodyPr>
          <a:lstStyle/>
          <a:p>
            <a:pPr algn="l">
              <a:lnSpc>
                <a:spcPct val="115000"/>
              </a:lnSpc>
            </a:pPr>
            <a:r>
              <a:rPr sz="1200" b="1">
                <a:solidFill>
                  <a:srgbClr val="5D6F80"/>
                </a:solidFill>
                <a:latin typeface="Meiryo"/>
                <a:ea typeface="Meiryo"/>
              </a:rPr>
              <a:t>不安 01</a:t>
            </a:r>
          </a:p>
        </p:txBody>
      </p:sp>
      <p:sp>
        <p:nvSpPr>
          <p:cNvPr id="8" name="TextBox 7"/>
          <p:cNvSpPr txBox="1"/>
          <p:nvPr/>
        </p:nvSpPr>
        <p:spPr>
          <a:xfrm>
            <a:off x="1234440" y="3703320"/>
            <a:ext cx="2743200" cy="822960"/>
          </a:xfrm>
          <a:prstGeom prst="rect">
            <a:avLst/>
          </a:prstGeom>
          <a:noFill/>
        </p:spPr>
        <p:txBody>
          <a:bodyPr wrap="square" anchor="t" lIns="0" rIns="0" tIns="0" bIns="0">
            <a:spAutoFit/>
          </a:bodyPr>
          <a:lstStyle/>
          <a:p>
            <a:pPr algn="l">
              <a:lnSpc>
                <a:spcPct val="115000"/>
              </a:lnSpc>
            </a:pPr>
            <a:r>
              <a:rPr sz="1700" b="0">
                <a:solidFill>
                  <a:srgbClr val="1B2733"/>
                </a:solidFill>
                <a:latin typeface="Meiryo"/>
                <a:ea typeface="Meiryo"/>
              </a:rPr>
              <a:t>この制度をどう活用すれば</a:t>
            </a:r>
          </a:p>
          <a:p>
            <a:pPr algn="l">
              <a:lnSpc>
                <a:spcPct val="115000"/>
              </a:lnSpc>
            </a:pPr>
            <a:r>
              <a:rPr sz="1700" b="0">
                <a:solidFill>
                  <a:srgbClr val="1B2733"/>
                </a:solidFill>
                <a:latin typeface="Meiryo"/>
                <a:ea typeface="Meiryo"/>
              </a:rPr>
              <a:t>よいかわからない</a:t>
            </a:r>
          </a:p>
        </p:txBody>
      </p:sp>
      <p:sp>
        <p:nvSpPr>
          <p:cNvPr id="9" name="Rounded Rectangle 8"/>
          <p:cNvSpPr/>
          <p:nvPr/>
        </p:nvSpPr>
        <p:spPr>
          <a:xfrm>
            <a:off x="4617720" y="2194560"/>
            <a:ext cx="3383280" cy="237744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0" y="2514600"/>
            <a:ext cx="685800" cy="685800"/>
          </a:xfrm>
          <a:prstGeom prst="roundRect">
            <a:avLst>
              <a:gd name="adj" fmla="val 8000"/>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11" name="TextBox 10"/>
          <p:cNvSpPr txBox="1"/>
          <p:nvPr/>
        </p:nvSpPr>
        <p:spPr>
          <a:xfrm>
            <a:off x="4937760" y="3383280"/>
            <a:ext cx="2743200" cy="274320"/>
          </a:xfrm>
          <a:prstGeom prst="rect">
            <a:avLst/>
          </a:prstGeom>
          <a:noFill/>
        </p:spPr>
        <p:txBody>
          <a:bodyPr wrap="square" anchor="t" lIns="0" rIns="0" tIns="0" bIns="0">
            <a:spAutoFit/>
          </a:bodyPr>
          <a:lstStyle/>
          <a:p>
            <a:pPr algn="l">
              <a:lnSpc>
                <a:spcPct val="115000"/>
              </a:lnSpc>
            </a:pPr>
            <a:r>
              <a:rPr sz="1200" b="1">
                <a:solidFill>
                  <a:srgbClr val="5D6F80"/>
                </a:solidFill>
                <a:latin typeface="Meiryo"/>
                <a:ea typeface="Meiryo"/>
              </a:rPr>
              <a:t>不安 02</a:t>
            </a:r>
          </a:p>
        </p:txBody>
      </p:sp>
      <p:sp>
        <p:nvSpPr>
          <p:cNvPr id="12" name="TextBox 11"/>
          <p:cNvSpPr txBox="1"/>
          <p:nvPr/>
        </p:nvSpPr>
        <p:spPr>
          <a:xfrm>
            <a:off x="4937760" y="3703320"/>
            <a:ext cx="2743200" cy="822960"/>
          </a:xfrm>
          <a:prstGeom prst="rect">
            <a:avLst/>
          </a:prstGeom>
          <a:noFill/>
        </p:spPr>
        <p:txBody>
          <a:bodyPr wrap="square" anchor="t" lIns="0" rIns="0" tIns="0" bIns="0">
            <a:spAutoFit/>
          </a:bodyPr>
          <a:lstStyle/>
          <a:p>
            <a:pPr algn="l">
              <a:lnSpc>
                <a:spcPct val="115000"/>
              </a:lnSpc>
            </a:pPr>
            <a:r>
              <a:rPr sz="1700" b="0">
                <a:solidFill>
                  <a:srgbClr val="1B2733"/>
                </a:solidFill>
                <a:latin typeface="Meiryo"/>
                <a:ea typeface="Meiryo"/>
              </a:rPr>
              <a:t>通常業務で手一杯で、企画や</a:t>
            </a:r>
          </a:p>
          <a:p>
            <a:pPr algn="l">
              <a:lnSpc>
                <a:spcPct val="115000"/>
              </a:lnSpc>
            </a:pPr>
            <a:r>
              <a:rPr sz="1700" b="0">
                <a:solidFill>
                  <a:srgbClr val="1B2733"/>
                </a:solidFill>
                <a:latin typeface="Meiryo"/>
                <a:ea typeface="Meiryo"/>
              </a:rPr>
              <a:t>運用まで手が回らない</a:t>
            </a:r>
          </a:p>
        </p:txBody>
      </p:sp>
      <p:sp>
        <p:nvSpPr>
          <p:cNvPr id="13" name="Rounded Rectangle 12"/>
          <p:cNvSpPr/>
          <p:nvPr/>
        </p:nvSpPr>
        <p:spPr>
          <a:xfrm>
            <a:off x="8321040" y="2194560"/>
            <a:ext cx="3383280" cy="237744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41080" y="2514600"/>
            <a:ext cx="685800" cy="685800"/>
          </a:xfrm>
          <a:prstGeom prst="roundRect">
            <a:avLst>
              <a:gd name="adj" fmla="val 8000"/>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15" name="TextBox 14"/>
          <p:cNvSpPr txBox="1"/>
          <p:nvPr/>
        </p:nvSpPr>
        <p:spPr>
          <a:xfrm>
            <a:off x="8641080" y="3383280"/>
            <a:ext cx="2743200" cy="274320"/>
          </a:xfrm>
          <a:prstGeom prst="rect">
            <a:avLst/>
          </a:prstGeom>
          <a:noFill/>
        </p:spPr>
        <p:txBody>
          <a:bodyPr wrap="square" anchor="t" lIns="0" rIns="0" tIns="0" bIns="0">
            <a:spAutoFit/>
          </a:bodyPr>
          <a:lstStyle/>
          <a:p>
            <a:pPr algn="l">
              <a:lnSpc>
                <a:spcPct val="115000"/>
              </a:lnSpc>
            </a:pPr>
            <a:r>
              <a:rPr sz="1200" b="1">
                <a:solidFill>
                  <a:srgbClr val="5D6F80"/>
                </a:solidFill>
                <a:latin typeface="Meiryo"/>
                <a:ea typeface="Meiryo"/>
              </a:rPr>
              <a:t>不安 03</a:t>
            </a:r>
          </a:p>
        </p:txBody>
      </p:sp>
      <p:sp>
        <p:nvSpPr>
          <p:cNvPr id="16" name="TextBox 15"/>
          <p:cNvSpPr txBox="1"/>
          <p:nvPr/>
        </p:nvSpPr>
        <p:spPr>
          <a:xfrm>
            <a:off x="8641080" y="3703320"/>
            <a:ext cx="2743200" cy="822960"/>
          </a:xfrm>
          <a:prstGeom prst="rect">
            <a:avLst/>
          </a:prstGeom>
          <a:noFill/>
        </p:spPr>
        <p:txBody>
          <a:bodyPr wrap="square" anchor="t" lIns="0" rIns="0" tIns="0" bIns="0">
            <a:spAutoFit/>
          </a:bodyPr>
          <a:lstStyle/>
          <a:p>
            <a:pPr algn="l">
              <a:lnSpc>
                <a:spcPct val="115000"/>
              </a:lnSpc>
            </a:pPr>
            <a:r>
              <a:rPr sz="1700" b="0">
                <a:solidFill>
                  <a:srgbClr val="1B2733"/>
                </a:solidFill>
                <a:latin typeface="Meiryo"/>
                <a:ea typeface="Meiryo"/>
              </a:rPr>
              <a:t>担い手活動の具体的な</a:t>
            </a:r>
          </a:p>
          <a:p>
            <a:pPr algn="l">
              <a:lnSpc>
                <a:spcPct val="115000"/>
              </a:lnSpc>
            </a:pPr>
            <a:r>
              <a:rPr sz="1700" b="0">
                <a:solidFill>
                  <a:srgbClr val="1B2733"/>
                </a:solidFill>
                <a:latin typeface="Meiryo"/>
                <a:ea typeface="Meiryo"/>
              </a:rPr>
              <a:t>イメージがわかない</a:t>
            </a:r>
          </a:p>
        </p:txBody>
      </p:sp>
      <p:sp>
        <p:nvSpPr>
          <p:cNvPr id="17" name="TextBox 16"/>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8" name="TextBox 17"/>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Oval 1"/>
          <p:cNvSpPr/>
          <p:nvPr/>
        </p:nvSpPr>
        <p:spPr>
          <a:xfrm>
            <a:off x="-1371600" y="-1371600"/>
            <a:ext cx="3657600" cy="365760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103120"/>
            <a:ext cx="12191695" cy="365760"/>
          </a:xfrm>
          <a:prstGeom prst="rect">
            <a:avLst/>
          </a:prstGeom>
          <a:noFill/>
        </p:spPr>
        <p:txBody>
          <a:bodyPr wrap="square" anchor="t" lIns="0" rIns="0" tIns="0" bIns="0">
            <a:spAutoFit/>
          </a:bodyPr>
          <a:lstStyle/>
          <a:p>
            <a:pPr algn="ctr">
              <a:lnSpc>
                <a:spcPct val="115000"/>
              </a:lnSpc>
            </a:pPr>
            <a:r>
              <a:rPr sz="1400" b="1">
                <a:solidFill>
                  <a:srgbClr val="FFB066"/>
                </a:solidFill>
                <a:latin typeface="Meiryo"/>
                <a:ea typeface="Meiryo"/>
              </a:rPr>
              <a:t>その不安に</a:t>
            </a:r>
          </a:p>
        </p:txBody>
      </p:sp>
      <p:sp>
        <p:nvSpPr>
          <p:cNvPr id="4" name="TextBox 3"/>
          <p:cNvSpPr txBox="1"/>
          <p:nvPr/>
        </p:nvSpPr>
        <p:spPr>
          <a:xfrm>
            <a:off x="0" y="2606040"/>
            <a:ext cx="12191695" cy="914400"/>
          </a:xfrm>
          <a:prstGeom prst="rect">
            <a:avLst/>
          </a:prstGeom>
          <a:noFill/>
        </p:spPr>
        <p:txBody>
          <a:bodyPr wrap="square" anchor="t" lIns="0" rIns="0" tIns="0" bIns="0">
            <a:spAutoFit/>
          </a:bodyPr>
          <a:lstStyle/>
          <a:p>
            <a:pPr algn="ctr">
              <a:lnSpc>
                <a:spcPct val="115000"/>
              </a:lnSpc>
            </a:pPr>
            <a:r>
              <a:rPr sz="4600" b="1">
                <a:solidFill>
                  <a:srgbClr val="FFFFFF"/>
                </a:solidFill>
                <a:latin typeface="Meiryo"/>
                <a:ea typeface="Meiryo"/>
              </a:rPr>
              <a:t>KITAICHIが、伴走します。</a:t>
            </a:r>
          </a:p>
        </p:txBody>
      </p:sp>
      <p:sp>
        <p:nvSpPr>
          <p:cNvPr id="5" name="TextBox 4"/>
          <p:cNvSpPr txBox="1"/>
          <p:nvPr/>
        </p:nvSpPr>
        <p:spPr>
          <a:xfrm>
            <a:off x="2194560" y="3931920"/>
            <a:ext cx="7772400" cy="1097280"/>
          </a:xfrm>
          <a:prstGeom prst="rect">
            <a:avLst/>
          </a:prstGeom>
          <a:noFill/>
        </p:spPr>
        <p:txBody>
          <a:bodyPr wrap="square" anchor="t" lIns="0" rIns="0" tIns="0" bIns="0">
            <a:spAutoFit/>
          </a:bodyPr>
          <a:lstStyle/>
          <a:p>
            <a:pPr algn="ctr">
              <a:lnSpc>
                <a:spcPct val="115000"/>
              </a:lnSpc>
            </a:pPr>
            <a:r>
              <a:rPr sz="1700" b="0">
                <a:solidFill>
                  <a:srgbClr val="CDDDF0"/>
                </a:solidFill>
                <a:latin typeface="Meiryo"/>
                <a:ea typeface="Meiryo"/>
              </a:rPr>
              <a:t>ふるさと住民登録制度は、クラウドファンディングに非常に近い構造です。制度設計・募集・担い手活動の企画運営まで、まるごとお任せください。</a:t>
            </a:r>
          </a:p>
        </p:txBody>
      </p:sp>
      <p:sp>
        <p:nvSpPr>
          <p:cNvPr id="6" name="TextBox 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7" name="TextBox 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なぜ伴走できるのか</a:t>
            </a:r>
          </a:p>
        </p:txBody>
      </p:sp>
      <p:sp>
        <p:nvSpPr>
          <p:cNvPr id="4" name="TextBox 3"/>
          <p:cNvSpPr txBox="1"/>
          <p:nvPr/>
        </p:nvSpPr>
        <p:spPr>
          <a:xfrm>
            <a:off x="758952" y="1005840"/>
            <a:ext cx="10515600" cy="1188720"/>
          </a:xfrm>
          <a:prstGeom prst="rect">
            <a:avLst/>
          </a:prstGeom>
          <a:noFill/>
        </p:spPr>
        <p:txBody>
          <a:bodyPr wrap="square" anchor="t" lIns="0" rIns="0" tIns="0" bIns="0">
            <a:spAutoFit/>
          </a:bodyPr>
          <a:lstStyle/>
          <a:p>
            <a:pPr algn="l">
              <a:lnSpc>
                <a:spcPct val="115000"/>
              </a:lnSpc>
            </a:pPr>
            <a:r>
              <a:rPr sz="2600" b="1">
                <a:solidFill>
                  <a:srgbClr val="13314F"/>
                </a:solidFill>
                <a:latin typeface="Meiryo"/>
                <a:ea typeface="Meiryo"/>
              </a:rPr>
              <a:t>ふるさと住民登録制度は、</a:t>
            </a:r>
          </a:p>
          <a:p>
            <a:pPr algn="l">
              <a:lnSpc>
                <a:spcPct val="115000"/>
              </a:lnSpc>
            </a:pPr>
            <a:r>
              <a:rPr sz="2600" b="1">
                <a:solidFill>
                  <a:srgbClr val="13314F"/>
                </a:solidFill>
                <a:latin typeface="Meiryo"/>
                <a:ea typeface="Meiryo"/>
              </a:rPr>
              <a:t>クラウドファンディングとよく似ています。</a:t>
            </a:r>
          </a:p>
        </p:txBody>
      </p:sp>
      <p:sp>
        <p:nvSpPr>
          <p:cNvPr id="5" name="Rounded Rectangle 4"/>
          <p:cNvSpPr/>
          <p:nvPr/>
        </p:nvSpPr>
        <p:spPr>
          <a:xfrm>
            <a:off x="822960" y="2514600"/>
            <a:ext cx="4572000" cy="310896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4114800" cy="365760"/>
          </a:xfrm>
          <a:prstGeom prst="rect">
            <a:avLst/>
          </a:prstGeom>
          <a:noFill/>
        </p:spPr>
        <p:txBody>
          <a:bodyPr wrap="square" anchor="t" lIns="0" rIns="0" tIns="0" bIns="0">
            <a:spAutoFit/>
          </a:bodyPr>
          <a:lstStyle/>
          <a:p>
            <a:pPr algn="l">
              <a:lnSpc>
                <a:spcPct val="115000"/>
              </a:lnSpc>
            </a:pPr>
            <a:r>
              <a:rPr sz="1800" b="1">
                <a:solidFill>
                  <a:srgbClr val="1F4D77"/>
                </a:solidFill>
                <a:latin typeface="Meiryo"/>
                <a:ea typeface="Meiryo"/>
              </a:rPr>
              <a:t>クラウドファンディング</a:t>
            </a:r>
          </a:p>
        </p:txBody>
      </p:sp>
      <p:sp>
        <p:nvSpPr>
          <p:cNvPr id="7" name="TextBox 6"/>
          <p:cNvSpPr txBox="1"/>
          <p:nvPr/>
        </p:nvSpPr>
        <p:spPr>
          <a:xfrm>
            <a:off x="1097280" y="3246120"/>
            <a:ext cx="4114800" cy="2286000"/>
          </a:xfrm>
          <a:prstGeom prst="rect">
            <a:avLst/>
          </a:prstGeom>
          <a:noFill/>
        </p:spPr>
        <p:txBody>
          <a:bodyPr wrap="square" anchor="t" lIns="0" rIns="0" tIns="0" bIns="0">
            <a:spAutoFit/>
          </a:bodyPr>
          <a:lstStyle/>
          <a:p>
            <a:pPr algn="l">
              <a:lnSpc>
                <a:spcPct val="115000"/>
              </a:lnSpc>
            </a:pPr>
            <a:r>
              <a:rPr sz="1500" b="1">
                <a:solidFill>
                  <a:srgbClr val="2F80C4"/>
                </a:solidFill>
                <a:latin typeface="Meiryo"/>
                <a:ea typeface="Meiryo"/>
              </a:rPr>
              <a:t>✓ </a:t>
            </a:r>
            <a:r>
              <a:rPr sz="1500" b="0">
                <a:solidFill>
                  <a:srgbClr val="1B2733"/>
                </a:solidFill>
                <a:latin typeface="Meiryo"/>
                <a:ea typeface="Meiryo"/>
              </a:rPr>
              <a:t>取り組みの背景や想いを伝える</a:t>
            </a:r>
          </a:p>
          <a:p>
            <a:pPr algn="l">
              <a:lnSpc>
                <a:spcPct val="115000"/>
              </a:lnSpc>
            </a:pPr>
            <a:r>
              <a:rPr sz="1500" b="1">
                <a:solidFill>
                  <a:srgbClr val="2F80C4"/>
                </a:solidFill>
                <a:latin typeface="Meiryo"/>
                <a:ea typeface="Meiryo"/>
              </a:rPr>
              <a:t>✓ </a:t>
            </a:r>
            <a:r>
              <a:rPr sz="1500" b="0">
                <a:solidFill>
                  <a:srgbClr val="1B2733"/>
                </a:solidFill>
                <a:latin typeface="Meiryo"/>
                <a:ea typeface="Meiryo"/>
              </a:rPr>
              <a:t>地域の魅力や課題を届ける</a:t>
            </a:r>
          </a:p>
          <a:p>
            <a:pPr algn="l">
              <a:lnSpc>
                <a:spcPct val="115000"/>
              </a:lnSpc>
            </a:pPr>
            <a:r>
              <a:rPr sz="1500" b="1">
                <a:solidFill>
                  <a:srgbClr val="2F80C4"/>
                </a:solidFill>
                <a:latin typeface="Meiryo"/>
                <a:ea typeface="Meiryo"/>
              </a:rPr>
              <a:t>✓ </a:t>
            </a:r>
            <a:r>
              <a:rPr sz="1500" b="0">
                <a:solidFill>
                  <a:srgbClr val="1B2733"/>
                </a:solidFill>
                <a:latin typeface="Meiryo"/>
                <a:ea typeface="Meiryo"/>
              </a:rPr>
              <a:t>共感してくれる人を増やす</a:t>
            </a:r>
          </a:p>
          <a:p>
            <a:pPr algn="l">
              <a:lnSpc>
                <a:spcPct val="115000"/>
              </a:lnSpc>
            </a:pPr>
            <a:r>
              <a:rPr sz="1500" b="1">
                <a:solidFill>
                  <a:srgbClr val="2F80C4"/>
                </a:solidFill>
                <a:latin typeface="Meiryo"/>
                <a:ea typeface="Meiryo"/>
              </a:rPr>
              <a:t>✓ </a:t>
            </a:r>
            <a:r>
              <a:rPr sz="1500" b="0">
                <a:solidFill>
                  <a:srgbClr val="1B2733"/>
                </a:solidFill>
                <a:latin typeface="Meiryo"/>
                <a:ea typeface="Meiryo"/>
              </a:rPr>
              <a:t>応援や参加を募る</a:t>
            </a:r>
          </a:p>
          <a:p>
            <a:pPr algn="l">
              <a:lnSpc>
                <a:spcPct val="115000"/>
              </a:lnSpc>
            </a:pPr>
            <a:r>
              <a:rPr sz="1500" b="1">
                <a:solidFill>
                  <a:srgbClr val="2F80C4"/>
                </a:solidFill>
                <a:latin typeface="Meiryo"/>
                <a:ea typeface="Meiryo"/>
              </a:rPr>
              <a:t>✓ </a:t>
            </a:r>
            <a:r>
              <a:rPr sz="1500" b="0">
                <a:solidFill>
                  <a:srgbClr val="1B2733"/>
                </a:solidFill>
                <a:latin typeface="Meiryo"/>
                <a:ea typeface="Meiryo"/>
              </a:rPr>
              <a:t>継続的な関係をつくる</a:t>
            </a:r>
          </a:p>
        </p:txBody>
      </p:sp>
      <p:sp>
        <p:nvSpPr>
          <p:cNvPr id="8" name="Rounded Rectangle 7"/>
          <p:cNvSpPr/>
          <p:nvPr/>
        </p:nvSpPr>
        <p:spPr>
          <a:xfrm>
            <a:off x="6812280" y="2514600"/>
            <a:ext cx="4572000" cy="3108960"/>
          </a:xfrm>
          <a:prstGeom prst="roundRect">
            <a:avLst>
              <a:gd name="adj" fmla="val 8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2743200"/>
            <a:ext cx="4114800" cy="365760"/>
          </a:xfrm>
          <a:prstGeom prst="rect">
            <a:avLst/>
          </a:prstGeom>
          <a:noFill/>
        </p:spPr>
        <p:txBody>
          <a:bodyPr wrap="square" anchor="t" lIns="0" rIns="0" tIns="0" bIns="0">
            <a:spAutoFit/>
          </a:bodyPr>
          <a:lstStyle/>
          <a:p>
            <a:pPr algn="l">
              <a:lnSpc>
                <a:spcPct val="115000"/>
              </a:lnSpc>
            </a:pPr>
            <a:r>
              <a:rPr sz="1800" b="1">
                <a:solidFill>
                  <a:srgbClr val="C2611D"/>
                </a:solidFill>
                <a:latin typeface="Meiryo"/>
                <a:ea typeface="Meiryo"/>
              </a:rPr>
              <a:t>ふるさと住民登録制度</a:t>
            </a:r>
          </a:p>
        </p:txBody>
      </p:sp>
      <p:sp>
        <p:nvSpPr>
          <p:cNvPr id="10" name="TextBox 9"/>
          <p:cNvSpPr txBox="1"/>
          <p:nvPr/>
        </p:nvSpPr>
        <p:spPr>
          <a:xfrm>
            <a:off x="7086600" y="3246120"/>
            <a:ext cx="4114800" cy="2286000"/>
          </a:xfrm>
          <a:prstGeom prst="rect">
            <a:avLst/>
          </a:prstGeom>
          <a:noFill/>
        </p:spPr>
        <p:txBody>
          <a:bodyPr wrap="square" anchor="t" lIns="0" rIns="0" tIns="0" bIns="0">
            <a:spAutoFit/>
          </a:bodyPr>
          <a:lstStyle/>
          <a:p>
            <a:pPr algn="l">
              <a:lnSpc>
                <a:spcPct val="115000"/>
              </a:lnSpc>
            </a:pPr>
            <a:r>
              <a:rPr sz="1500" b="1">
                <a:solidFill>
                  <a:srgbClr val="F2762E"/>
                </a:solidFill>
                <a:latin typeface="Meiryo"/>
                <a:ea typeface="Meiryo"/>
              </a:rPr>
              <a:t>✓ </a:t>
            </a:r>
            <a:r>
              <a:rPr sz="1500" b="0">
                <a:solidFill>
                  <a:srgbClr val="1B2733"/>
                </a:solidFill>
                <a:latin typeface="Meiryo"/>
                <a:ea typeface="Meiryo"/>
              </a:rPr>
              <a:t>地域の想いやストーリーを届ける</a:t>
            </a:r>
          </a:p>
          <a:p>
            <a:pPr algn="l">
              <a:lnSpc>
                <a:spcPct val="115000"/>
              </a:lnSpc>
            </a:pPr>
            <a:r>
              <a:rPr sz="1500" b="1">
                <a:solidFill>
                  <a:srgbClr val="F2762E"/>
                </a:solidFill>
                <a:latin typeface="Meiryo"/>
                <a:ea typeface="Meiryo"/>
              </a:rPr>
              <a:t>✓ </a:t>
            </a:r>
            <a:r>
              <a:rPr sz="1500" b="0">
                <a:solidFill>
                  <a:srgbClr val="1B2733"/>
                </a:solidFill>
                <a:latin typeface="Meiryo"/>
                <a:ea typeface="Meiryo"/>
              </a:rPr>
              <a:t>地域の魅力をわかりやすく伝える</a:t>
            </a:r>
          </a:p>
          <a:p>
            <a:pPr algn="l">
              <a:lnSpc>
                <a:spcPct val="115000"/>
              </a:lnSpc>
            </a:pPr>
            <a:r>
              <a:rPr sz="1500" b="1">
                <a:solidFill>
                  <a:srgbClr val="F2762E"/>
                </a:solidFill>
                <a:latin typeface="Meiryo"/>
                <a:ea typeface="Meiryo"/>
              </a:rPr>
              <a:t>✓ </a:t>
            </a:r>
            <a:r>
              <a:rPr sz="1500" b="0">
                <a:solidFill>
                  <a:srgbClr val="1B2733"/>
                </a:solidFill>
                <a:latin typeface="Meiryo"/>
                <a:ea typeface="Meiryo"/>
              </a:rPr>
              <a:t>共感する登録者を増やす</a:t>
            </a:r>
          </a:p>
          <a:p>
            <a:pPr algn="l">
              <a:lnSpc>
                <a:spcPct val="115000"/>
              </a:lnSpc>
            </a:pPr>
            <a:r>
              <a:rPr sz="1500" b="1">
                <a:solidFill>
                  <a:srgbClr val="F2762E"/>
                </a:solidFill>
                <a:latin typeface="Meiryo"/>
                <a:ea typeface="Meiryo"/>
              </a:rPr>
              <a:t>✓ </a:t>
            </a:r>
            <a:r>
              <a:rPr sz="1500" b="0">
                <a:solidFill>
                  <a:srgbClr val="1B2733"/>
                </a:solidFill>
                <a:latin typeface="Meiryo"/>
                <a:ea typeface="Meiryo"/>
              </a:rPr>
              <a:t>担い手活動への参加を募る</a:t>
            </a:r>
          </a:p>
          <a:p>
            <a:pPr algn="l">
              <a:lnSpc>
                <a:spcPct val="115000"/>
              </a:lnSpc>
            </a:pPr>
            <a:r>
              <a:rPr sz="1500" b="1">
                <a:solidFill>
                  <a:srgbClr val="F2762E"/>
                </a:solidFill>
                <a:latin typeface="Meiryo"/>
                <a:ea typeface="Meiryo"/>
              </a:rPr>
              <a:t>✓ </a:t>
            </a:r>
            <a:r>
              <a:rPr sz="1500" b="0">
                <a:solidFill>
                  <a:srgbClr val="1B2733"/>
                </a:solidFill>
                <a:latin typeface="Meiryo"/>
                <a:ea typeface="Meiryo"/>
              </a:rPr>
              <a:t>登録後も継続的な関係を育てる</a:t>
            </a:r>
          </a:p>
        </p:txBody>
      </p:sp>
      <p:sp>
        <p:nvSpPr>
          <p:cNvPr id="11" name="Oval 10"/>
          <p:cNvSpPr/>
          <p:nvPr/>
        </p:nvSpPr>
        <p:spPr>
          <a:xfrm>
            <a:off x="5577840" y="3657600"/>
            <a:ext cx="914400" cy="914400"/>
          </a:xfrm>
          <a:prstGeom prst="ellipse">
            <a:avLst/>
          </a:prstGeom>
          <a:solidFill>
            <a:srgbClr val="1331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FFFFFF"/>
                </a:solidFill>
                <a:latin typeface="Meiryo"/>
                <a:ea typeface="Meiryo"/>
              </a:rPr>
              <a:t>≒</a:t>
            </a:r>
          </a:p>
        </p:txBody>
      </p:sp>
      <p:sp>
        <p:nvSpPr>
          <p:cNvPr id="12" name="TextBox 11"/>
          <p:cNvSpPr txBox="1"/>
          <p:nvPr/>
        </p:nvSpPr>
        <p:spPr>
          <a:xfrm>
            <a:off x="0" y="5852160"/>
            <a:ext cx="12191695" cy="365760"/>
          </a:xfrm>
          <a:prstGeom prst="rect">
            <a:avLst/>
          </a:prstGeom>
          <a:noFill/>
        </p:spPr>
        <p:txBody>
          <a:bodyPr wrap="square" anchor="t" lIns="0" rIns="0" tIns="0" bIns="0">
            <a:spAutoFit/>
          </a:bodyPr>
          <a:lstStyle/>
          <a:p>
            <a:pPr algn="ctr">
              <a:lnSpc>
                <a:spcPct val="115000"/>
              </a:lnSpc>
            </a:pPr>
            <a:r>
              <a:rPr sz="1700" b="1">
                <a:solidFill>
                  <a:srgbClr val="13314F"/>
                </a:solidFill>
                <a:latin typeface="Meiryo"/>
                <a:ea typeface="Meiryo"/>
              </a:rPr>
              <a:t>＝ CFのノウハウが、そのまま担い手活動に活きます。</a:t>
            </a:r>
          </a:p>
        </p:txBody>
      </p:sp>
      <p:sp>
        <p:nvSpPr>
          <p:cNvPr id="13" name="TextBox 12"/>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4" name="TextBox 13"/>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Oval 1"/>
          <p:cNvSpPr/>
          <p:nvPr/>
        </p:nvSpPr>
        <p:spPr>
          <a:xfrm>
            <a:off x="8686800" y="3200400"/>
            <a:ext cx="4572000" cy="457200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952" y="2633472"/>
            <a:ext cx="292608" cy="45720"/>
          </a:xfrm>
          <a:prstGeom prst="rect">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2542032"/>
            <a:ext cx="731520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SECTION 01</a:t>
            </a:r>
          </a:p>
        </p:txBody>
      </p:sp>
      <p:sp>
        <p:nvSpPr>
          <p:cNvPr id="5" name="TextBox 4"/>
          <p:cNvSpPr txBox="1"/>
          <p:nvPr/>
        </p:nvSpPr>
        <p:spPr>
          <a:xfrm>
            <a:off x="758952" y="2971800"/>
            <a:ext cx="10515600" cy="1097280"/>
          </a:xfrm>
          <a:prstGeom prst="rect">
            <a:avLst/>
          </a:prstGeom>
          <a:noFill/>
        </p:spPr>
        <p:txBody>
          <a:bodyPr wrap="square" anchor="t" lIns="0" rIns="0" tIns="0" bIns="0">
            <a:spAutoFit/>
          </a:bodyPr>
          <a:lstStyle/>
          <a:p>
            <a:pPr algn="l">
              <a:lnSpc>
                <a:spcPct val="115000"/>
              </a:lnSpc>
            </a:pPr>
            <a:r>
              <a:rPr sz="4400" b="1">
                <a:solidFill>
                  <a:srgbClr val="FFFFFF"/>
                </a:solidFill>
                <a:latin typeface="Meiryo"/>
                <a:ea typeface="Meiryo"/>
              </a:rPr>
              <a:t>なぜKITAICHIが支援できるのか</a:t>
            </a:r>
          </a:p>
        </p:txBody>
      </p:sp>
      <p:sp>
        <p:nvSpPr>
          <p:cNvPr id="6" name="TextBox 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7" name="TextBox 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私たちの実績</a:t>
            </a:r>
          </a:p>
        </p:txBody>
      </p:sp>
      <p:sp>
        <p:nvSpPr>
          <p:cNvPr id="4" name="TextBox 3"/>
          <p:cNvSpPr txBox="1"/>
          <p:nvPr/>
        </p:nvSpPr>
        <p:spPr>
          <a:xfrm>
            <a:off x="758952" y="1005840"/>
            <a:ext cx="10515600" cy="73152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地域の挑戦を、全国へ届けてきました。</a:t>
            </a:r>
          </a:p>
        </p:txBody>
      </p:sp>
      <p:sp>
        <p:nvSpPr>
          <p:cNvPr id="5" name="TextBox 4"/>
          <p:cNvSpPr txBox="1"/>
          <p:nvPr/>
        </p:nvSpPr>
        <p:spPr>
          <a:xfrm>
            <a:off x="758952" y="1828800"/>
            <a:ext cx="10515600" cy="822960"/>
          </a:xfrm>
          <a:prstGeom prst="rect">
            <a:avLst/>
          </a:prstGeom>
          <a:noFill/>
        </p:spPr>
        <p:txBody>
          <a:bodyPr wrap="square" anchor="t" lIns="0" rIns="0" tIns="0" bIns="0">
            <a:spAutoFit/>
          </a:bodyPr>
          <a:lstStyle/>
          <a:p>
            <a:pPr algn="l">
              <a:lnSpc>
                <a:spcPct val="115000"/>
              </a:lnSpc>
            </a:pPr>
            <a:r>
              <a:rPr sz="1600" b="0">
                <a:solidFill>
                  <a:srgbClr val="5D6F80"/>
                </a:solidFill>
                <a:latin typeface="Meiryo"/>
                <a:ea typeface="Meiryo"/>
              </a:rPr>
              <a:t>単なる資金調達ではなく、挑戦する人の想いを整理し、ストーリーとして届け、共感する応援者とつなげること。それが私たちの仕事です。</a:t>
            </a:r>
          </a:p>
        </p:txBody>
      </p:sp>
      <p:sp>
        <p:nvSpPr>
          <p:cNvPr id="6" name="Rounded Rectangle 5"/>
          <p:cNvSpPr/>
          <p:nvPr/>
        </p:nvSpPr>
        <p:spPr>
          <a:xfrm>
            <a:off x="914400" y="2926080"/>
            <a:ext cx="3383280" cy="192024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926080"/>
            <a:ext cx="3383280" cy="109728"/>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3383280" cy="822960"/>
          </a:xfrm>
          <a:prstGeom prst="rect">
            <a:avLst/>
          </a:prstGeom>
          <a:noFill/>
        </p:spPr>
        <p:txBody>
          <a:bodyPr wrap="square" anchor="t" lIns="0" rIns="0" tIns="0" bIns="0">
            <a:spAutoFit/>
          </a:bodyPr>
          <a:lstStyle/>
          <a:p>
            <a:pPr algn="ctr">
              <a:lnSpc>
                <a:spcPct val="115000"/>
              </a:lnSpc>
            </a:pPr>
            <a:r>
              <a:rPr sz="4400" b="1">
                <a:solidFill>
                  <a:srgbClr val="13314F"/>
                </a:solidFill>
                <a:latin typeface="Meiryo"/>
                <a:ea typeface="Meiryo"/>
              </a:rPr>
              <a:t>35</a:t>
            </a:r>
            <a:r>
              <a:rPr sz="2000" b="1">
                <a:solidFill>
                  <a:srgbClr val="13314F"/>
                </a:solidFill>
                <a:latin typeface="Meiryo"/>
                <a:ea typeface="Meiryo"/>
              </a:rPr>
              <a:t>件</a:t>
            </a:r>
          </a:p>
        </p:txBody>
      </p:sp>
      <p:sp>
        <p:nvSpPr>
          <p:cNvPr id="9" name="TextBox 8"/>
          <p:cNvSpPr txBox="1"/>
          <p:nvPr/>
        </p:nvSpPr>
        <p:spPr>
          <a:xfrm>
            <a:off x="914400" y="4297680"/>
            <a:ext cx="3383280" cy="365760"/>
          </a:xfrm>
          <a:prstGeom prst="rect">
            <a:avLst/>
          </a:prstGeom>
          <a:noFill/>
        </p:spPr>
        <p:txBody>
          <a:bodyPr wrap="square" anchor="t" lIns="0" rIns="0" tIns="0" bIns="0">
            <a:spAutoFit/>
          </a:bodyPr>
          <a:lstStyle/>
          <a:p>
            <a:pPr algn="ctr">
              <a:lnSpc>
                <a:spcPct val="115000"/>
              </a:lnSpc>
            </a:pPr>
            <a:r>
              <a:rPr sz="1500" b="0">
                <a:solidFill>
                  <a:srgbClr val="5D6F80"/>
                </a:solidFill>
                <a:latin typeface="Meiryo"/>
                <a:ea typeface="Meiryo"/>
              </a:rPr>
              <a:t>サポート実績</a:t>
            </a:r>
          </a:p>
        </p:txBody>
      </p:sp>
      <p:sp>
        <p:nvSpPr>
          <p:cNvPr id="10" name="Rounded Rectangle 9"/>
          <p:cNvSpPr/>
          <p:nvPr/>
        </p:nvSpPr>
        <p:spPr>
          <a:xfrm>
            <a:off x="4617720" y="2926080"/>
            <a:ext cx="3383280" cy="192024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2926080"/>
            <a:ext cx="3383280" cy="109728"/>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3383280"/>
            <a:ext cx="3383280" cy="822960"/>
          </a:xfrm>
          <a:prstGeom prst="rect">
            <a:avLst/>
          </a:prstGeom>
          <a:noFill/>
        </p:spPr>
        <p:txBody>
          <a:bodyPr wrap="square" anchor="t" lIns="0" rIns="0" tIns="0" bIns="0">
            <a:spAutoFit/>
          </a:bodyPr>
          <a:lstStyle/>
          <a:p>
            <a:pPr algn="ctr">
              <a:lnSpc>
                <a:spcPct val="115000"/>
              </a:lnSpc>
            </a:pPr>
            <a:r>
              <a:rPr sz="4400" b="1">
                <a:solidFill>
                  <a:srgbClr val="13314F"/>
                </a:solidFill>
                <a:latin typeface="Meiryo"/>
                <a:ea typeface="Meiryo"/>
              </a:rPr>
              <a:t>6,488</a:t>
            </a:r>
            <a:r>
              <a:rPr sz="2000" b="1">
                <a:solidFill>
                  <a:srgbClr val="13314F"/>
                </a:solidFill>
                <a:latin typeface="Meiryo"/>
                <a:ea typeface="Meiryo"/>
              </a:rPr>
              <a:t>万円</a:t>
            </a:r>
          </a:p>
        </p:txBody>
      </p:sp>
      <p:sp>
        <p:nvSpPr>
          <p:cNvPr id="13" name="TextBox 12"/>
          <p:cNvSpPr txBox="1"/>
          <p:nvPr/>
        </p:nvSpPr>
        <p:spPr>
          <a:xfrm>
            <a:off x="4617720" y="4297680"/>
            <a:ext cx="3383280" cy="365760"/>
          </a:xfrm>
          <a:prstGeom prst="rect">
            <a:avLst/>
          </a:prstGeom>
          <a:noFill/>
        </p:spPr>
        <p:txBody>
          <a:bodyPr wrap="square" anchor="t" lIns="0" rIns="0" tIns="0" bIns="0">
            <a:spAutoFit/>
          </a:bodyPr>
          <a:lstStyle/>
          <a:p>
            <a:pPr algn="ctr">
              <a:lnSpc>
                <a:spcPct val="115000"/>
              </a:lnSpc>
            </a:pPr>
            <a:r>
              <a:rPr sz="1500" b="0">
                <a:solidFill>
                  <a:srgbClr val="5D6F80"/>
                </a:solidFill>
                <a:latin typeface="Meiryo"/>
                <a:ea typeface="Meiryo"/>
              </a:rPr>
              <a:t>累計支援総額</a:t>
            </a:r>
          </a:p>
        </p:txBody>
      </p:sp>
      <p:sp>
        <p:nvSpPr>
          <p:cNvPr id="14" name="Rounded Rectangle 13"/>
          <p:cNvSpPr/>
          <p:nvPr/>
        </p:nvSpPr>
        <p:spPr>
          <a:xfrm>
            <a:off x="8321040" y="2926080"/>
            <a:ext cx="3383280" cy="192024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926080"/>
            <a:ext cx="3383280" cy="109728"/>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383280"/>
            <a:ext cx="3383280" cy="822960"/>
          </a:xfrm>
          <a:prstGeom prst="rect">
            <a:avLst/>
          </a:prstGeom>
          <a:noFill/>
        </p:spPr>
        <p:txBody>
          <a:bodyPr wrap="square" anchor="t" lIns="0" rIns="0" tIns="0" bIns="0">
            <a:spAutoFit/>
          </a:bodyPr>
          <a:lstStyle/>
          <a:p>
            <a:pPr algn="ctr">
              <a:lnSpc>
                <a:spcPct val="115000"/>
              </a:lnSpc>
            </a:pPr>
            <a:r>
              <a:rPr sz="4400" b="1">
                <a:solidFill>
                  <a:srgbClr val="13314F"/>
                </a:solidFill>
                <a:latin typeface="Meiryo"/>
                <a:ea typeface="Meiryo"/>
              </a:rPr>
              <a:t>4,060</a:t>
            </a:r>
            <a:r>
              <a:rPr sz="2000" b="1">
                <a:solidFill>
                  <a:srgbClr val="13314F"/>
                </a:solidFill>
                <a:latin typeface="Meiryo"/>
                <a:ea typeface="Meiryo"/>
              </a:rPr>
              <a:t>人</a:t>
            </a:r>
          </a:p>
        </p:txBody>
      </p:sp>
      <p:sp>
        <p:nvSpPr>
          <p:cNvPr id="17" name="TextBox 16"/>
          <p:cNvSpPr txBox="1"/>
          <p:nvPr/>
        </p:nvSpPr>
        <p:spPr>
          <a:xfrm>
            <a:off x="8321040" y="4297680"/>
            <a:ext cx="3383280" cy="365760"/>
          </a:xfrm>
          <a:prstGeom prst="rect">
            <a:avLst/>
          </a:prstGeom>
          <a:noFill/>
        </p:spPr>
        <p:txBody>
          <a:bodyPr wrap="square" anchor="t" lIns="0" rIns="0" tIns="0" bIns="0">
            <a:spAutoFit/>
          </a:bodyPr>
          <a:lstStyle/>
          <a:p>
            <a:pPr algn="ctr">
              <a:lnSpc>
                <a:spcPct val="115000"/>
              </a:lnSpc>
            </a:pPr>
            <a:r>
              <a:rPr sz="1500" b="0">
                <a:solidFill>
                  <a:srgbClr val="5D6F80"/>
                </a:solidFill>
                <a:latin typeface="Meiryo"/>
                <a:ea typeface="Meiryo"/>
              </a:rPr>
              <a:t>累計支援者数</a:t>
            </a:r>
          </a:p>
        </p:txBody>
      </p:sp>
      <p:sp>
        <p:nvSpPr>
          <p:cNvPr id="18" name="TextBox 17"/>
          <p:cNvSpPr txBox="1"/>
          <p:nvPr/>
        </p:nvSpPr>
        <p:spPr>
          <a:xfrm>
            <a:off x="758952" y="5212080"/>
            <a:ext cx="10515600" cy="457200"/>
          </a:xfrm>
          <a:prstGeom prst="rect">
            <a:avLst/>
          </a:prstGeom>
          <a:noFill/>
        </p:spPr>
        <p:txBody>
          <a:bodyPr wrap="square" anchor="t" lIns="0" rIns="0" tIns="0" bIns="0">
            <a:spAutoFit/>
          </a:bodyPr>
          <a:lstStyle/>
          <a:p>
            <a:pPr algn="l">
              <a:lnSpc>
                <a:spcPct val="115000"/>
              </a:lnSpc>
            </a:pPr>
            <a:r>
              <a:rPr sz="1400" b="0">
                <a:solidFill>
                  <a:srgbClr val="5D6F80"/>
                </a:solidFill>
                <a:latin typeface="Meiryo"/>
                <a:ea typeface="Meiryo"/>
              </a:rPr>
              <a:t>※ KITAICHIはCAMPFIREのパートナー企業として、まちづくりプロジェクトを専門にサポートしています。</a:t>
            </a:r>
          </a:p>
        </p:txBody>
      </p:sp>
      <p:sp>
        <p:nvSpPr>
          <p:cNvPr id="19" name="TextBox 18"/>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20" name="TextBox 19"/>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私たちの強み</a:t>
            </a:r>
          </a:p>
        </p:txBody>
      </p:sp>
      <p:sp>
        <p:nvSpPr>
          <p:cNvPr id="4" name="TextBox 3"/>
          <p:cNvSpPr txBox="1"/>
          <p:nvPr/>
        </p:nvSpPr>
        <p:spPr>
          <a:xfrm>
            <a:off x="758952" y="1005840"/>
            <a:ext cx="10515600" cy="1188720"/>
          </a:xfrm>
          <a:prstGeom prst="rect">
            <a:avLst/>
          </a:prstGeom>
          <a:noFill/>
        </p:spPr>
        <p:txBody>
          <a:bodyPr wrap="square" anchor="t" lIns="0" rIns="0" tIns="0" bIns="0">
            <a:spAutoFit/>
          </a:bodyPr>
          <a:lstStyle/>
          <a:p>
            <a:pPr algn="l">
              <a:lnSpc>
                <a:spcPct val="115000"/>
              </a:lnSpc>
            </a:pPr>
            <a:r>
              <a:rPr sz="3000" b="1">
                <a:solidFill>
                  <a:srgbClr val="FFFFFF"/>
                </a:solidFill>
                <a:latin typeface="Meiryo"/>
                <a:ea typeface="Meiryo"/>
              </a:rPr>
              <a:t>地域の取り組みを、</a:t>
            </a:r>
          </a:p>
          <a:p>
            <a:pPr algn="l">
              <a:lnSpc>
                <a:spcPct val="115000"/>
              </a:lnSpc>
            </a:pPr>
            <a:r>
              <a:rPr sz="3000" b="1">
                <a:solidFill>
                  <a:srgbClr val="FFB066"/>
                </a:solidFill>
                <a:latin typeface="Meiryo"/>
                <a:ea typeface="Meiryo"/>
              </a:rPr>
              <a:t>「全国」へ届ける発信網があります。</a:t>
            </a:r>
          </a:p>
        </p:txBody>
      </p:sp>
      <p:sp>
        <p:nvSpPr>
          <p:cNvPr id="5" name="Rounded Rectangle 4"/>
          <p:cNvSpPr/>
          <p:nvPr/>
        </p:nvSpPr>
        <p:spPr>
          <a:xfrm>
            <a:off x="914400" y="2834640"/>
            <a:ext cx="3383280" cy="18288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108960"/>
            <a:ext cx="3383280" cy="822960"/>
          </a:xfrm>
          <a:prstGeom prst="rect">
            <a:avLst/>
          </a:prstGeom>
          <a:noFill/>
        </p:spPr>
        <p:txBody>
          <a:bodyPr wrap="square" anchor="t" lIns="0" rIns="0" tIns="0" bIns="0">
            <a:spAutoFit/>
          </a:bodyPr>
          <a:lstStyle/>
          <a:p>
            <a:pPr algn="ctr">
              <a:lnSpc>
                <a:spcPct val="115000"/>
              </a:lnSpc>
            </a:pPr>
            <a:r>
              <a:rPr sz="4000" b="1">
                <a:solidFill>
                  <a:srgbClr val="FFFFFF"/>
                </a:solidFill>
                <a:latin typeface="Meiryo"/>
                <a:ea typeface="Meiryo"/>
              </a:rPr>
              <a:t>850</a:t>
            </a:r>
            <a:r>
              <a:rPr sz="1800" b="1">
                <a:solidFill>
                  <a:srgbClr val="FFFFFF"/>
                </a:solidFill>
                <a:latin typeface="Meiryo"/>
                <a:ea typeface="Meiryo"/>
              </a:rPr>
              <a:t>件</a:t>
            </a:r>
          </a:p>
        </p:txBody>
      </p:sp>
      <p:sp>
        <p:nvSpPr>
          <p:cNvPr id="7" name="TextBox 6"/>
          <p:cNvSpPr txBox="1"/>
          <p:nvPr/>
        </p:nvSpPr>
        <p:spPr>
          <a:xfrm>
            <a:off x="914400" y="3886200"/>
            <a:ext cx="3383280" cy="731520"/>
          </a:xfrm>
          <a:prstGeom prst="rect">
            <a:avLst/>
          </a:prstGeom>
          <a:noFill/>
        </p:spPr>
        <p:txBody>
          <a:bodyPr wrap="square" anchor="t" lIns="0" rIns="0" tIns="0" bIns="0">
            <a:spAutoFit/>
          </a:bodyPr>
          <a:lstStyle/>
          <a:p>
            <a:pPr algn="ctr">
              <a:lnSpc>
                <a:spcPct val="115000"/>
              </a:lnSpc>
            </a:pPr>
            <a:r>
              <a:rPr sz="1300" b="0">
                <a:solidFill>
                  <a:srgbClr val="BCD2E8"/>
                </a:solidFill>
                <a:latin typeface="Meiryo"/>
                <a:ea typeface="Meiryo"/>
              </a:rPr>
              <a:t>令和7年度 GCF業務委託で</a:t>
            </a:r>
          </a:p>
          <a:p>
            <a:pPr algn="ctr">
              <a:lnSpc>
                <a:spcPct val="115000"/>
              </a:lnSpc>
            </a:pPr>
            <a:r>
              <a:rPr sz="1300" b="0">
                <a:solidFill>
                  <a:srgbClr val="BCD2E8"/>
                </a:solidFill>
                <a:latin typeface="Meiryo"/>
                <a:ea typeface="Meiryo"/>
              </a:rPr>
              <a:t>立ち上げ支援したプロジェクト</a:t>
            </a:r>
          </a:p>
        </p:txBody>
      </p:sp>
      <p:sp>
        <p:nvSpPr>
          <p:cNvPr id="8" name="Rounded Rectangle 7"/>
          <p:cNvSpPr/>
          <p:nvPr/>
        </p:nvSpPr>
        <p:spPr>
          <a:xfrm>
            <a:off x="4617720" y="2834640"/>
            <a:ext cx="3383280" cy="18288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108960"/>
            <a:ext cx="3383280" cy="822960"/>
          </a:xfrm>
          <a:prstGeom prst="rect">
            <a:avLst/>
          </a:prstGeom>
          <a:noFill/>
        </p:spPr>
        <p:txBody>
          <a:bodyPr wrap="square" anchor="t" lIns="0" rIns="0" tIns="0" bIns="0">
            <a:spAutoFit/>
          </a:bodyPr>
          <a:lstStyle/>
          <a:p>
            <a:pPr algn="ctr">
              <a:lnSpc>
                <a:spcPct val="115000"/>
              </a:lnSpc>
            </a:pPr>
            <a:r>
              <a:rPr sz="4000" b="1">
                <a:solidFill>
                  <a:srgbClr val="FFFFFF"/>
                </a:solidFill>
                <a:latin typeface="Meiryo"/>
                <a:ea typeface="Meiryo"/>
              </a:rPr>
              <a:t>全国</a:t>
            </a:r>
            <a:r>
              <a:rPr sz="1800" b="1">
                <a:solidFill>
                  <a:srgbClr val="FFFFFF"/>
                </a:solidFill>
                <a:latin typeface="Meiryo"/>
                <a:ea typeface="Meiryo"/>
              </a:rPr>
              <a:t/>
            </a:r>
          </a:p>
        </p:txBody>
      </p:sp>
      <p:sp>
        <p:nvSpPr>
          <p:cNvPr id="10" name="TextBox 9"/>
          <p:cNvSpPr txBox="1"/>
          <p:nvPr/>
        </p:nvSpPr>
        <p:spPr>
          <a:xfrm>
            <a:off x="4617720" y="3886200"/>
            <a:ext cx="3383280" cy="731520"/>
          </a:xfrm>
          <a:prstGeom prst="rect">
            <a:avLst/>
          </a:prstGeom>
          <a:noFill/>
        </p:spPr>
        <p:txBody>
          <a:bodyPr wrap="square" anchor="t" lIns="0" rIns="0" tIns="0" bIns="0">
            <a:spAutoFit/>
          </a:bodyPr>
          <a:lstStyle/>
          <a:p>
            <a:pPr algn="ctr">
              <a:lnSpc>
                <a:spcPct val="115000"/>
              </a:lnSpc>
            </a:pPr>
            <a:r>
              <a:rPr sz="1300" b="0">
                <a:solidFill>
                  <a:srgbClr val="BCD2E8"/>
                </a:solidFill>
                <a:latin typeface="Meiryo"/>
                <a:ea typeface="Meiryo"/>
              </a:rPr>
              <a:t>CAMPFIREパートナーとして</a:t>
            </a:r>
          </a:p>
          <a:p>
            <a:pPr algn="ctr">
              <a:lnSpc>
                <a:spcPct val="115000"/>
              </a:lnSpc>
            </a:pPr>
            <a:r>
              <a:rPr sz="1300" b="0">
                <a:solidFill>
                  <a:srgbClr val="BCD2E8"/>
                </a:solidFill>
                <a:latin typeface="Meiryo"/>
                <a:ea typeface="Meiryo"/>
              </a:rPr>
              <a:t>地域の挑戦を全国の支援者へ</a:t>
            </a:r>
          </a:p>
        </p:txBody>
      </p:sp>
      <p:sp>
        <p:nvSpPr>
          <p:cNvPr id="11" name="Rounded Rectangle 10"/>
          <p:cNvSpPr/>
          <p:nvPr/>
        </p:nvSpPr>
        <p:spPr>
          <a:xfrm>
            <a:off x="8321040" y="2834640"/>
            <a:ext cx="3383280" cy="18288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3108960"/>
            <a:ext cx="3383280" cy="822960"/>
          </a:xfrm>
          <a:prstGeom prst="rect">
            <a:avLst/>
          </a:prstGeom>
          <a:noFill/>
        </p:spPr>
        <p:txBody>
          <a:bodyPr wrap="square" anchor="t" lIns="0" rIns="0" tIns="0" bIns="0">
            <a:spAutoFit/>
          </a:bodyPr>
          <a:lstStyle/>
          <a:p>
            <a:pPr algn="ctr">
              <a:lnSpc>
                <a:spcPct val="115000"/>
              </a:lnSpc>
            </a:pPr>
            <a:r>
              <a:rPr sz="4000" b="1">
                <a:solidFill>
                  <a:srgbClr val="FFFFFF"/>
                </a:solidFill>
                <a:latin typeface="Meiryo"/>
                <a:ea typeface="Meiryo"/>
              </a:rPr>
              <a:t>4,060</a:t>
            </a:r>
            <a:r>
              <a:rPr sz="1800" b="1">
                <a:solidFill>
                  <a:srgbClr val="FFFFFF"/>
                </a:solidFill>
                <a:latin typeface="Meiryo"/>
                <a:ea typeface="Meiryo"/>
              </a:rPr>
              <a:t>人</a:t>
            </a:r>
          </a:p>
        </p:txBody>
      </p:sp>
      <p:sp>
        <p:nvSpPr>
          <p:cNvPr id="13" name="TextBox 12"/>
          <p:cNvSpPr txBox="1"/>
          <p:nvPr/>
        </p:nvSpPr>
        <p:spPr>
          <a:xfrm>
            <a:off x="8321040" y="3886200"/>
            <a:ext cx="3383280" cy="731520"/>
          </a:xfrm>
          <a:prstGeom prst="rect">
            <a:avLst/>
          </a:prstGeom>
          <a:noFill/>
        </p:spPr>
        <p:txBody>
          <a:bodyPr wrap="square" anchor="t" lIns="0" rIns="0" tIns="0" bIns="0">
            <a:spAutoFit/>
          </a:bodyPr>
          <a:lstStyle/>
          <a:p>
            <a:pPr algn="ctr">
              <a:lnSpc>
                <a:spcPct val="115000"/>
              </a:lnSpc>
            </a:pPr>
            <a:r>
              <a:rPr sz="1300" b="0">
                <a:solidFill>
                  <a:srgbClr val="BCD2E8"/>
                </a:solidFill>
                <a:latin typeface="Meiryo"/>
                <a:ea typeface="Meiryo"/>
              </a:rPr>
              <a:t>「応援したい人」と</a:t>
            </a:r>
          </a:p>
          <a:p>
            <a:pPr algn="ctr">
              <a:lnSpc>
                <a:spcPct val="115000"/>
              </a:lnSpc>
            </a:pPr>
            <a:r>
              <a:rPr sz="1300" b="0">
                <a:solidFill>
                  <a:srgbClr val="BCD2E8"/>
                </a:solidFill>
                <a:latin typeface="Meiryo"/>
                <a:ea typeface="Meiryo"/>
              </a:rPr>
              <a:t>つながってきた実績</a:t>
            </a:r>
          </a:p>
        </p:txBody>
      </p:sp>
      <p:sp>
        <p:nvSpPr>
          <p:cNvPr id="14" name="Rounded Rectangle 13"/>
          <p:cNvSpPr/>
          <p:nvPr/>
        </p:nvSpPr>
        <p:spPr>
          <a:xfrm>
            <a:off x="758952" y="5029200"/>
            <a:ext cx="10607040" cy="960120"/>
          </a:xfrm>
          <a:prstGeom prst="roundRect">
            <a:avLst>
              <a:gd name="adj" fmla="val 8000"/>
            </a:avLst>
          </a:prstGeom>
          <a:solidFill>
            <a:srgbClr val="3A2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600" b="1">
                <a:solidFill>
                  <a:srgbClr val="FFD9BB"/>
                </a:solidFill>
                <a:latin typeface="Meiryo"/>
                <a:ea typeface="Meiryo"/>
              </a:rPr>
              <a:t>ふるさと納税が「寄附」で全国に広がったように、本制度は「関わり」で全国に広がる可能性があります。</a:t>
            </a:r>
          </a:p>
        </p:txBody>
      </p:sp>
      <p:sp>
        <p:nvSpPr>
          <p:cNvPr id="15" name="TextBox 14"/>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16" name="TextBox 15"/>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実績</a:t>
            </a:r>
          </a:p>
        </p:txBody>
      </p:sp>
      <p:sp>
        <p:nvSpPr>
          <p:cNvPr id="4" name="TextBox 3"/>
          <p:cNvSpPr txBox="1"/>
          <p:nvPr/>
        </p:nvSpPr>
        <p:spPr>
          <a:xfrm>
            <a:off x="758952" y="1005840"/>
            <a:ext cx="10515600" cy="73152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セミナー・地域イベントの企画運営も。</a:t>
            </a:r>
          </a:p>
        </p:txBody>
      </p:sp>
      <p:sp>
        <p:nvSpPr>
          <p:cNvPr id="5" name="Rounded Rectangle 4"/>
          <p:cNvSpPr/>
          <p:nvPr/>
        </p:nvSpPr>
        <p:spPr>
          <a:xfrm>
            <a:off x="914400" y="2194560"/>
            <a:ext cx="3383280" cy="182880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34440" y="2468880"/>
            <a:ext cx="640080" cy="64008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7" name="TextBox 6"/>
          <p:cNvSpPr txBox="1"/>
          <p:nvPr/>
        </p:nvSpPr>
        <p:spPr>
          <a:xfrm>
            <a:off x="1234440" y="3246120"/>
            <a:ext cx="2743200" cy="731520"/>
          </a:xfrm>
          <a:prstGeom prst="rect">
            <a:avLst/>
          </a:prstGeom>
          <a:noFill/>
        </p:spPr>
        <p:txBody>
          <a:bodyPr wrap="square" anchor="t" lIns="0" rIns="0" tIns="0" bIns="0">
            <a:spAutoFit/>
          </a:bodyPr>
          <a:lstStyle/>
          <a:p>
            <a:pPr algn="l">
              <a:lnSpc>
                <a:spcPct val="115000"/>
              </a:lnSpc>
            </a:pPr>
            <a:r>
              <a:rPr sz="1600" b="1">
                <a:solidFill>
                  <a:srgbClr val="1B2733"/>
                </a:solidFill>
                <a:latin typeface="Meiryo"/>
                <a:ea typeface="Meiryo"/>
              </a:rPr>
              <a:t>夕張市農協の</a:t>
            </a:r>
          </a:p>
          <a:p>
            <a:pPr algn="l">
              <a:lnSpc>
                <a:spcPct val="115000"/>
              </a:lnSpc>
            </a:pPr>
            <a:r>
              <a:rPr sz="1600" b="1">
                <a:solidFill>
                  <a:srgbClr val="1B2733"/>
                </a:solidFill>
                <a:latin typeface="Meiryo"/>
                <a:ea typeface="Meiryo"/>
              </a:rPr>
              <a:t>婚活イベントの企画運営</a:t>
            </a:r>
          </a:p>
        </p:txBody>
      </p:sp>
      <p:sp>
        <p:nvSpPr>
          <p:cNvPr id="8" name="Rounded Rectangle 7"/>
          <p:cNvSpPr/>
          <p:nvPr/>
        </p:nvSpPr>
        <p:spPr>
          <a:xfrm>
            <a:off x="4617720" y="2194560"/>
            <a:ext cx="3383280" cy="182880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0" y="2468880"/>
            <a:ext cx="640080" cy="64008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0" name="TextBox 9"/>
          <p:cNvSpPr txBox="1"/>
          <p:nvPr/>
        </p:nvSpPr>
        <p:spPr>
          <a:xfrm>
            <a:off x="4937760" y="3246120"/>
            <a:ext cx="2743200" cy="731520"/>
          </a:xfrm>
          <a:prstGeom prst="rect">
            <a:avLst/>
          </a:prstGeom>
          <a:noFill/>
        </p:spPr>
        <p:txBody>
          <a:bodyPr wrap="square" anchor="t" lIns="0" rIns="0" tIns="0" bIns="0">
            <a:spAutoFit/>
          </a:bodyPr>
          <a:lstStyle/>
          <a:p>
            <a:pPr algn="l">
              <a:lnSpc>
                <a:spcPct val="115000"/>
              </a:lnSpc>
            </a:pPr>
            <a:r>
              <a:rPr sz="1600" b="1">
                <a:solidFill>
                  <a:srgbClr val="1B2733"/>
                </a:solidFill>
                <a:latin typeface="Meiryo"/>
                <a:ea typeface="Meiryo"/>
              </a:rPr>
              <a:t>大学生を集めた</a:t>
            </a:r>
          </a:p>
          <a:p>
            <a:pPr algn="l">
              <a:lnSpc>
                <a:spcPct val="115000"/>
              </a:lnSpc>
            </a:pPr>
            <a:r>
              <a:rPr sz="1600" b="1">
                <a:solidFill>
                  <a:srgbClr val="1B2733"/>
                </a:solidFill>
                <a:latin typeface="Meiryo"/>
                <a:ea typeface="Meiryo"/>
              </a:rPr>
              <a:t>リアルセミナーの開催</a:t>
            </a:r>
          </a:p>
        </p:txBody>
      </p:sp>
      <p:sp>
        <p:nvSpPr>
          <p:cNvPr id="11" name="Rounded Rectangle 10"/>
          <p:cNvSpPr/>
          <p:nvPr/>
        </p:nvSpPr>
        <p:spPr>
          <a:xfrm>
            <a:off x="8321040" y="2194560"/>
            <a:ext cx="3383280" cy="182880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41080" y="2468880"/>
            <a:ext cx="640080" cy="64008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3" name="TextBox 12"/>
          <p:cNvSpPr txBox="1"/>
          <p:nvPr/>
        </p:nvSpPr>
        <p:spPr>
          <a:xfrm>
            <a:off x="8641080" y="3246120"/>
            <a:ext cx="2743200" cy="731520"/>
          </a:xfrm>
          <a:prstGeom prst="rect">
            <a:avLst/>
          </a:prstGeom>
          <a:noFill/>
        </p:spPr>
        <p:txBody>
          <a:bodyPr wrap="square" anchor="t" lIns="0" rIns="0" tIns="0" bIns="0">
            <a:spAutoFit/>
          </a:bodyPr>
          <a:lstStyle/>
          <a:p>
            <a:pPr algn="l">
              <a:lnSpc>
                <a:spcPct val="115000"/>
              </a:lnSpc>
            </a:pPr>
            <a:r>
              <a:rPr sz="1600" b="1">
                <a:solidFill>
                  <a:srgbClr val="1B2733"/>
                </a:solidFill>
                <a:latin typeface="Meiryo"/>
                <a:ea typeface="Meiryo"/>
              </a:rPr>
              <a:t>地域創生イベントへの</a:t>
            </a:r>
          </a:p>
          <a:p>
            <a:pPr algn="l">
              <a:lnSpc>
                <a:spcPct val="115000"/>
              </a:lnSpc>
            </a:pPr>
            <a:r>
              <a:rPr sz="1600" b="1">
                <a:solidFill>
                  <a:srgbClr val="1B2733"/>
                </a:solidFill>
                <a:latin typeface="Meiryo"/>
                <a:ea typeface="Meiryo"/>
              </a:rPr>
              <a:t>登壇・開催</a:t>
            </a:r>
          </a:p>
        </p:txBody>
      </p:sp>
      <p:sp>
        <p:nvSpPr>
          <p:cNvPr id="14" name="TextBox 13"/>
          <p:cNvSpPr txBox="1"/>
          <p:nvPr/>
        </p:nvSpPr>
        <p:spPr>
          <a:xfrm>
            <a:off x="758952" y="4480560"/>
            <a:ext cx="10515600" cy="731520"/>
          </a:xfrm>
          <a:prstGeom prst="rect">
            <a:avLst/>
          </a:prstGeom>
          <a:noFill/>
        </p:spPr>
        <p:txBody>
          <a:bodyPr wrap="square" anchor="t" lIns="0" rIns="0" tIns="0" bIns="0">
            <a:spAutoFit/>
          </a:bodyPr>
          <a:lstStyle/>
          <a:p>
            <a:pPr algn="l">
              <a:lnSpc>
                <a:spcPct val="115000"/>
              </a:lnSpc>
            </a:pPr>
            <a:r>
              <a:rPr sz="1700" b="0">
                <a:solidFill>
                  <a:srgbClr val="5D6F80"/>
                </a:solidFill>
                <a:latin typeface="Meiryo"/>
                <a:ea typeface="Meiryo"/>
              </a:rPr>
              <a:t>情報発信から、リアルな場づくり・ファンミーティングの開催まで。「人を集め、つなげる」現場の経験が豊富です。</a:t>
            </a:r>
          </a:p>
        </p:txBody>
      </p:sp>
      <p:sp>
        <p:nvSpPr>
          <p:cNvPr id="15" name="TextBox 14"/>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6" name="TextBox 15"/>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Oval 1"/>
          <p:cNvSpPr/>
          <p:nvPr/>
        </p:nvSpPr>
        <p:spPr>
          <a:xfrm>
            <a:off x="8686800" y="3200400"/>
            <a:ext cx="4572000" cy="457200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952" y="2633472"/>
            <a:ext cx="292608" cy="45720"/>
          </a:xfrm>
          <a:prstGeom prst="rect">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2542032"/>
            <a:ext cx="731520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SECTION 02</a:t>
            </a:r>
          </a:p>
        </p:txBody>
      </p:sp>
      <p:sp>
        <p:nvSpPr>
          <p:cNvPr id="5" name="TextBox 4"/>
          <p:cNvSpPr txBox="1"/>
          <p:nvPr/>
        </p:nvSpPr>
        <p:spPr>
          <a:xfrm>
            <a:off x="758952" y="2971800"/>
            <a:ext cx="10515600" cy="1097280"/>
          </a:xfrm>
          <a:prstGeom prst="rect">
            <a:avLst/>
          </a:prstGeom>
          <a:noFill/>
        </p:spPr>
        <p:txBody>
          <a:bodyPr wrap="square" anchor="t" lIns="0" rIns="0" tIns="0" bIns="0">
            <a:spAutoFit/>
          </a:bodyPr>
          <a:lstStyle/>
          <a:p>
            <a:pPr algn="l">
              <a:lnSpc>
                <a:spcPct val="115000"/>
              </a:lnSpc>
            </a:pPr>
            <a:r>
              <a:rPr sz="4400" b="1">
                <a:solidFill>
                  <a:srgbClr val="FFFFFF"/>
                </a:solidFill>
                <a:latin typeface="Meiryo"/>
                <a:ea typeface="Meiryo"/>
              </a:rPr>
              <a:t>ご提案内容</a:t>
            </a:r>
          </a:p>
        </p:txBody>
      </p:sp>
      <p:sp>
        <p:nvSpPr>
          <p:cNvPr id="6" name="TextBox 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7" name="TextBox 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私たちが目指すこと</a:t>
            </a:r>
          </a:p>
        </p:txBody>
      </p:sp>
      <p:sp>
        <p:nvSpPr>
          <p:cNvPr id="4" name="TextBox 3"/>
          <p:cNvSpPr txBox="1"/>
          <p:nvPr/>
        </p:nvSpPr>
        <p:spPr>
          <a:xfrm>
            <a:off x="758952" y="1005840"/>
            <a:ext cx="10058400" cy="64008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「登録」で終わらせない。</a:t>
            </a:r>
          </a:p>
        </p:txBody>
      </p:sp>
      <p:sp>
        <p:nvSpPr>
          <p:cNvPr id="5" name="TextBox 4"/>
          <p:cNvSpPr txBox="1"/>
          <p:nvPr/>
        </p:nvSpPr>
        <p:spPr>
          <a:xfrm>
            <a:off x="758952" y="1783080"/>
            <a:ext cx="10515600" cy="457200"/>
          </a:xfrm>
          <a:prstGeom prst="rect">
            <a:avLst/>
          </a:prstGeom>
          <a:noFill/>
        </p:spPr>
        <p:txBody>
          <a:bodyPr wrap="square" anchor="t" lIns="0" rIns="0" tIns="0" bIns="0">
            <a:spAutoFit/>
          </a:bodyPr>
          <a:lstStyle/>
          <a:p>
            <a:pPr algn="l">
              <a:lnSpc>
                <a:spcPct val="115000"/>
              </a:lnSpc>
            </a:pPr>
            <a:r>
              <a:rPr sz="1600" b="0">
                <a:solidFill>
                  <a:srgbClr val="5D6F80"/>
                </a:solidFill>
                <a:latin typeface="Meiryo"/>
                <a:ea typeface="Meiryo"/>
              </a:rPr>
              <a:t>登録者数を増やすだけでなく、登録した人が地域に関わり続ける流れをつくります。</a:t>
            </a:r>
          </a:p>
        </p:txBody>
      </p:sp>
      <p:sp>
        <p:nvSpPr>
          <p:cNvPr id="6" name="Rounded Rectangle 5"/>
          <p:cNvSpPr/>
          <p:nvPr/>
        </p:nvSpPr>
        <p:spPr>
          <a:xfrm>
            <a:off x="640080" y="2743200"/>
            <a:ext cx="1600200" cy="1188720"/>
          </a:xfrm>
          <a:prstGeom prst="roundRect">
            <a:avLst>
              <a:gd name="adj" fmla="val 8000"/>
            </a:avLst>
          </a:prstGeom>
          <a:solidFill>
            <a:srgbClr val="CDD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39505F"/>
                </a:solidFill>
                <a:latin typeface="Meiryo"/>
                <a:ea typeface="Meiryo"/>
              </a:rPr>
              <a:t>登録</a:t>
            </a:r>
          </a:p>
        </p:txBody>
      </p:sp>
      <p:sp>
        <p:nvSpPr>
          <p:cNvPr id="7" name="TextBox 6"/>
          <p:cNvSpPr txBox="1"/>
          <p:nvPr/>
        </p:nvSpPr>
        <p:spPr>
          <a:xfrm>
            <a:off x="2249424" y="3154680"/>
            <a:ext cx="237744" cy="365760"/>
          </a:xfrm>
          <a:prstGeom prst="rect">
            <a:avLst/>
          </a:prstGeom>
          <a:noFill/>
        </p:spPr>
        <p:txBody>
          <a:bodyPr wrap="square" anchor="t" lIns="0" rIns="0" tIns="0" bIns="0">
            <a:spAutoFit/>
          </a:bodyPr>
          <a:lstStyle/>
          <a:p>
            <a:pPr algn="ctr">
              <a:lnSpc>
                <a:spcPct val="115000"/>
              </a:lnSpc>
            </a:pPr>
            <a:r>
              <a:rPr sz="1800" b="1">
                <a:solidFill>
                  <a:srgbClr val="F2762E"/>
                </a:solidFill>
                <a:latin typeface="Meiryo"/>
                <a:ea typeface="Meiryo"/>
              </a:rPr>
              <a:t>→</a:t>
            </a:r>
          </a:p>
        </p:txBody>
      </p:sp>
      <p:sp>
        <p:nvSpPr>
          <p:cNvPr id="8" name="Rounded Rectangle 7"/>
          <p:cNvSpPr/>
          <p:nvPr/>
        </p:nvSpPr>
        <p:spPr>
          <a:xfrm>
            <a:off x="2496312" y="2743200"/>
            <a:ext cx="1600200" cy="1188720"/>
          </a:xfrm>
          <a:prstGeom prst="roundRect">
            <a:avLst>
              <a:gd name="adj" fmla="val 8000"/>
            </a:avLst>
          </a:prstGeom>
          <a:solidFill>
            <a:srgbClr val="5AA9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FFFFFF"/>
                </a:solidFill>
                <a:latin typeface="Meiryo"/>
                <a:ea typeface="Meiryo"/>
              </a:rPr>
              <a:t>共感</a:t>
            </a:r>
          </a:p>
        </p:txBody>
      </p:sp>
      <p:sp>
        <p:nvSpPr>
          <p:cNvPr id="9" name="TextBox 8"/>
          <p:cNvSpPr txBox="1"/>
          <p:nvPr/>
        </p:nvSpPr>
        <p:spPr>
          <a:xfrm>
            <a:off x="4105656" y="3154680"/>
            <a:ext cx="237744" cy="365760"/>
          </a:xfrm>
          <a:prstGeom prst="rect">
            <a:avLst/>
          </a:prstGeom>
          <a:noFill/>
        </p:spPr>
        <p:txBody>
          <a:bodyPr wrap="square" anchor="t" lIns="0" rIns="0" tIns="0" bIns="0">
            <a:spAutoFit/>
          </a:bodyPr>
          <a:lstStyle/>
          <a:p>
            <a:pPr algn="ctr">
              <a:lnSpc>
                <a:spcPct val="115000"/>
              </a:lnSpc>
            </a:pPr>
            <a:r>
              <a:rPr sz="1800" b="1">
                <a:solidFill>
                  <a:srgbClr val="F2762E"/>
                </a:solidFill>
                <a:latin typeface="Meiryo"/>
                <a:ea typeface="Meiryo"/>
              </a:rPr>
              <a:t>→</a:t>
            </a:r>
          </a:p>
        </p:txBody>
      </p:sp>
      <p:sp>
        <p:nvSpPr>
          <p:cNvPr id="10" name="Rounded Rectangle 9"/>
          <p:cNvSpPr/>
          <p:nvPr/>
        </p:nvSpPr>
        <p:spPr>
          <a:xfrm>
            <a:off x="4352544" y="2743200"/>
            <a:ext cx="1600200" cy="1188720"/>
          </a:xfrm>
          <a:prstGeom prst="roundRect">
            <a:avLst>
              <a:gd name="adj" fmla="val 8000"/>
            </a:avLst>
          </a:prstGeom>
          <a:solidFill>
            <a:srgbClr val="2F80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FFFFFF"/>
                </a:solidFill>
                <a:latin typeface="Meiryo"/>
                <a:ea typeface="Meiryo"/>
              </a:rPr>
              <a:t>参加</a:t>
            </a:r>
          </a:p>
        </p:txBody>
      </p:sp>
      <p:sp>
        <p:nvSpPr>
          <p:cNvPr id="11" name="TextBox 10"/>
          <p:cNvSpPr txBox="1"/>
          <p:nvPr/>
        </p:nvSpPr>
        <p:spPr>
          <a:xfrm>
            <a:off x="5961888" y="3154680"/>
            <a:ext cx="237744" cy="365760"/>
          </a:xfrm>
          <a:prstGeom prst="rect">
            <a:avLst/>
          </a:prstGeom>
          <a:noFill/>
        </p:spPr>
        <p:txBody>
          <a:bodyPr wrap="square" anchor="t" lIns="0" rIns="0" tIns="0" bIns="0">
            <a:spAutoFit/>
          </a:bodyPr>
          <a:lstStyle/>
          <a:p>
            <a:pPr algn="ctr">
              <a:lnSpc>
                <a:spcPct val="115000"/>
              </a:lnSpc>
            </a:pPr>
            <a:r>
              <a:rPr sz="1800" b="1">
                <a:solidFill>
                  <a:srgbClr val="F2762E"/>
                </a:solidFill>
                <a:latin typeface="Meiryo"/>
                <a:ea typeface="Meiryo"/>
              </a:rPr>
              <a:t>→</a:t>
            </a:r>
          </a:p>
        </p:txBody>
      </p:sp>
      <p:sp>
        <p:nvSpPr>
          <p:cNvPr id="12" name="Rounded Rectangle 11"/>
          <p:cNvSpPr/>
          <p:nvPr/>
        </p:nvSpPr>
        <p:spPr>
          <a:xfrm>
            <a:off x="6208776" y="2743200"/>
            <a:ext cx="1600200" cy="118872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FFFFFF"/>
                </a:solidFill>
                <a:latin typeface="Meiryo"/>
                <a:ea typeface="Meiryo"/>
              </a:rPr>
              <a:t>交流</a:t>
            </a:r>
          </a:p>
        </p:txBody>
      </p:sp>
      <p:sp>
        <p:nvSpPr>
          <p:cNvPr id="13" name="TextBox 12"/>
          <p:cNvSpPr txBox="1"/>
          <p:nvPr/>
        </p:nvSpPr>
        <p:spPr>
          <a:xfrm>
            <a:off x="7818120" y="3154680"/>
            <a:ext cx="237744" cy="365760"/>
          </a:xfrm>
          <a:prstGeom prst="rect">
            <a:avLst/>
          </a:prstGeom>
          <a:noFill/>
        </p:spPr>
        <p:txBody>
          <a:bodyPr wrap="square" anchor="t" lIns="0" rIns="0" tIns="0" bIns="0">
            <a:spAutoFit/>
          </a:bodyPr>
          <a:lstStyle/>
          <a:p>
            <a:pPr algn="ctr">
              <a:lnSpc>
                <a:spcPct val="115000"/>
              </a:lnSpc>
            </a:pPr>
            <a:r>
              <a:rPr sz="1800" b="1">
                <a:solidFill>
                  <a:srgbClr val="F2762E"/>
                </a:solidFill>
                <a:latin typeface="Meiryo"/>
                <a:ea typeface="Meiryo"/>
              </a:rPr>
              <a:t>→</a:t>
            </a:r>
          </a:p>
        </p:txBody>
      </p:sp>
      <p:sp>
        <p:nvSpPr>
          <p:cNvPr id="14" name="Rounded Rectangle 13"/>
          <p:cNvSpPr/>
          <p:nvPr/>
        </p:nvSpPr>
        <p:spPr>
          <a:xfrm>
            <a:off x="8065008" y="2743200"/>
            <a:ext cx="1600200" cy="1188720"/>
          </a:xfrm>
          <a:prstGeom prst="roundRect">
            <a:avLst>
              <a:gd name="adj" fmla="val 8000"/>
            </a:avLst>
          </a:prstGeom>
          <a:solidFill>
            <a:srgbClr val="1331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FFFFFF"/>
                </a:solidFill>
                <a:latin typeface="Meiryo"/>
                <a:ea typeface="Meiryo"/>
              </a:rPr>
              <a:t>継続的な関係</a:t>
            </a:r>
          </a:p>
        </p:txBody>
      </p:sp>
      <p:sp>
        <p:nvSpPr>
          <p:cNvPr id="15" name="TextBox 14"/>
          <p:cNvSpPr txBox="1"/>
          <p:nvPr/>
        </p:nvSpPr>
        <p:spPr>
          <a:xfrm>
            <a:off x="9674352" y="3154680"/>
            <a:ext cx="237744" cy="365760"/>
          </a:xfrm>
          <a:prstGeom prst="rect">
            <a:avLst/>
          </a:prstGeom>
          <a:noFill/>
        </p:spPr>
        <p:txBody>
          <a:bodyPr wrap="square" anchor="t" lIns="0" rIns="0" tIns="0" bIns="0">
            <a:spAutoFit/>
          </a:bodyPr>
          <a:lstStyle/>
          <a:p>
            <a:pPr algn="ctr">
              <a:lnSpc>
                <a:spcPct val="115000"/>
              </a:lnSpc>
            </a:pPr>
            <a:r>
              <a:rPr sz="1800" b="1">
                <a:solidFill>
                  <a:srgbClr val="F2762E"/>
                </a:solidFill>
                <a:latin typeface="Meiryo"/>
                <a:ea typeface="Meiryo"/>
              </a:rPr>
              <a:t>→</a:t>
            </a:r>
          </a:p>
        </p:txBody>
      </p:sp>
      <p:sp>
        <p:nvSpPr>
          <p:cNvPr id="16" name="Rounded Rectangle 15"/>
          <p:cNvSpPr/>
          <p:nvPr/>
        </p:nvSpPr>
        <p:spPr>
          <a:xfrm>
            <a:off x="9921240" y="2743200"/>
            <a:ext cx="1600200" cy="1188720"/>
          </a:xfrm>
          <a:prstGeom prst="roundRect">
            <a:avLst>
              <a:gd name="adj" fmla="val 8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a:solidFill>
                  <a:srgbClr val="FFFFFF"/>
                </a:solidFill>
                <a:latin typeface="Meiryo"/>
                <a:ea typeface="Meiryo"/>
              </a:rPr>
              <a:t>担い手・</a:t>
            </a:r>
          </a:p>
          <a:p>
            <a:pPr algn="ctr">
              <a:lnSpc>
                <a:spcPct val="110000"/>
              </a:lnSpc>
            </a:pPr>
            <a:r>
              <a:rPr sz="1600" b="1">
                <a:solidFill>
                  <a:srgbClr val="FFFFFF"/>
                </a:solidFill>
                <a:latin typeface="Meiryo"/>
                <a:ea typeface="Meiryo"/>
              </a:rPr>
              <a:t>応援者へ</a:t>
            </a:r>
          </a:p>
        </p:txBody>
      </p:sp>
      <p:sp>
        <p:nvSpPr>
          <p:cNvPr id="17" name="Rounded Rectangle 16"/>
          <p:cNvSpPr/>
          <p:nvPr/>
        </p:nvSpPr>
        <p:spPr>
          <a:xfrm>
            <a:off x="758952" y="4572000"/>
            <a:ext cx="10607040" cy="1005840"/>
          </a:xfrm>
          <a:prstGeom prst="roundRect">
            <a:avLst>
              <a:gd name="adj" fmla="val 8000"/>
            </a:avLst>
          </a:prstGeom>
          <a:solidFill>
            <a:srgbClr val="FFF6EE"/>
          </a:solidFill>
          <a:ln w="19050">
            <a:solidFill>
              <a:srgbClr val="F6D3B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700" b="1">
                <a:solidFill>
                  <a:srgbClr val="B4571D"/>
                </a:solidFill>
                <a:latin typeface="Meiryo"/>
                <a:ea typeface="Meiryo"/>
              </a:rPr>
              <a:t>この流れを設計することで、制度を「地域の未来につながる仕組み」へ育てていきます。</a:t>
            </a:r>
          </a:p>
        </p:txBody>
      </p:sp>
      <p:sp>
        <p:nvSpPr>
          <p:cNvPr id="18" name="TextBox 17"/>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9" name="TextBox 18"/>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サポートの全体像</a:t>
            </a:r>
          </a:p>
        </p:txBody>
      </p:sp>
      <p:sp>
        <p:nvSpPr>
          <p:cNvPr id="4" name="TextBox 3"/>
          <p:cNvSpPr txBox="1"/>
          <p:nvPr/>
        </p:nvSpPr>
        <p:spPr>
          <a:xfrm>
            <a:off x="758952" y="1005840"/>
            <a:ext cx="10058400" cy="64008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3つのステップで伴走します。</a:t>
            </a:r>
          </a:p>
        </p:txBody>
      </p:sp>
      <p:sp>
        <p:nvSpPr>
          <p:cNvPr id="5" name="Rounded Rectangle 4"/>
          <p:cNvSpPr/>
          <p:nvPr/>
        </p:nvSpPr>
        <p:spPr>
          <a:xfrm>
            <a:off x="914400" y="2194560"/>
            <a:ext cx="3383280" cy="274320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0160" y="2514600"/>
            <a:ext cx="731520" cy="731520"/>
          </a:xfrm>
          <a:prstGeom prst="ellipse">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400" b="1">
                <a:solidFill>
                  <a:srgbClr val="FFFFFF"/>
                </a:solidFill>
                <a:latin typeface="Meiryo"/>
                <a:ea typeface="Meiryo"/>
              </a:rPr>
              <a:t>①</a:t>
            </a:r>
          </a:p>
        </p:txBody>
      </p:sp>
      <p:sp>
        <p:nvSpPr>
          <p:cNvPr id="7" name="TextBox 6"/>
          <p:cNvSpPr txBox="1"/>
          <p:nvPr/>
        </p:nvSpPr>
        <p:spPr>
          <a:xfrm>
            <a:off x="1280160" y="3474720"/>
            <a:ext cx="2743200" cy="457200"/>
          </a:xfrm>
          <a:prstGeom prst="rect">
            <a:avLst/>
          </a:prstGeom>
          <a:noFill/>
        </p:spPr>
        <p:txBody>
          <a:bodyPr wrap="square" anchor="t" lIns="0" rIns="0" tIns="0" bIns="0">
            <a:spAutoFit/>
          </a:bodyPr>
          <a:lstStyle/>
          <a:p>
            <a:pPr algn="l">
              <a:lnSpc>
                <a:spcPct val="115000"/>
              </a:lnSpc>
            </a:pPr>
            <a:r>
              <a:rPr sz="1900" b="1">
                <a:solidFill>
                  <a:srgbClr val="13314F"/>
                </a:solidFill>
                <a:latin typeface="Meiryo"/>
                <a:ea typeface="Meiryo"/>
              </a:rPr>
              <a:t>制度活用の企画設計</a:t>
            </a:r>
          </a:p>
        </p:txBody>
      </p:sp>
      <p:sp>
        <p:nvSpPr>
          <p:cNvPr id="8" name="TextBox 7"/>
          <p:cNvSpPr txBox="1"/>
          <p:nvPr/>
        </p:nvSpPr>
        <p:spPr>
          <a:xfrm>
            <a:off x="1280160" y="4023360"/>
            <a:ext cx="2743200" cy="822960"/>
          </a:xfrm>
          <a:prstGeom prst="rect">
            <a:avLst/>
          </a:prstGeom>
          <a:noFill/>
        </p:spPr>
        <p:txBody>
          <a:bodyPr wrap="square" anchor="t" lIns="0" rIns="0" tIns="0" bIns="0">
            <a:spAutoFit/>
          </a:bodyPr>
          <a:lstStyle/>
          <a:p>
            <a:pPr algn="l">
              <a:lnSpc>
                <a:spcPct val="115000"/>
              </a:lnSpc>
            </a:pPr>
            <a:r>
              <a:rPr sz="1400" b="0">
                <a:solidFill>
                  <a:srgbClr val="1B2733"/>
                </a:solidFill>
                <a:latin typeface="Meiryo"/>
                <a:ea typeface="Meiryo"/>
              </a:rPr>
              <a:t>地域課題や強みを整理し、「どう活用するか」を一緒に検討します。</a:t>
            </a:r>
          </a:p>
        </p:txBody>
      </p:sp>
      <p:sp>
        <p:nvSpPr>
          <p:cNvPr id="9" name="Rounded Rectangle 8"/>
          <p:cNvSpPr/>
          <p:nvPr/>
        </p:nvSpPr>
        <p:spPr>
          <a:xfrm>
            <a:off x="4617720" y="2194560"/>
            <a:ext cx="3383280" cy="274320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83480" y="2514600"/>
            <a:ext cx="731520" cy="731520"/>
          </a:xfrm>
          <a:prstGeom prst="ellipse">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400" b="1">
                <a:solidFill>
                  <a:srgbClr val="FFFFFF"/>
                </a:solidFill>
                <a:latin typeface="Meiryo"/>
                <a:ea typeface="Meiryo"/>
              </a:rPr>
              <a:t>②</a:t>
            </a:r>
          </a:p>
        </p:txBody>
      </p:sp>
      <p:sp>
        <p:nvSpPr>
          <p:cNvPr id="11" name="TextBox 10"/>
          <p:cNvSpPr txBox="1"/>
          <p:nvPr/>
        </p:nvSpPr>
        <p:spPr>
          <a:xfrm>
            <a:off x="4983480" y="3474720"/>
            <a:ext cx="2743200" cy="457200"/>
          </a:xfrm>
          <a:prstGeom prst="rect">
            <a:avLst/>
          </a:prstGeom>
          <a:noFill/>
        </p:spPr>
        <p:txBody>
          <a:bodyPr wrap="square" anchor="t" lIns="0" rIns="0" tIns="0" bIns="0">
            <a:spAutoFit/>
          </a:bodyPr>
          <a:lstStyle/>
          <a:p>
            <a:pPr algn="l">
              <a:lnSpc>
                <a:spcPct val="115000"/>
              </a:lnSpc>
            </a:pPr>
            <a:r>
              <a:rPr sz="1900" b="1">
                <a:solidFill>
                  <a:srgbClr val="13314F"/>
                </a:solidFill>
                <a:latin typeface="Meiryo"/>
                <a:ea typeface="Meiryo"/>
              </a:rPr>
              <a:t>登録者の募集支援</a:t>
            </a:r>
          </a:p>
        </p:txBody>
      </p:sp>
      <p:sp>
        <p:nvSpPr>
          <p:cNvPr id="12" name="TextBox 11"/>
          <p:cNvSpPr txBox="1"/>
          <p:nvPr/>
        </p:nvSpPr>
        <p:spPr>
          <a:xfrm>
            <a:off x="4983480" y="4023360"/>
            <a:ext cx="2743200" cy="822960"/>
          </a:xfrm>
          <a:prstGeom prst="rect">
            <a:avLst/>
          </a:prstGeom>
          <a:noFill/>
        </p:spPr>
        <p:txBody>
          <a:bodyPr wrap="square" anchor="t" lIns="0" rIns="0" tIns="0" bIns="0">
            <a:spAutoFit/>
          </a:bodyPr>
          <a:lstStyle/>
          <a:p>
            <a:pPr algn="l">
              <a:lnSpc>
                <a:spcPct val="115000"/>
              </a:lnSpc>
            </a:pPr>
            <a:r>
              <a:rPr sz="1400" b="0">
                <a:solidFill>
                  <a:srgbClr val="1B2733"/>
                </a:solidFill>
                <a:latin typeface="Meiryo"/>
                <a:ea typeface="Meiryo"/>
              </a:rPr>
              <a:t>制度を多くの人に知ってもらい、登録につなげる情報発信を支援します。</a:t>
            </a:r>
          </a:p>
        </p:txBody>
      </p:sp>
      <p:sp>
        <p:nvSpPr>
          <p:cNvPr id="13" name="Rounded Rectangle 12"/>
          <p:cNvSpPr/>
          <p:nvPr/>
        </p:nvSpPr>
        <p:spPr>
          <a:xfrm>
            <a:off x="8321040" y="2194560"/>
            <a:ext cx="3383280" cy="274320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0" y="2514600"/>
            <a:ext cx="731520" cy="731520"/>
          </a:xfrm>
          <a:prstGeom prst="ellipse">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400" b="1">
                <a:solidFill>
                  <a:srgbClr val="FFFFFF"/>
                </a:solidFill>
                <a:latin typeface="Meiryo"/>
                <a:ea typeface="Meiryo"/>
              </a:rPr>
              <a:t>③</a:t>
            </a:r>
          </a:p>
        </p:txBody>
      </p:sp>
      <p:sp>
        <p:nvSpPr>
          <p:cNvPr id="15" name="TextBox 14"/>
          <p:cNvSpPr txBox="1"/>
          <p:nvPr/>
        </p:nvSpPr>
        <p:spPr>
          <a:xfrm>
            <a:off x="8686800" y="3474720"/>
            <a:ext cx="2743200" cy="457200"/>
          </a:xfrm>
          <a:prstGeom prst="rect">
            <a:avLst/>
          </a:prstGeom>
          <a:noFill/>
        </p:spPr>
        <p:txBody>
          <a:bodyPr wrap="square" anchor="t" lIns="0" rIns="0" tIns="0" bIns="0">
            <a:spAutoFit/>
          </a:bodyPr>
          <a:lstStyle/>
          <a:p>
            <a:pPr algn="l">
              <a:lnSpc>
                <a:spcPct val="115000"/>
              </a:lnSpc>
            </a:pPr>
            <a:r>
              <a:rPr sz="1900" b="1">
                <a:solidFill>
                  <a:srgbClr val="13314F"/>
                </a:solidFill>
                <a:latin typeface="Meiryo"/>
                <a:ea typeface="Meiryo"/>
              </a:rPr>
              <a:t>担い手活動の運営支援</a:t>
            </a:r>
          </a:p>
        </p:txBody>
      </p:sp>
      <p:sp>
        <p:nvSpPr>
          <p:cNvPr id="16" name="TextBox 15"/>
          <p:cNvSpPr txBox="1"/>
          <p:nvPr/>
        </p:nvSpPr>
        <p:spPr>
          <a:xfrm>
            <a:off x="8686800" y="4023360"/>
            <a:ext cx="2743200" cy="822960"/>
          </a:xfrm>
          <a:prstGeom prst="rect">
            <a:avLst/>
          </a:prstGeom>
          <a:noFill/>
        </p:spPr>
        <p:txBody>
          <a:bodyPr wrap="square" anchor="t" lIns="0" rIns="0" tIns="0" bIns="0">
            <a:spAutoFit/>
          </a:bodyPr>
          <a:lstStyle/>
          <a:p>
            <a:pPr algn="l">
              <a:lnSpc>
                <a:spcPct val="115000"/>
              </a:lnSpc>
            </a:pPr>
            <a:r>
              <a:rPr sz="1400" b="0">
                <a:solidFill>
                  <a:srgbClr val="1B2733"/>
                </a:solidFill>
                <a:latin typeface="Meiryo"/>
                <a:ea typeface="Meiryo"/>
              </a:rPr>
              <a:t>地域に合わせて担い手活動を企画し、運営まで伴走します。</a:t>
            </a:r>
          </a:p>
        </p:txBody>
      </p:sp>
      <p:sp>
        <p:nvSpPr>
          <p:cNvPr id="17" name="TextBox 16"/>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8" name="TextBox 17"/>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「手が回らない」をそのままにしません</a:t>
            </a:r>
          </a:p>
        </p:txBody>
      </p:sp>
      <p:sp>
        <p:nvSpPr>
          <p:cNvPr id="4" name="TextBox 3"/>
          <p:cNvSpPr txBox="1"/>
          <p:nvPr/>
        </p:nvSpPr>
        <p:spPr>
          <a:xfrm>
            <a:off x="758952" y="1005840"/>
            <a:ext cx="10515600" cy="64008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自治体の負担は、KITAICHIが巻き取ります。</a:t>
            </a:r>
          </a:p>
        </p:txBody>
      </p:sp>
      <p:sp>
        <p:nvSpPr>
          <p:cNvPr id="5" name="Rectangle 4"/>
          <p:cNvSpPr/>
          <p:nvPr/>
        </p:nvSpPr>
        <p:spPr>
          <a:xfrm>
            <a:off x="822960" y="2011680"/>
            <a:ext cx="2377440" cy="640080"/>
          </a:xfrm>
          <a:prstGeom prst="rect">
            <a:avLst/>
          </a:prstGeom>
          <a:solidFill>
            <a:srgbClr val="13314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FFFFFF"/>
                </a:solidFill>
                <a:latin typeface="Meiryo"/>
                <a:ea typeface="Meiryo"/>
              </a:rPr>
              <a:t>工程</a:t>
            </a:r>
          </a:p>
        </p:txBody>
      </p:sp>
      <p:sp>
        <p:nvSpPr>
          <p:cNvPr id="6" name="Rectangle 5"/>
          <p:cNvSpPr/>
          <p:nvPr/>
        </p:nvSpPr>
        <p:spPr>
          <a:xfrm>
            <a:off x="3200400" y="2011680"/>
            <a:ext cx="4297680" cy="640080"/>
          </a:xfrm>
          <a:prstGeom prst="rect">
            <a:avLst/>
          </a:prstGeom>
          <a:solidFill>
            <a:srgbClr val="13314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FFFFFF"/>
                </a:solidFill>
                <a:latin typeface="Meiryo"/>
                <a:ea typeface="Meiryo"/>
              </a:rPr>
              <a:t>KITAICHIが担う</a:t>
            </a:r>
          </a:p>
        </p:txBody>
      </p:sp>
      <p:sp>
        <p:nvSpPr>
          <p:cNvPr id="7" name="Rectangle 6"/>
          <p:cNvSpPr/>
          <p:nvPr/>
        </p:nvSpPr>
        <p:spPr>
          <a:xfrm>
            <a:off x="7498080" y="2011680"/>
            <a:ext cx="4297680" cy="640080"/>
          </a:xfrm>
          <a:prstGeom prst="rect">
            <a:avLst/>
          </a:prstGeom>
          <a:solidFill>
            <a:srgbClr val="13314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FFFFFF"/>
                </a:solidFill>
                <a:latin typeface="Meiryo"/>
                <a:ea typeface="Meiryo"/>
              </a:rPr>
              <a:t>自治体にお願いする</a:t>
            </a:r>
          </a:p>
        </p:txBody>
      </p:sp>
      <p:sp>
        <p:nvSpPr>
          <p:cNvPr id="8" name="Rectangle 7"/>
          <p:cNvSpPr/>
          <p:nvPr/>
        </p:nvSpPr>
        <p:spPr>
          <a:xfrm>
            <a:off x="822960" y="2651760"/>
            <a:ext cx="2377440" cy="868680"/>
          </a:xfrm>
          <a:prstGeom prst="rect">
            <a:avLst/>
          </a:prstGeom>
          <a:solidFill>
            <a:srgbClr val="F3F7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13314F"/>
                </a:solidFill>
                <a:latin typeface="Meiryo"/>
                <a:ea typeface="Meiryo"/>
              </a:rPr>
              <a:t>① 企画</a:t>
            </a:r>
          </a:p>
        </p:txBody>
      </p:sp>
      <p:sp>
        <p:nvSpPr>
          <p:cNvPr id="9" name="Rectangle 8"/>
          <p:cNvSpPr/>
          <p:nvPr/>
        </p:nvSpPr>
        <p:spPr>
          <a:xfrm>
            <a:off x="3200400" y="265176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コンセプト設計・たたき台の作成</a:t>
            </a:r>
          </a:p>
        </p:txBody>
      </p:sp>
      <p:sp>
        <p:nvSpPr>
          <p:cNvPr id="10" name="Rectangle 9"/>
          <p:cNvSpPr/>
          <p:nvPr/>
        </p:nvSpPr>
        <p:spPr>
          <a:xfrm>
            <a:off x="7498080" y="265176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地域の想いの共有・方向性の決定</a:t>
            </a:r>
          </a:p>
        </p:txBody>
      </p:sp>
      <p:sp>
        <p:nvSpPr>
          <p:cNvPr id="11" name="Rectangle 10"/>
          <p:cNvSpPr/>
          <p:nvPr/>
        </p:nvSpPr>
        <p:spPr>
          <a:xfrm>
            <a:off x="822960" y="3520440"/>
            <a:ext cx="2377440" cy="868680"/>
          </a:xfrm>
          <a:prstGeom prst="rect">
            <a:avLst/>
          </a:prstGeom>
          <a:solidFill>
            <a:srgbClr val="F3F7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13314F"/>
                </a:solidFill>
                <a:latin typeface="Meiryo"/>
                <a:ea typeface="Meiryo"/>
              </a:rPr>
              <a:t>② 募集</a:t>
            </a:r>
          </a:p>
        </p:txBody>
      </p:sp>
      <p:sp>
        <p:nvSpPr>
          <p:cNvPr id="12" name="Rectangle 11"/>
          <p:cNvSpPr/>
          <p:nvPr/>
        </p:nvSpPr>
        <p:spPr>
          <a:xfrm>
            <a:off x="3200400" y="352044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ページ・チラシ・SNS発信の制作</a:t>
            </a:r>
          </a:p>
        </p:txBody>
      </p:sp>
      <p:sp>
        <p:nvSpPr>
          <p:cNvPr id="13" name="Rectangle 12"/>
          <p:cNvSpPr/>
          <p:nvPr/>
        </p:nvSpPr>
        <p:spPr>
          <a:xfrm>
            <a:off x="7498080" y="352044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最終確認・地域情報の提供</a:t>
            </a:r>
          </a:p>
        </p:txBody>
      </p:sp>
      <p:sp>
        <p:nvSpPr>
          <p:cNvPr id="14" name="Rectangle 13"/>
          <p:cNvSpPr/>
          <p:nvPr/>
        </p:nvSpPr>
        <p:spPr>
          <a:xfrm>
            <a:off x="822960" y="4389120"/>
            <a:ext cx="2377440" cy="868680"/>
          </a:xfrm>
          <a:prstGeom prst="rect">
            <a:avLst/>
          </a:prstGeom>
          <a:solidFill>
            <a:srgbClr val="F3F7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a:solidFill>
                  <a:srgbClr val="13314F"/>
                </a:solidFill>
                <a:latin typeface="Meiryo"/>
                <a:ea typeface="Meiryo"/>
              </a:rPr>
              <a:t>③ 担い手活動</a:t>
            </a:r>
          </a:p>
        </p:txBody>
      </p:sp>
      <p:sp>
        <p:nvSpPr>
          <p:cNvPr id="15" name="Rectangle 14"/>
          <p:cNvSpPr/>
          <p:nvPr/>
        </p:nvSpPr>
        <p:spPr>
          <a:xfrm>
            <a:off x="3200400" y="438912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企画・運営・当日対応</a:t>
            </a:r>
          </a:p>
        </p:txBody>
      </p:sp>
      <p:sp>
        <p:nvSpPr>
          <p:cNvPr id="16" name="Rectangle 15"/>
          <p:cNvSpPr/>
          <p:nvPr/>
        </p:nvSpPr>
        <p:spPr>
          <a:xfrm>
            <a:off x="7498080" y="4389120"/>
            <a:ext cx="4297680" cy="868680"/>
          </a:xfrm>
          <a:prstGeom prst="rect">
            <a:avLst/>
          </a:prstGeom>
          <a:solidFill>
            <a:srgbClr val="FFFFFF"/>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0">
                <a:solidFill>
                  <a:srgbClr val="1B2733"/>
                </a:solidFill>
                <a:latin typeface="Meiryo"/>
                <a:ea typeface="Meiryo"/>
              </a:rPr>
              <a:t>参加・地域内の橋渡し</a:t>
            </a:r>
          </a:p>
        </p:txBody>
      </p:sp>
      <p:sp>
        <p:nvSpPr>
          <p:cNvPr id="17" name="TextBox 16"/>
          <p:cNvSpPr txBox="1"/>
          <p:nvPr/>
        </p:nvSpPr>
        <p:spPr>
          <a:xfrm>
            <a:off x="0" y="5760720"/>
            <a:ext cx="12191695" cy="365760"/>
          </a:xfrm>
          <a:prstGeom prst="rect">
            <a:avLst/>
          </a:prstGeom>
          <a:noFill/>
        </p:spPr>
        <p:txBody>
          <a:bodyPr wrap="square" anchor="t" lIns="0" rIns="0" tIns="0" bIns="0">
            <a:spAutoFit/>
          </a:bodyPr>
          <a:lstStyle/>
          <a:p>
            <a:pPr algn="ctr">
              <a:lnSpc>
                <a:spcPct val="115000"/>
              </a:lnSpc>
            </a:pPr>
            <a:r>
              <a:rPr sz="1600" b="1">
                <a:solidFill>
                  <a:srgbClr val="5D6F80"/>
                </a:solidFill>
                <a:latin typeface="Meiryo"/>
                <a:ea typeface="Meiryo"/>
              </a:rPr>
              <a:t>自治体の皆さまは「判断」と「地域とのつなぎ役」に集中していただけます。</a:t>
            </a:r>
          </a:p>
        </p:txBody>
      </p:sp>
      <p:sp>
        <p:nvSpPr>
          <p:cNvPr id="18" name="TextBox 17"/>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9" name="TextBox 18"/>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サポート内容 ①</a:t>
            </a:r>
          </a:p>
        </p:txBody>
      </p:sp>
      <p:sp>
        <p:nvSpPr>
          <p:cNvPr id="4" name="TextBox 3"/>
          <p:cNvSpPr txBox="1"/>
          <p:nvPr/>
        </p:nvSpPr>
        <p:spPr>
          <a:xfrm>
            <a:off x="758952" y="960120"/>
            <a:ext cx="10515600" cy="54864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制度活用の企画設計</a:t>
            </a:r>
          </a:p>
        </p:txBody>
      </p:sp>
      <p:sp>
        <p:nvSpPr>
          <p:cNvPr id="5" name="TextBox 4"/>
          <p:cNvSpPr txBox="1"/>
          <p:nvPr/>
        </p:nvSpPr>
        <p:spPr>
          <a:xfrm>
            <a:off x="758952" y="1691640"/>
            <a:ext cx="10515600" cy="548640"/>
          </a:xfrm>
          <a:prstGeom prst="rect">
            <a:avLst/>
          </a:prstGeom>
          <a:noFill/>
        </p:spPr>
        <p:txBody>
          <a:bodyPr wrap="square" anchor="t" lIns="0" rIns="0" tIns="0" bIns="0">
            <a:spAutoFit/>
          </a:bodyPr>
          <a:lstStyle/>
          <a:p>
            <a:pPr algn="l">
              <a:lnSpc>
                <a:spcPct val="115000"/>
              </a:lnSpc>
            </a:pPr>
            <a:r>
              <a:rPr sz="1600" b="0">
                <a:solidFill>
                  <a:srgbClr val="5D6F80"/>
                </a:solidFill>
                <a:latin typeface="Meiryo"/>
                <a:ea typeface="Meiryo"/>
              </a:rPr>
              <a:t>自治体ごとの地域課題や強みを整理し、制度をどう活用するかを一緒に検討します。</a:t>
            </a:r>
          </a:p>
        </p:txBody>
      </p:sp>
      <p:sp>
        <p:nvSpPr>
          <p:cNvPr id="6" name="Rounded Rectangle 5"/>
          <p:cNvSpPr/>
          <p:nvPr/>
        </p:nvSpPr>
        <p:spPr>
          <a:xfrm>
            <a:off x="822960" y="2468880"/>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8" name="TextBox 7"/>
          <p:cNvSpPr txBox="1"/>
          <p:nvPr/>
        </p:nvSpPr>
        <p:spPr>
          <a:xfrm>
            <a:off x="1463040" y="2578608"/>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制度活用のコンセプト設計</a:t>
            </a:r>
          </a:p>
        </p:txBody>
      </p:sp>
      <p:sp>
        <p:nvSpPr>
          <p:cNvPr id="9" name="Rounded Rectangle 8"/>
          <p:cNvSpPr/>
          <p:nvPr/>
        </p:nvSpPr>
        <p:spPr>
          <a:xfrm>
            <a:off x="4489704" y="2468880"/>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72584"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1" name="TextBox 10"/>
          <p:cNvSpPr txBox="1"/>
          <p:nvPr/>
        </p:nvSpPr>
        <p:spPr>
          <a:xfrm>
            <a:off x="5129784" y="2578608"/>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どんな人に登録してほしいかの整理</a:t>
            </a:r>
          </a:p>
        </p:txBody>
      </p:sp>
      <p:sp>
        <p:nvSpPr>
          <p:cNvPr id="12" name="Rounded Rectangle 11"/>
          <p:cNvSpPr/>
          <p:nvPr/>
        </p:nvSpPr>
        <p:spPr>
          <a:xfrm>
            <a:off x="8156448" y="2468880"/>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39328"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4" name="TextBox 13"/>
          <p:cNvSpPr txBox="1"/>
          <p:nvPr/>
        </p:nvSpPr>
        <p:spPr>
          <a:xfrm>
            <a:off x="8796528" y="2578608"/>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地域の魅力や課題の言語化</a:t>
            </a:r>
          </a:p>
        </p:txBody>
      </p:sp>
      <p:sp>
        <p:nvSpPr>
          <p:cNvPr id="15" name="Rounded Rectangle 14"/>
          <p:cNvSpPr/>
          <p:nvPr/>
        </p:nvSpPr>
        <p:spPr>
          <a:xfrm>
            <a:off x="822960" y="3364992"/>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52958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7" name="TextBox 16"/>
          <p:cNvSpPr txBox="1"/>
          <p:nvPr/>
        </p:nvSpPr>
        <p:spPr>
          <a:xfrm>
            <a:off x="1463040" y="3474720"/>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担い手活動の方向性整理</a:t>
            </a:r>
          </a:p>
        </p:txBody>
      </p:sp>
      <p:sp>
        <p:nvSpPr>
          <p:cNvPr id="18" name="Rounded Rectangle 17"/>
          <p:cNvSpPr/>
          <p:nvPr/>
        </p:nvSpPr>
        <p:spPr>
          <a:xfrm>
            <a:off x="4489704" y="3364992"/>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72584" y="352958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0" name="TextBox 19"/>
          <p:cNvSpPr txBox="1"/>
          <p:nvPr/>
        </p:nvSpPr>
        <p:spPr>
          <a:xfrm>
            <a:off x="5129784" y="3474720"/>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ベーシック／プレミアム登録者の関係設計</a:t>
            </a:r>
          </a:p>
        </p:txBody>
      </p:sp>
      <p:sp>
        <p:nvSpPr>
          <p:cNvPr id="21" name="Rounded Rectangle 20"/>
          <p:cNvSpPr/>
          <p:nvPr/>
        </p:nvSpPr>
        <p:spPr>
          <a:xfrm>
            <a:off x="8156448" y="3364992"/>
            <a:ext cx="3502152"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8" y="352958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3" name="TextBox 22"/>
          <p:cNvSpPr txBox="1"/>
          <p:nvPr/>
        </p:nvSpPr>
        <p:spPr>
          <a:xfrm>
            <a:off x="8796528" y="3474720"/>
            <a:ext cx="2724912"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登録者に伝えるメッセージ設計</a:t>
            </a:r>
          </a:p>
        </p:txBody>
      </p:sp>
      <p:sp>
        <p:nvSpPr>
          <p:cNvPr id="24" name="TextBox 23"/>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25" name="TextBox 24"/>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サポート内容 ②</a:t>
            </a:r>
          </a:p>
        </p:txBody>
      </p:sp>
      <p:sp>
        <p:nvSpPr>
          <p:cNvPr id="4" name="TextBox 3"/>
          <p:cNvSpPr txBox="1"/>
          <p:nvPr/>
        </p:nvSpPr>
        <p:spPr>
          <a:xfrm>
            <a:off x="758952" y="960120"/>
            <a:ext cx="10515600" cy="54864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登録者の募集支援</a:t>
            </a:r>
          </a:p>
        </p:txBody>
      </p:sp>
      <p:sp>
        <p:nvSpPr>
          <p:cNvPr id="5" name="TextBox 4"/>
          <p:cNvSpPr txBox="1"/>
          <p:nvPr/>
        </p:nvSpPr>
        <p:spPr>
          <a:xfrm>
            <a:off x="758952" y="1691640"/>
            <a:ext cx="10515600" cy="548640"/>
          </a:xfrm>
          <a:prstGeom prst="rect">
            <a:avLst/>
          </a:prstGeom>
          <a:noFill/>
        </p:spPr>
        <p:txBody>
          <a:bodyPr wrap="square" anchor="t" lIns="0" rIns="0" tIns="0" bIns="0">
            <a:spAutoFit/>
          </a:bodyPr>
          <a:lstStyle/>
          <a:p>
            <a:pPr algn="l">
              <a:lnSpc>
                <a:spcPct val="115000"/>
              </a:lnSpc>
            </a:pPr>
            <a:r>
              <a:rPr sz="1600" b="0">
                <a:solidFill>
                  <a:srgbClr val="5D6F80"/>
                </a:solidFill>
                <a:latin typeface="Meiryo"/>
                <a:ea typeface="Meiryo"/>
              </a:rPr>
              <a:t>制度を多くの人に知ってもらい、登録につなげるための情報発信を支援します。</a:t>
            </a:r>
          </a:p>
        </p:txBody>
      </p:sp>
      <p:sp>
        <p:nvSpPr>
          <p:cNvPr id="6" name="Rounded Rectangle 5"/>
          <p:cNvSpPr/>
          <p:nvPr/>
        </p:nvSpPr>
        <p:spPr>
          <a:xfrm>
            <a:off x="822960" y="2468880"/>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8" name="TextBox 7"/>
          <p:cNvSpPr txBox="1"/>
          <p:nvPr/>
        </p:nvSpPr>
        <p:spPr>
          <a:xfrm>
            <a:off x="1463040" y="2578608"/>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募集ページの構成づくり</a:t>
            </a:r>
          </a:p>
        </p:txBody>
      </p:sp>
      <p:sp>
        <p:nvSpPr>
          <p:cNvPr id="9" name="Rounded Rectangle 8"/>
          <p:cNvSpPr/>
          <p:nvPr/>
        </p:nvSpPr>
        <p:spPr>
          <a:xfrm>
            <a:off x="4489704" y="2468880"/>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72584"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1" name="TextBox 10"/>
          <p:cNvSpPr txBox="1"/>
          <p:nvPr/>
        </p:nvSpPr>
        <p:spPr>
          <a:xfrm>
            <a:off x="5129784" y="2578608"/>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パンフレット・チラシの制作支援</a:t>
            </a:r>
          </a:p>
        </p:txBody>
      </p:sp>
      <p:sp>
        <p:nvSpPr>
          <p:cNvPr id="12" name="Rounded Rectangle 11"/>
          <p:cNvSpPr/>
          <p:nvPr/>
        </p:nvSpPr>
        <p:spPr>
          <a:xfrm>
            <a:off x="8156448" y="2468880"/>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39328"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4" name="TextBox 13"/>
          <p:cNvSpPr txBox="1"/>
          <p:nvPr/>
        </p:nvSpPr>
        <p:spPr>
          <a:xfrm>
            <a:off x="8796528" y="2578608"/>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SNS・メール発信内容の設計</a:t>
            </a:r>
          </a:p>
        </p:txBody>
      </p:sp>
      <p:sp>
        <p:nvSpPr>
          <p:cNvPr id="15" name="Rounded Rectangle 14"/>
          <p:cNvSpPr/>
          <p:nvPr/>
        </p:nvSpPr>
        <p:spPr>
          <a:xfrm>
            <a:off x="822960" y="3273552"/>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43814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7" name="TextBox 16"/>
          <p:cNvSpPr txBox="1"/>
          <p:nvPr/>
        </p:nvSpPr>
        <p:spPr>
          <a:xfrm>
            <a:off x="1463040" y="3383280"/>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CF的な募集導線の設計</a:t>
            </a:r>
          </a:p>
        </p:txBody>
      </p:sp>
      <p:sp>
        <p:nvSpPr>
          <p:cNvPr id="18" name="Rounded Rectangle 17"/>
          <p:cNvSpPr/>
          <p:nvPr/>
        </p:nvSpPr>
        <p:spPr>
          <a:xfrm>
            <a:off x="4489704" y="3273552"/>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72584" y="343814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0" name="TextBox 19"/>
          <p:cNvSpPr txBox="1"/>
          <p:nvPr/>
        </p:nvSpPr>
        <p:spPr>
          <a:xfrm>
            <a:off x="5129784" y="3383280"/>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地域外の応援者に届くメッセージ</a:t>
            </a:r>
          </a:p>
        </p:txBody>
      </p:sp>
      <p:sp>
        <p:nvSpPr>
          <p:cNvPr id="21" name="Rounded Rectangle 20"/>
          <p:cNvSpPr/>
          <p:nvPr/>
        </p:nvSpPr>
        <p:spPr>
          <a:xfrm>
            <a:off x="8156448" y="3273552"/>
            <a:ext cx="3502152" cy="65836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8" y="343814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3" name="TextBox 22"/>
          <p:cNvSpPr txBox="1"/>
          <p:nvPr/>
        </p:nvSpPr>
        <p:spPr>
          <a:xfrm>
            <a:off x="8796528" y="3383280"/>
            <a:ext cx="2724912" cy="65836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プロモーション戦略の整理</a:t>
            </a:r>
          </a:p>
        </p:txBody>
      </p:sp>
      <p:sp>
        <p:nvSpPr>
          <p:cNvPr id="24" name="Rounded Rectangle 23"/>
          <p:cNvSpPr/>
          <p:nvPr/>
        </p:nvSpPr>
        <p:spPr>
          <a:xfrm>
            <a:off x="758952" y="5349240"/>
            <a:ext cx="10607040" cy="777240"/>
          </a:xfrm>
          <a:prstGeom prst="roundRect">
            <a:avLst>
              <a:gd name="adj" fmla="val 8000"/>
            </a:avLst>
          </a:prstGeom>
          <a:solidFill>
            <a:srgbClr val="FFF6EE"/>
          </a:solidFill>
          <a:ln w="19050">
            <a:solidFill>
              <a:srgbClr val="F6D3B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lnSpc>
                <a:spcPct val="110000"/>
              </a:lnSpc>
            </a:pPr>
            <a:r>
              <a:rPr sz="1500" b="1">
                <a:solidFill>
                  <a:srgbClr val="B4571D"/>
                </a:solidFill>
                <a:latin typeface="Meiryo"/>
                <a:ea typeface="Meiryo"/>
              </a:rPr>
              <a:t>「登録してください」ではなく、「この地域の未来に関わってください」というメッセージにすることがポイントです。</a:t>
            </a:r>
          </a:p>
        </p:txBody>
      </p:sp>
      <p:sp>
        <p:nvSpPr>
          <p:cNvPr id="25" name="TextBox 24"/>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26" name="TextBox 25"/>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サポート内容 ③</a:t>
            </a:r>
          </a:p>
        </p:txBody>
      </p:sp>
      <p:sp>
        <p:nvSpPr>
          <p:cNvPr id="4" name="TextBox 3"/>
          <p:cNvSpPr txBox="1"/>
          <p:nvPr/>
        </p:nvSpPr>
        <p:spPr>
          <a:xfrm>
            <a:off x="758952" y="960120"/>
            <a:ext cx="10515600" cy="54864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担い手活動の企画・運営支援</a:t>
            </a:r>
          </a:p>
        </p:txBody>
      </p:sp>
      <p:sp>
        <p:nvSpPr>
          <p:cNvPr id="5" name="TextBox 4"/>
          <p:cNvSpPr txBox="1"/>
          <p:nvPr/>
        </p:nvSpPr>
        <p:spPr>
          <a:xfrm>
            <a:off x="758952" y="1691640"/>
            <a:ext cx="10515600" cy="548640"/>
          </a:xfrm>
          <a:prstGeom prst="rect">
            <a:avLst/>
          </a:prstGeom>
          <a:noFill/>
        </p:spPr>
        <p:txBody>
          <a:bodyPr wrap="square" anchor="t" lIns="0" rIns="0" tIns="0" bIns="0">
            <a:spAutoFit/>
          </a:bodyPr>
          <a:lstStyle/>
          <a:p>
            <a:pPr algn="l">
              <a:lnSpc>
                <a:spcPct val="115000"/>
              </a:lnSpc>
            </a:pPr>
            <a:r>
              <a:rPr sz="1600" b="0">
                <a:solidFill>
                  <a:srgbClr val="5D6F80"/>
                </a:solidFill>
                <a:latin typeface="Meiryo"/>
                <a:ea typeface="Meiryo"/>
              </a:rPr>
              <a:t>自治体ごとに内容は大きく変わります。地域に合わせて、例えばこんなことを一緒に企画します。</a:t>
            </a:r>
          </a:p>
        </p:txBody>
      </p:sp>
      <p:sp>
        <p:nvSpPr>
          <p:cNvPr id="6" name="Rounded Rectangle 5"/>
          <p:cNvSpPr/>
          <p:nvPr/>
        </p:nvSpPr>
        <p:spPr>
          <a:xfrm>
            <a:off x="822960" y="2468880"/>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8" name="TextBox 7"/>
          <p:cNvSpPr txBox="1"/>
          <p:nvPr/>
        </p:nvSpPr>
        <p:spPr>
          <a:xfrm>
            <a:off x="1463040" y="2578608"/>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地域ファンミーティング</a:t>
            </a:r>
          </a:p>
        </p:txBody>
      </p:sp>
      <p:sp>
        <p:nvSpPr>
          <p:cNvPr id="9" name="Rounded Rectangle 8"/>
          <p:cNvSpPr/>
          <p:nvPr/>
        </p:nvSpPr>
        <p:spPr>
          <a:xfrm>
            <a:off x="6245352" y="2468880"/>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28232" y="2633472"/>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1" name="TextBox 10"/>
          <p:cNvSpPr txBox="1"/>
          <p:nvPr/>
        </p:nvSpPr>
        <p:spPr>
          <a:xfrm>
            <a:off x="6885432" y="2578608"/>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新商品・特産品のモニター会</a:t>
            </a:r>
          </a:p>
        </p:txBody>
      </p:sp>
      <p:sp>
        <p:nvSpPr>
          <p:cNvPr id="12" name="Rounded Rectangle 11"/>
          <p:cNvSpPr/>
          <p:nvPr/>
        </p:nvSpPr>
        <p:spPr>
          <a:xfrm>
            <a:off x="822960" y="3364992"/>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352958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4" name="TextBox 13"/>
          <p:cNvSpPr txBox="1"/>
          <p:nvPr/>
        </p:nvSpPr>
        <p:spPr>
          <a:xfrm>
            <a:off x="1463040" y="3474720"/>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商品開発アイデア募集</a:t>
            </a:r>
          </a:p>
        </p:txBody>
      </p:sp>
      <p:sp>
        <p:nvSpPr>
          <p:cNvPr id="15" name="Rounded Rectangle 14"/>
          <p:cNvSpPr/>
          <p:nvPr/>
        </p:nvSpPr>
        <p:spPr>
          <a:xfrm>
            <a:off x="6245352" y="3364992"/>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32" y="3529584"/>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17" name="TextBox 16"/>
          <p:cNvSpPr txBox="1"/>
          <p:nvPr/>
        </p:nvSpPr>
        <p:spPr>
          <a:xfrm>
            <a:off x="6885432" y="3474720"/>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空き家活用アイデア募集</a:t>
            </a:r>
          </a:p>
        </p:txBody>
      </p:sp>
      <p:sp>
        <p:nvSpPr>
          <p:cNvPr id="18" name="Rounded Rectangle 17"/>
          <p:cNvSpPr/>
          <p:nvPr/>
        </p:nvSpPr>
        <p:spPr>
          <a:xfrm>
            <a:off x="822960" y="4261104"/>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5840" y="4425696"/>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0" name="TextBox 19"/>
          <p:cNvSpPr txBox="1"/>
          <p:nvPr/>
        </p:nvSpPr>
        <p:spPr>
          <a:xfrm>
            <a:off x="1463040" y="4370832"/>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地域おこし協力隊・高校生との交流</a:t>
            </a:r>
          </a:p>
        </p:txBody>
      </p:sp>
      <p:sp>
        <p:nvSpPr>
          <p:cNvPr id="21" name="Rounded Rectangle 20"/>
          <p:cNvSpPr/>
          <p:nvPr/>
        </p:nvSpPr>
        <p:spPr>
          <a:xfrm>
            <a:off x="6245352" y="4261104"/>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8232" y="4425696"/>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3" name="TextBox 22"/>
          <p:cNvSpPr txBox="1"/>
          <p:nvPr/>
        </p:nvSpPr>
        <p:spPr>
          <a:xfrm>
            <a:off x="6885432" y="4370832"/>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町長・村長・地域事業者との交流会</a:t>
            </a:r>
          </a:p>
        </p:txBody>
      </p:sp>
      <p:sp>
        <p:nvSpPr>
          <p:cNvPr id="24" name="Rounded Rectangle 23"/>
          <p:cNvSpPr/>
          <p:nvPr/>
        </p:nvSpPr>
        <p:spPr>
          <a:xfrm>
            <a:off x="822960" y="5157216"/>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05840" y="5321808"/>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6" name="TextBox 25"/>
          <p:cNvSpPr txBox="1"/>
          <p:nvPr/>
        </p:nvSpPr>
        <p:spPr>
          <a:xfrm>
            <a:off x="1463040" y="5266944"/>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農業・漁業・林業・酒蔵の体験</a:t>
            </a:r>
          </a:p>
        </p:txBody>
      </p:sp>
      <p:sp>
        <p:nvSpPr>
          <p:cNvPr id="27" name="Rounded Rectangle 26"/>
          <p:cNvSpPr/>
          <p:nvPr/>
        </p:nvSpPr>
        <p:spPr>
          <a:xfrm>
            <a:off x="6245352" y="5157216"/>
            <a:ext cx="5257800" cy="749808"/>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28232" y="5321808"/>
            <a:ext cx="329184" cy="329184"/>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a:solidFill>
                  <a:srgbClr val="2F80C4"/>
                </a:solidFill>
                <a:latin typeface="Meiryo"/>
                <a:ea typeface="Meiryo"/>
              </a:rPr>
              <a:t>●</a:t>
            </a:r>
          </a:p>
        </p:txBody>
      </p:sp>
      <p:sp>
        <p:nvSpPr>
          <p:cNvPr id="29" name="TextBox 28"/>
          <p:cNvSpPr txBox="1"/>
          <p:nvPr/>
        </p:nvSpPr>
        <p:spPr>
          <a:xfrm>
            <a:off x="6885432" y="5266944"/>
            <a:ext cx="4480560" cy="749808"/>
          </a:xfrm>
          <a:prstGeom prst="rect">
            <a:avLst/>
          </a:prstGeom>
          <a:noFill/>
        </p:spPr>
        <p:txBody>
          <a:bodyPr wrap="square" anchor="ctr" lIns="0" rIns="0" tIns="0" bIns="0">
            <a:spAutoFit/>
          </a:bodyPr>
          <a:lstStyle/>
          <a:p>
            <a:pPr algn="l">
              <a:lnSpc>
                <a:spcPct val="115000"/>
              </a:lnSpc>
            </a:pPr>
            <a:r>
              <a:rPr sz="1400" b="0">
                <a:solidFill>
                  <a:srgbClr val="1B2733"/>
                </a:solidFill>
                <a:latin typeface="Meiryo"/>
                <a:ea typeface="Meiryo"/>
              </a:rPr>
              <a:t>まちづくり会議へのオブザーバー参加</a:t>
            </a:r>
          </a:p>
        </p:txBody>
      </p:sp>
      <p:sp>
        <p:nvSpPr>
          <p:cNvPr id="30" name="TextBox 29"/>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31" name="TextBox 30"/>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設計の考え方</a:t>
            </a:r>
          </a:p>
        </p:txBody>
      </p:sp>
      <p:sp>
        <p:nvSpPr>
          <p:cNvPr id="4" name="TextBox 3"/>
          <p:cNvSpPr txBox="1"/>
          <p:nvPr/>
        </p:nvSpPr>
        <p:spPr>
          <a:xfrm>
            <a:off x="758952" y="1005840"/>
            <a:ext cx="10515600" cy="640080"/>
          </a:xfrm>
          <a:prstGeom prst="rect">
            <a:avLst/>
          </a:prstGeom>
          <a:noFill/>
        </p:spPr>
        <p:txBody>
          <a:bodyPr wrap="square" anchor="t" lIns="0" rIns="0" tIns="0" bIns="0">
            <a:spAutoFit/>
          </a:bodyPr>
          <a:lstStyle/>
          <a:p>
            <a:pPr algn="l">
              <a:lnSpc>
                <a:spcPct val="115000"/>
              </a:lnSpc>
            </a:pPr>
            <a:r>
              <a:rPr sz="2800" b="1">
                <a:solidFill>
                  <a:srgbClr val="13314F"/>
                </a:solidFill>
                <a:latin typeface="Meiryo"/>
                <a:ea typeface="Meiryo"/>
              </a:rPr>
              <a:t>担い手活動は「参加の階段」で設計します。</a:t>
            </a:r>
          </a:p>
        </p:txBody>
      </p:sp>
      <p:sp>
        <p:nvSpPr>
          <p:cNvPr id="5" name="Rounded Rectangle 4"/>
          <p:cNvSpPr/>
          <p:nvPr/>
        </p:nvSpPr>
        <p:spPr>
          <a:xfrm>
            <a:off x="731520" y="4572000"/>
            <a:ext cx="2103120" cy="914400"/>
          </a:xfrm>
          <a:prstGeom prst="roundRect">
            <a:avLst>
              <a:gd name="adj" fmla="val 8000"/>
            </a:avLst>
          </a:prstGeom>
          <a:solidFill>
            <a:srgbClr val="CDD9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lnSpc>
                <a:spcPct val="110000"/>
              </a:lnSpc>
            </a:pPr>
            <a:r>
              <a:rPr sz="1100" b="1">
                <a:solidFill>
                  <a:srgbClr val="39505F"/>
                </a:solidFill>
                <a:latin typeface="Meiryo"/>
                <a:ea typeface="Meiryo"/>
              </a:rPr>
              <a:t>LEVEL 1</a:t>
            </a:r>
          </a:p>
          <a:p>
            <a:pPr algn="ctr">
              <a:lnSpc>
                <a:spcPct val="110000"/>
              </a:lnSpc>
            </a:pPr>
            <a:r>
              <a:rPr sz="1800" b="1">
                <a:solidFill>
                  <a:srgbClr val="39505F"/>
                </a:solidFill>
                <a:latin typeface="Meiryo"/>
                <a:ea typeface="Meiryo"/>
              </a:rPr>
              <a:t>知る</a:t>
            </a:r>
          </a:p>
        </p:txBody>
      </p:sp>
      <p:sp>
        <p:nvSpPr>
          <p:cNvPr id="6" name="TextBox 5"/>
          <p:cNvSpPr txBox="1"/>
          <p:nvPr/>
        </p:nvSpPr>
        <p:spPr>
          <a:xfrm>
            <a:off x="731520" y="5577840"/>
            <a:ext cx="2103120" cy="731520"/>
          </a:xfrm>
          <a:prstGeom prst="rect">
            <a:avLst/>
          </a:prstGeom>
          <a:noFill/>
        </p:spPr>
        <p:txBody>
          <a:bodyPr wrap="square" anchor="t" lIns="0" rIns="0" tIns="0" bIns="0">
            <a:spAutoFit/>
          </a:bodyPr>
          <a:lstStyle/>
          <a:p>
            <a:pPr algn="ctr">
              <a:lnSpc>
                <a:spcPct val="115000"/>
              </a:lnSpc>
            </a:pPr>
            <a:r>
              <a:rPr sz="1100" b="0">
                <a:solidFill>
                  <a:srgbClr val="5D6F80"/>
                </a:solidFill>
                <a:latin typeface="Meiryo"/>
                <a:ea typeface="Meiryo"/>
              </a:rPr>
              <a:t>SNS・メールで活動を知る</a:t>
            </a:r>
          </a:p>
        </p:txBody>
      </p:sp>
      <p:sp>
        <p:nvSpPr>
          <p:cNvPr id="7" name="Rounded Rectangle 6"/>
          <p:cNvSpPr/>
          <p:nvPr/>
        </p:nvSpPr>
        <p:spPr>
          <a:xfrm>
            <a:off x="2999232" y="4114800"/>
            <a:ext cx="2103120" cy="1371600"/>
          </a:xfrm>
          <a:prstGeom prst="roundRect">
            <a:avLst>
              <a:gd name="adj" fmla="val 8000"/>
            </a:avLst>
          </a:prstGeom>
          <a:solidFill>
            <a:srgbClr val="5AA9E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lnSpc>
                <a:spcPct val="110000"/>
              </a:lnSpc>
            </a:pPr>
            <a:r>
              <a:rPr sz="1100" b="1">
                <a:solidFill>
                  <a:srgbClr val="FFFFFF"/>
                </a:solidFill>
                <a:latin typeface="Meiryo"/>
                <a:ea typeface="Meiryo"/>
              </a:rPr>
              <a:t>LEVEL 2</a:t>
            </a:r>
          </a:p>
          <a:p>
            <a:pPr algn="ctr">
              <a:lnSpc>
                <a:spcPct val="110000"/>
              </a:lnSpc>
            </a:pPr>
            <a:r>
              <a:rPr sz="1800" b="1">
                <a:solidFill>
                  <a:srgbClr val="FFFFFF"/>
                </a:solidFill>
                <a:latin typeface="Meiryo"/>
                <a:ea typeface="Meiryo"/>
              </a:rPr>
              <a:t>応援する</a:t>
            </a:r>
          </a:p>
        </p:txBody>
      </p:sp>
      <p:sp>
        <p:nvSpPr>
          <p:cNvPr id="8" name="TextBox 7"/>
          <p:cNvSpPr txBox="1"/>
          <p:nvPr/>
        </p:nvSpPr>
        <p:spPr>
          <a:xfrm>
            <a:off x="2999232" y="5577840"/>
            <a:ext cx="2103120" cy="731520"/>
          </a:xfrm>
          <a:prstGeom prst="rect">
            <a:avLst/>
          </a:prstGeom>
          <a:noFill/>
        </p:spPr>
        <p:txBody>
          <a:bodyPr wrap="square" anchor="t" lIns="0" rIns="0" tIns="0" bIns="0">
            <a:spAutoFit/>
          </a:bodyPr>
          <a:lstStyle/>
          <a:p>
            <a:pPr algn="ctr">
              <a:lnSpc>
                <a:spcPct val="115000"/>
              </a:lnSpc>
            </a:pPr>
            <a:r>
              <a:rPr sz="1100" b="0">
                <a:solidFill>
                  <a:srgbClr val="5D6F80"/>
                </a:solidFill>
                <a:latin typeface="Meiryo"/>
                <a:ea typeface="Meiryo"/>
              </a:rPr>
              <a:t>発信に協力／投票／商品購入</a:t>
            </a:r>
          </a:p>
        </p:txBody>
      </p:sp>
      <p:sp>
        <p:nvSpPr>
          <p:cNvPr id="9" name="Rounded Rectangle 8"/>
          <p:cNvSpPr/>
          <p:nvPr/>
        </p:nvSpPr>
        <p:spPr>
          <a:xfrm>
            <a:off x="5266944" y="3657600"/>
            <a:ext cx="2103120" cy="1828800"/>
          </a:xfrm>
          <a:prstGeom prst="roundRect">
            <a:avLst>
              <a:gd name="adj" fmla="val 8000"/>
            </a:avLst>
          </a:prstGeom>
          <a:solidFill>
            <a:srgbClr val="2F80C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lnSpc>
                <a:spcPct val="110000"/>
              </a:lnSpc>
            </a:pPr>
            <a:r>
              <a:rPr sz="1100" b="1">
                <a:solidFill>
                  <a:srgbClr val="FFFFFF"/>
                </a:solidFill>
                <a:latin typeface="Meiryo"/>
                <a:ea typeface="Meiryo"/>
              </a:rPr>
              <a:t>LEVEL 3</a:t>
            </a:r>
          </a:p>
          <a:p>
            <a:pPr algn="ctr">
              <a:lnSpc>
                <a:spcPct val="110000"/>
              </a:lnSpc>
            </a:pPr>
            <a:r>
              <a:rPr sz="1800" b="1">
                <a:solidFill>
                  <a:srgbClr val="FFFFFF"/>
                </a:solidFill>
                <a:latin typeface="Meiryo"/>
                <a:ea typeface="Meiryo"/>
              </a:rPr>
              <a:t>交流する</a:t>
            </a:r>
          </a:p>
        </p:txBody>
      </p:sp>
      <p:sp>
        <p:nvSpPr>
          <p:cNvPr id="10" name="TextBox 9"/>
          <p:cNvSpPr txBox="1"/>
          <p:nvPr/>
        </p:nvSpPr>
        <p:spPr>
          <a:xfrm>
            <a:off x="5266944" y="5577840"/>
            <a:ext cx="2103120" cy="731520"/>
          </a:xfrm>
          <a:prstGeom prst="rect">
            <a:avLst/>
          </a:prstGeom>
          <a:noFill/>
        </p:spPr>
        <p:txBody>
          <a:bodyPr wrap="square" anchor="t" lIns="0" rIns="0" tIns="0" bIns="0">
            <a:spAutoFit/>
          </a:bodyPr>
          <a:lstStyle/>
          <a:p>
            <a:pPr algn="ctr">
              <a:lnSpc>
                <a:spcPct val="115000"/>
              </a:lnSpc>
            </a:pPr>
            <a:r>
              <a:rPr sz="1100" b="0">
                <a:solidFill>
                  <a:srgbClr val="5D6F80"/>
                </a:solidFill>
                <a:latin typeface="Meiryo"/>
                <a:ea typeface="Meiryo"/>
              </a:rPr>
              <a:t>交流会・ファンミーティング</a:t>
            </a:r>
          </a:p>
        </p:txBody>
      </p:sp>
      <p:sp>
        <p:nvSpPr>
          <p:cNvPr id="11" name="Rounded Rectangle 10"/>
          <p:cNvSpPr/>
          <p:nvPr/>
        </p:nvSpPr>
        <p:spPr>
          <a:xfrm>
            <a:off x="7534656" y="3200400"/>
            <a:ext cx="2103120" cy="22860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lnSpc>
                <a:spcPct val="110000"/>
              </a:lnSpc>
            </a:pPr>
            <a:r>
              <a:rPr sz="1100" b="1">
                <a:solidFill>
                  <a:srgbClr val="FFFFFF"/>
                </a:solidFill>
                <a:latin typeface="Meiryo"/>
                <a:ea typeface="Meiryo"/>
              </a:rPr>
              <a:t>LEVEL 4</a:t>
            </a:r>
          </a:p>
          <a:p>
            <a:pPr algn="ctr">
              <a:lnSpc>
                <a:spcPct val="110000"/>
              </a:lnSpc>
            </a:pPr>
            <a:r>
              <a:rPr sz="1800" b="1">
                <a:solidFill>
                  <a:srgbClr val="FFFFFF"/>
                </a:solidFill>
                <a:latin typeface="Meiryo"/>
                <a:ea typeface="Meiryo"/>
              </a:rPr>
              <a:t>参加する</a:t>
            </a:r>
          </a:p>
        </p:txBody>
      </p:sp>
      <p:sp>
        <p:nvSpPr>
          <p:cNvPr id="12" name="TextBox 11"/>
          <p:cNvSpPr txBox="1"/>
          <p:nvPr/>
        </p:nvSpPr>
        <p:spPr>
          <a:xfrm>
            <a:off x="7534656" y="5577840"/>
            <a:ext cx="2103120" cy="731520"/>
          </a:xfrm>
          <a:prstGeom prst="rect">
            <a:avLst/>
          </a:prstGeom>
          <a:noFill/>
        </p:spPr>
        <p:txBody>
          <a:bodyPr wrap="square" anchor="t" lIns="0" rIns="0" tIns="0" bIns="0">
            <a:spAutoFit/>
          </a:bodyPr>
          <a:lstStyle/>
          <a:p>
            <a:pPr algn="ctr">
              <a:lnSpc>
                <a:spcPct val="115000"/>
              </a:lnSpc>
            </a:pPr>
            <a:r>
              <a:rPr sz="1100" b="0">
                <a:solidFill>
                  <a:srgbClr val="5D6F80"/>
                </a:solidFill>
                <a:latin typeface="Meiryo"/>
                <a:ea typeface="Meiryo"/>
              </a:rPr>
              <a:t>現地イベント／モニター・企画会議</a:t>
            </a:r>
          </a:p>
        </p:txBody>
      </p:sp>
      <p:sp>
        <p:nvSpPr>
          <p:cNvPr id="13" name="Rounded Rectangle 12"/>
          <p:cNvSpPr/>
          <p:nvPr/>
        </p:nvSpPr>
        <p:spPr>
          <a:xfrm>
            <a:off x="9802368" y="2743200"/>
            <a:ext cx="2103120" cy="2743200"/>
          </a:xfrm>
          <a:prstGeom prst="roundRect">
            <a:avLst>
              <a:gd name="adj" fmla="val 8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lnSpc>
                <a:spcPct val="110000"/>
              </a:lnSpc>
            </a:pPr>
            <a:r>
              <a:rPr sz="1100" b="1">
                <a:solidFill>
                  <a:srgbClr val="FFFFFF"/>
                </a:solidFill>
                <a:latin typeface="Meiryo"/>
                <a:ea typeface="Meiryo"/>
              </a:rPr>
              <a:t>LEVEL 5</a:t>
            </a:r>
          </a:p>
          <a:p>
            <a:pPr algn="ctr">
              <a:lnSpc>
                <a:spcPct val="110000"/>
              </a:lnSpc>
            </a:pPr>
            <a:r>
              <a:rPr sz="1800" b="1">
                <a:solidFill>
                  <a:srgbClr val="FFFFFF"/>
                </a:solidFill>
                <a:latin typeface="Meiryo"/>
                <a:ea typeface="Meiryo"/>
              </a:rPr>
              <a:t>担い手になる</a:t>
            </a:r>
          </a:p>
        </p:txBody>
      </p:sp>
      <p:sp>
        <p:nvSpPr>
          <p:cNvPr id="14" name="TextBox 13"/>
          <p:cNvSpPr txBox="1"/>
          <p:nvPr/>
        </p:nvSpPr>
        <p:spPr>
          <a:xfrm>
            <a:off x="9802368" y="5577840"/>
            <a:ext cx="2103120" cy="731520"/>
          </a:xfrm>
          <a:prstGeom prst="rect">
            <a:avLst/>
          </a:prstGeom>
          <a:noFill/>
        </p:spPr>
        <p:txBody>
          <a:bodyPr wrap="square" anchor="t" lIns="0" rIns="0" tIns="0" bIns="0">
            <a:spAutoFit/>
          </a:bodyPr>
          <a:lstStyle/>
          <a:p>
            <a:pPr algn="ctr">
              <a:lnSpc>
                <a:spcPct val="115000"/>
              </a:lnSpc>
            </a:pPr>
            <a:r>
              <a:rPr sz="1100" b="0">
                <a:solidFill>
                  <a:srgbClr val="5D6F80"/>
                </a:solidFill>
                <a:latin typeface="Meiryo"/>
                <a:ea typeface="Meiryo"/>
              </a:rPr>
              <a:t>継続参加・共創／移住・起業へ</a:t>
            </a:r>
          </a:p>
        </p:txBody>
      </p:sp>
      <p:sp>
        <p:nvSpPr>
          <p:cNvPr id="15" name="TextBox 14"/>
          <p:cNvSpPr txBox="1"/>
          <p:nvPr/>
        </p:nvSpPr>
        <p:spPr>
          <a:xfrm>
            <a:off x="0" y="6172200"/>
            <a:ext cx="12191695" cy="320040"/>
          </a:xfrm>
          <a:prstGeom prst="rect">
            <a:avLst/>
          </a:prstGeom>
          <a:noFill/>
        </p:spPr>
        <p:txBody>
          <a:bodyPr wrap="square" anchor="t" lIns="0" rIns="0" tIns="0" bIns="0">
            <a:spAutoFit/>
          </a:bodyPr>
          <a:lstStyle/>
          <a:p>
            <a:pPr algn="ctr">
              <a:lnSpc>
                <a:spcPct val="115000"/>
              </a:lnSpc>
            </a:pPr>
            <a:r>
              <a:rPr sz="1500" b="1">
                <a:solidFill>
                  <a:srgbClr val="5D6F80"/>
                </a:solidFill>
                <a:latin typeface="Meiryo"/>
                <a:ea typeface="Meiryo"/>
              </a:rPr>
              <a:t>登録者が少しずつ関わりを深められる設計が、継続のカギです。</a:t>
            </a:r>
          </a:p>
        </p:txBody>
      </p:sp>
      <p:sp>
        <p:nvSpPr>
          <p:cNvPr id="16" name="TextBox 1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7" name="TextBox 1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FB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イメージ</a:t>
            </a:r>
          </a:p>
        </p:txBody>
      </p:sp>
      <p:sp>
        <p:nvSpPr>
          <p:cNvPr id="4" name="TextBox 3"/>
          <p:cNvSpPr txBox="1"/>
          <p:nvPr/>
        </p:nvSpPr>
        <p:spPr>
          <a:xfrm>
            <a:off x="758952" y="1005840"/>
            <a:ext cx="10515600" cy="640080"/>
          </a:xfrm>
          <a:prstGeom prst="rect">
            <a:avLst/>
          </a:prstGeom>
          <a:noFill/>
        </p:spPr>
        <p:txBody>
          <a:bodyPr wrap="square" anchor="t" lIns="0" rIns="0" tIns="0" bIns="0">
            <a:spAutoFit/>
          </a:bodyPr>
          <a:lstStyle/>
          <a:p>
            <a:pPr algn="l">
              <a:lnSpc>
                <a:spcPct val="115000"/>
              </a:lnSpc>
            </a:pPr>
            <a:r>
              <a:rPr sz="3000" b="1">
                <a:solidFill>
                  <a:srgbClr val="FFFFFF"/>
                </a:solidFill>
                <a:latin typeface="Meiryo"/>
                <a:ea typeface="Meiryo"/>
              </a:rPr>
              <a:t>ある「応援者」が「担い手」に育つまで。</a:t>
            </a:r>
          </a:p>
        </p:txBody>
      </p:sp>
      <p:sp>
        <p:nvSpPr>
          <p:cNvPr id="5" name="Oval 4"/>
          <p:cNvSpPr/>
          <p:nvPr/>
        </p:nvSpPr>
        <p:spPr>
          <a:xfrm>
            <a:off x="731520" y="2286000"/>
            <a:ext cx="731520" cy="73152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FFFFFF"/>
                </a:solidFill>
                <a:latin typeface="Meiryo"/>
                <a:ea typeface="Meiryo"/>
              </a:rPr>
              <a:t>Lv.1</a:t>
            </a:r>
          </a:p>
        </p:txBody>
      </p:sp>
      <p:sp>
        <p:nvSpPr>
          <p:cNvPr id="6" name="TextBox 5"/>
          <p:cNvSpPr txBox="1"/>
          <p:nvPr/>
        </p:nvSpPr>
        <p:spPr>
          <a:xfrm>
            <a:off x="731520" y="3154680"/>
            <a:ext cx="260604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知る</a:t>
            </a:r>
          </a:p>
        </p:txBody>
      </p:sp>
      <p:sp>
        <p:nvSpPr>
          <p:cNvPr id="7" name="TextBox 6"/>
          <p:cNvSpPr txBox="1"/>
          <p:nvPr/>
        </p:nvSpPr>
        <p:spPr>
          <a:xfrm>
            <a:off x="731520" y="3520440"/>
            <a:ext cx="2606040" cy="1645920"/>
          </a:xfrm>
          <a:prstGeom prst="rect">
            <a:avLst/>
          </a:prstGeom>
          <a:noFill/>
        </p:spPr>
        <p:txBody>
          <a:bodyPr wrap="square" anchor="t" lIns="0" rIns="0" tIns="0" bIns="0">
            <a:spAutoFit/>
          </a:bodyPr>
          <a:lstStyle/>
          <a:p>
            <a:pPr algn="l">
              <a:lnSpc>
                <a:spcPct val="115000"/>
              </a:lnSpc>
            </a:pPr>
            <a:r>
              <a:rPr sz="1500" b="0">
                <a:solidFill>
                  <a:srgbClr val="CDDDF0"/>
                </a:solidFill>
                <a:latin typeface="Meiryo"/>
                <a:ea typeface="Meiryo"/>
              </a:rPr>
              <a:t>都内在住のAさん。SNSで御地の情報を受け取るだけの存在だった。</a:t>
            </a:r>
          </a:p>
        </p:txBody>
      </p:sp>
      <p:sp>
        <p:nvSpPr>
          <p:cNvPr id="8" name="TextBox 7"/>
          <p:cNvSpPr txBox="1"/>
          <p:nvPr/>
        </p:nvSpPr>
        <p:spPr>
          <a:xfrm>
            <a:off x="3337560" y="2423160"/>
            <a:ext cx="228600" cy="365760"/>
          </a:xfrm>
          <a:prstGeom prst="rect">
            <a:avLst/>
          </a:prstGeom>
          <a:noFill/>
        </p:spPr>
        <p:txBody>
          <a:bodyPr wrap="square" anchor="t" lIns="0" rIns="0" tIns="0" bIns="0">
            <a:spAutoFit/>
          </a:bodyPr>
          <a:lstStyle/>
          <a:p>
            <a:pPr algn="ctr">
              <a:lnSpc>
                <a:spcPct val="115000"/>
              </a:lnSpc>
            </a:pPr>
            <a:r>
              <a:rPr sz="2000" b="1">
                <a:solidFill>
                  <a:srgbClr val="F2762E"/>
                </a:solidFill>
                <a:latin typeface="Meiryo"/>
                <a:ea typeface="Meiryo"/>
              </a:rPr>
              <a:t>→</a:t>
            </a:r>
          </a:p>
        </p:txBody>
      </p:sp>
      <p:sp>
        <p:nvSpPr>
          <p:cNvPr id="9" name="Oval 8"/>
          <p:cNvSpPr/>
          <p:nvPr/>
        </p:nvSpPr>
        <p:spPr>
          <a:xfrm>
            <a:off x="3566160" y="2286000"/>
            <a:ext cx="731520" cy="73152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FFFFFF"/>
                </a:solidFill>
                <a:latin typeface="Meiryo"/>
                <a:ea typeface="Meiryo"/>
              </a:rPr>
              <a:t>Lv.4</a:t>
            </a:r>
          </a:p>
        </p:txBody>
      </p:sp>
      <p:sp>
        <p:nvSpPr>
          <p:cNvPr id="10" name="TextBox 9"/>
          <p:cNvSpPr txBox="1"/>
          <p:nvPr/>
        </p:nvSpPr>
        <p:spPr>
          <a:xfrm>
            <a:off x="3566160" y="3154680"/>
            <a:ext cx="260604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参加する</a:t>
            </a:r>
          </a:p>
        </p:txBody>
      </p:sp>
      <p:sp>
        <p:nvSpPr>
          <p:cNvPr id="11" name="TextBox 10"/>
          <p:cNvSpPr txBox="1"/>
          <p:nvPr/>
        </p:nvSpPr>
        <p:spPr>
          <a:xfrm>
            <a:off x="3566160" y="3520440"/>
            <a:ext cx="2606040" cy="1645920"/>
          </a:xfrm>
          <a:prstGeom prst="rect">
            <a:avLst/>
          </a:prstGeom>
          <a:noFill/>
        </p:spPr>
        <p:txBody>
          <a:bodyPr wrap="square" anchor="t" lIns="0" rIns="0" tIns="0" bIns="0">
            <a:spAutoFit/>
          </a:bodyPr>
          <a:lstStyle/>
          <a:p>
            <a:pPr algn="l">
              <a:lnSpc>
                <a:spcPct val="115000"/>
              </a:lnSpc>
            </a:pPr>
            <a:r>
              <a:rPr sz="1500" b="0">
                <a:solidFill>
                  <a:srgbClr val="CDDDF0"/>
                </a:solidFill>
                <a:latin typeface="Meiryo"/>
                <a:ea typeface="Meiryo"/>
              </a:rPr>
              <a:t>特産品のモニター会に申し込み、初めて地域とリアルに関わる。</a:t>
            </a:r>
          </a:p>
        </p:txBody>
      </p:sp>
      <p:sp>
        <p:nvSpPr>
          <p:cNvPr id="12" name="TextBox 11"/>
          <p:cNvSpPr txBox="1"/>
          <p:nvPr/>
        </p:nvSpPr>
        <p:spPr>
          <a:xfrm>
            <a:off x="6172200" y="2423160"/>
            <a:ext cx="228600" cy="365760"/>
          </a:xfrm>
          <a:prstGeom prst="rect">
            <a:avLst/>
          </a:prstGeom>
          <a:noFill/>
        </p:spPr>
        <p:txBody>
          <a:bodyPr wrap="square" anchor="t" lIns="0" rIns="0" tIns="0" bIns="0">
            <a:spAutoFit/>
          </a:bodyPr>
          <a:lstStyle/>
          <a:p>
            <a:pPr algn="ctr">
              <a:lnSpc>
                <a:spcPct val="115000"/>
              </a:lnSpc>
            </a:pPr>
            <a:r>
              <a:rPr sz="2000" b="1">
                <a:solidFill>
                  <a:srgbClr val="F2762E"/>
                </a:solidFill>
                <a:latin typeface="Meiryo"/>
                <a:ea typeface="Meiryo"/>
              </a:rPr>
              <a:t>→</a:t>
            </a:r>
          </a:p>
        </p:txBody>
      </p:sp>
      <p:sp>
        <p:nvSpPr>
          <p:cNvPr id="13" name="Oval 12"/>
          <p:cNvSpPr/>
          <p:nvPr/>
        </p:nvSpPr>
        <p:spPr>
          <a:xfrm>
            <a:off x="6400800" y="2286000"/>
            <a:ext cx="731520" cy="73152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FFFFFF"/>
                </a:solidFill>
                <a:latin typeface="Meiryo"/>
                <a:ea typeface="Meiryo"/>
              </a:rPr>
              <a:t>Lv.4+</a:t>
            </a:r>
          </a:p>
        </p:txBody>
      </p:sp>
      <p:sp>
        <p:nvSpPr>
          <p:cNvPr id="14" name="TextBox 13"/>
          <p:cNvSpPr txBox="1"/>
          <p:nvPr/>
        </p:nvSpPr>
        <p:spPr>
          <a:xfrm>
            <a:off x="6400800" y="3154680"/>
            <a:ext cx="260604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貢献する</a:t>
            </a:r>
          </a:p>
        </p:txBody>
      </p:sp>
      <p:sp>
        <p:nvSpPr>
          <p:cNvPr id="15" name="TextBox 14"/>
          <p:cNvSpPr txBox="1"/>
          <p:nvPr/>
        </p:nvSpPr>
        <p:spPr>
          <a:xfrm>
            <a:off x="6400800" y="3520440"/>
            <a:ext cx="2606040" cy="1645920"/>
          </a:xfrm>
          <a:prstGeom prst="rect">
            <a:avLst/>
          </a:prstGeom>
          <a:noFill/>
        </p:spPr>
        <p:txBody>
          <a:bodyPr wrap="square" anchor="t" lIns="0" rIns="0" tIns="0" bIns="0">
            <a:spAutoFit/>
          </a:bodyPr>
          <a:lstStyle/>
          <a:p>
            <a:pPr algn="l">
              <a:lnSpc>
                <a:spcPct val="115000"/>
              </a:lnSpc>
            </a:pPr>
            <a:r>
              <a:rPr sz="1500" b="0">
                <a:solidFill>
                  <a:srgbClr val="CDDDF0"/>
                </a:solidFill>
                <a:latin typeface="Meiryo"/>
                <a:ea typeface="Meiryo"/>
              </a:rPr>
              <a:t>商品開発アイデア募集で意見が採用。役に立つ実感を得る。</a:t>
            </a:r>
          </a:p>
        </p:txBody>
      </p:sp>
      <p:sp>
        <p:nvSpPr>
          <p:cNvPr id="16" name="TextBox 15"/>
          <p:cNvSpPr txBox="1"/>
          <p:nvPr/>
        </p:nvSpPr>
        <p:spPr>
          <a:xfrm>
            <a:off x="9006840" y="2423160"/>
            <a:ext cx="228600" cy="365760"/>
          </a:xfrm>
          <a:prstGeom prst="rect">
            <a:avLst/>
          </a:prstGeom>
          <a:noFill/>
        </p:spPr>
        <p:txBody>
          <a:bodyPr wrap="square" anchor="t" lIns="0" rIns="0" tIns="0" bIns="0">
            <a:spAutoFit/>
          </a:bodyPr>
          <a:lstStyle/>
          <a:p>
            <a:pPr algn="ctr">
              <a:lnSpc>
                <a:spcPct val="115000"/>
              </a:lnSpc>
            </a:pPr>
            <a:r>
              <a:rPr sz="2000" b="1">
                <a:solidFill>
                  <a:srgbClr val="F2762E"/>
                </a:solidFill>
                <a:latin typeface="Meiryo"/>
                <a:ea typeface="Meiryo"/>
              </a:rPr>
              <a:t>→</a:t>
            </a:r>
          </a:p>
        </p:txBody>
      </p:sp>
      <p:sp>
        <p:nvSpPr>
          <p:cNvPr id="17" name="Oval 16"/>
          <p:cNvSpPr/>
          <p:nvPr/>
        </p:nvSpPr>
        <p:spPr>
          <a:xfrm>
            <a:off x="9235440" y="2286000"/>
            <a:ext cx="731520" cy="731520"/>
          </a:xfrm>
          <a:prstGeom prst="ellipse">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FFFFFF"/>
                </a:solidFill>
                <a:latin typeface="Meiryo"/>
                <a:ea typeface="Meiryo"/>
              </a:rPr>
              <a:t>Lv.5</a:t>
            </a:r>
          </a:p>
        </p:txBody>
      </p:sp>
      <p:sp>
        <p:nvSpPr>
          <p:cNvPr id="18" name="TextBox 17"/>
          <p:cNvSpPr txBox="1"/>
          <p:nvPr/>
        </p:nvSpPr>
        <p:spPr>
          <a:xfrm>
            <a:off x="9235440" y="3154680"/>
            <a:ext cx="2606040" cy="320040"/>
          </a:xfrm>
          <a:prstGeom prst="rect">
            <a:avLst/>
          </a:prstGeom>
          <a:noFill/>
        </p:spPr>
        <p:txBody>
          <a:bodyPr wrap="square" anchor="t" lIns="0" rIns="0" tIns="0" bIns="0">
            <a:spAutoFit/>
          </a:bodyPr>
          <a:lstStyle/>
          <a:p>
            <a:pPr algn="l">
              <a:lnSpc>
                <a:spcPct val="115000"/>
              </a:lnSpc>
            </a:pPr>
            <a:r>
              <a:rPr sz="1300" b="1">
                <a:solidFill>
                  <a:srgbClr val="FFB066"/>
                </a:solidFill>
                <a:latin typeface="Meiryo"/>
                <a:ea typeface="Meiryo"/>
              </a:rPr>
              <a:t>担い手に</a:t>
            </a:r>
          </a:p>
        </p:txBody>
      </p:sp>
      <p:sp>
        <p:nvSpPr>
          <p:cNvPr id="19" name="TextBox 18"/>
          <p:cNvSpPr txBox="1"/>
          <p:nvPr/>
        </p:nvSpPr>
        <p:spPr>
          <a:xfrm>
            <a:off x="9235440" y="3520440"/>
            <a:ext cx="2606040" cy="1645920"/>
          </a:xfrm>
          <a:prstGeom prst="rect">
            <a:avLst/>
          </a:prstGeom>
          <a:noFill/>
        </p:spPr>
        <p:txBody>
          <a:bodyPr wrap="square" anchor="t" lIns="0" rIns="0" tIns="0" bIns="0">
            <a:spAutoFit/>
          </a:bodyPr>
          <a:lstStyle/>
          <a:p>
            <a:pPr algn="l">
              <a:lnSpc>
                <a:spcPct val="115000"/>
              </a:lnSpc>
            </a:pPr>
            <a:r>
              <a:rPr sz="1500" b="0">
                <a:solidFill>
                  <a:srgbClr val="CDDDF0"/>
                </a:solidFill>
                <a:latin typeface="Meiryo"/>
                <a:ea typeface="Meiryo"/>
              </a:rPr>
              <a:t>翌年には企画会議の常連に。「いつか移住したい」と話すように。</a:t>
            </a:r>
          </a:p>
        </p:txBody>
      </p:sp>
      <p:sp>
        <p:nvSpPr>
          <p:cNvPr id="20" name="TextBox 19"/>
          <p:cNvSpPr txBox="1"/>
          <p:nvPr/>
        </p:nvSpPr>
        <p:spPr>
          <a:xfrm>
            <a:off x="758952" y="5303520"/>
            <a:ext cx="10515600" cy="457200"/>
          </a:xfrm>
          <a:prstGeom prst="rect">
            <a:avLst/>
          </a:prstGeom>
          <a:noFill/>
        </p:spPr>
        <p:txBody>
          <a:bodyPr wrap="square" anchor="t" lIns="0" rIns="0" tIns="0" bIns="0">
            <a:spAutoFit/>
          </a:bodyPr>
          <a:lstStyle/>
          <a:p>
            <a:pPr algn="l">
              <a:lnSpc>
                <a:spcPct val="115000"/>
              </a:lnSpc>
            </a:pPr>
            <a:r>
              <a:rPr sz="1600" b="1">
                <a:solidFill>
                  <a:srgbClr val="FFB066"/>
                </a:solidFill>
                <a:latin typeface="Meiryo"/>
                <a:ea typeface="Meiryo"/>
              </a:rPr>
              <a:t>—— こうして登録者が、少しずつ地域の担い手へ育っていきます。</a:t>
            </a:r>
          </a:p>
        </p:txBody>
      </p:sp>
      <p:sp>
        <p:nvSpPr>
          <p:cNvPr id="21" name="TextBox 20"/>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22" name="TextBox 21"/>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期待できる効果</a:t>
            </a:r>
          </a:p>
        </p:txBody>
      </p:sp>
      <p:sp>
        <p:nvSpPr>
          <p:cNvPr id="4" name="TextBox 3"/>
          <p:cNvSpPr txBox="1"/>
          <p:nvPr/>
        </p:nvSpPr>
        <p:spPr>
          <a:xfrm>
            <a:off x="758952" y="1005840"/>
            <a:ext cx="10058400" cy="64008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制度を活用することで、こんな効果が。</a:t>
            </a:r>
          </a:p>
        </p:txBody>
      </p:sp>
      <p:sp>
        <p:nvSpPr>
          <p:cNvPr id="5" name="Rounded Rectangle 4"/>
          <p:cNvSpPr/>
          <p:nvPr/>
        </p:nvSpPr>
        <p:spPr>
          <a:xfrm>
            <a:off x="914400" y="21945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24688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7" name="TextBox 6"/>
          <p:cNvSpPr txBox="1"/>
          <p:nvPr/>
        </p:nvSpPr>
        <p:spPr>
          <a:xfrm>
            <a:off x="1188720" y="31089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地域外の応援者を可視化できる</a:t>
            </a:r>
          </a:p>
        </p:txBody>
      </p:sp>
      <p:sp>
        <p:nvSpPr>
          <p:cNvPr id="8" name="Rounded Rectangle 7"/>
          <p:cNvSpPr/>
          <p:nvPr/>
        </p:nvSpPr>
        <p:spPr>
          <a:xfrm>
            <a:off x="4617720" y="21945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92040" y="24688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0" name="TextBox 9"/>
          <p:cNvSpPr txBox="1"/>
          <p:nvPr/>
        </p:nvSpPr>
        <p:spPr>
          <a:xfrm>
            <a:off x="4892040" y="31089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継続的に届けられる関係人口が増える</a:t>
            </a:r>
          </a:p>
        </p:txBody>
      </p:sp>
      <p:sp>
        <p:nvSpPr>
          <p:cNvPr id="11" name="Rounded Rectangle 10"/>
          <p:cNvSpPr/>
          <p:nvPr/>
        </p:nvSpPr>
        <p:spPr>
          <a:xfrm>
            <a:off x="8321040" y="21945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0" y="24688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3" name="TextBox 12"/>
          <p:cNvSpPr txBox="1"/>
          <p:nvPr/>
        </p:nvSpPr>
        <p:spPr>
          <a:xfrm>
            <a:off x="8595360" y="31089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イベント・活動への参加者が増える</a:t>
            </a:r>
          </a:p>
        </p:txBody>
      </p:sp>
      <p:sp>
        <p:nvSpPr>
          <p:cNvPr id="14" name="Rounded Rectangle 13"/>
          <p:cNvSpPr/>
          <p:nvPr/>
        </p:nvSpPr>
        <p:spPr>
          <a:xfrm>
            <a:off x="914400" y="40233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88720" y="42976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6" name="TextBox 15"/>
          <p:cNvSpPr txBox="1"/>
          <p:nvPr/>
        </p:nvSpPr>
        <p:spPr>
          <a:xfrm>
            <a:off x="1188720" y="49377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地域の担い手不足の解消につながる</a:t>
            </a:r>
          </a:p>
        </p:txBody>
      </p:sp>
      <p:sp>
        <p:nvSpPr>
          <p:cNvPr id="17" name="Rounded Rectangle 16"/>
          <p:cNvSpPr/>
          <p:nvPr/>
        </p:nvSpPr>
        <p:spPr>
          <a:xfrm>
            <a:off x="4617720" y="40233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92040" y="42976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19" name="TextBox 18"/>
          <p:cNvSpPr txBox="1"/>
          <p:nvPr/>
        </p:nvSpPr>
        <p:spPr>
          <a:xfrm>
            <a:off x="4892040" y="49377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ふるさと納税・CFとの連携がしやすい</a:t>
            </a:r>
          </a:p>
        </p:txBody>
      </p:sp>
      <p:sp>
        <p:nvSpPr>
          <p:cNvPr id="20" name="Rounded Rectangle 19"/>
          <p:cNvSpPr/>
          <p:nvPr/>
        </p:nvSpPr>
        <p:spPr>
          <a:xfrm>
            <a:off x="8321040" y="4023360"/>
            <a:ext cx="3383280" cy="15544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95360" y="4297680"/>
            <a:ext cx="548640" cy="548640"/>
          </a:xfrm>
          <a:prstGeom prst="roundRect">
            <a:avLst>
              <a:gd name="adj" fmla="val 8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2F80C4"/>
                </a:solidFill>
                <a:latin typeface="Meiryo"/>
                <a:ea typeface="Meiryo"/>
              </a:rPr>
              <a:t>✓</a:t>
            </a:r>
          </a:p>
        </p:txBody>
      </p:sp>
      <p:sp>
        <p:nvSpPr>
          <p:cNvPr id="22" name="TextBox 21"/>
          <p:cNvSpPr txBox="1"/>
          <p:nvPr/>
        </p:nvSpPr>
        <p:spPr>
          <a:xfrm>
            <a:off x="8595360" y="4937760"/>
            <a:ext cx="2834640" cy="548640"/>
          </a:xfrm>
          <a:prstGeom prst="rect">
            <a:avLst/>
          </a:prstGeom>
          <a:noFill/>
        </p:spPr>
        <p:txBody>
          <a:bodyPr wrap="square" anchor="t" lIns="0" rIns="0" tIns="0" bIns="0">
            <a:spAutoFit/>
          </a:bodyPr>
          <a:lstStyle/>
          <a:p>
            <a:pPr algn="l">
              <a:lnSpc>
                <a:spcPct val="115000"/>
              </a:lnSpc>
            </a:pPr>
            <a:r>
              <a:rPr sz="1500" b="1">
                <a:solidFill>
                  <a:srgbClr val="1B2733"/>
                </a:solidFill>
                <a:latin typeface="Meiryo"/>
                <a:ea typeface="Meiryo"/>
              </a:rPr>
              <a:t>将来的な移住・関係人口拡大へ</a:t>
            </a:r>
          </a:p>
        </p:txBody>
      </p:sp>
      <p:sp>
        <p:nvSpPr>
          <p:cNvPr id="23" name="TextBox 22"/>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24" name="TextBox 23"/>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財源・ご相談について</a:t>
            </a:r>
          </a:p>
        </p:txBody>
      </p:sp>
      <p:sp>
        <p:nvSpPr>
          <p:cNvPr id="4" name="TextBox 3"/>
          <p:cNvSpPr txBox="1"/>
          <p:nvPr/>
        </p:nvSpPr>
        <p:spPr>
          <a:xfrm>
            <a:off x="758952" y="1005840"/>
            <a:ext cx="10058400" cy="64008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活用できる財源があります。</a:t>
            </a:r>
          </a:p>
        </p:txBody>
      </p:sp>
      <p:sp>
        <p:nvSpPr>
          <p:cNvPr id="5" name="Rounded Rectangle 4"/>
          <p:cNvSpPr/>
          <p:nvPr/>
        </p:nvSpPr>
        <p:spPr>
          <a:xfrm>
            <a:off x="822960" y="2103120"/>
            <a:ext cx="5212080" cy="274320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23160"/>
            <a:ext cx="4480560" cy="548640"/>
          </a:xfrm>
          <a:prstGeom prst="rect">
            <a:avLst/>
          </a:prstGeom>
          <a:noFill/>
        </p:spPr>
        <p:txBody>
          <a:bodyPr wrap="square" anchor="t" lIns="0" rIns="0" tIns="0" bIns="0">
            <a:spAutoFit/>
          </a:bodyPr>
          <a:lstStyle/>
          <a:p>
            <a:pPr algn="l">
              <a:lnSpc>
                <a:spcPct val="115000"/>
              </a:lnSpc>
            </a:pPr>
            <a:r>
              <a:rPr sz="1800" b="1">
                <a:solidFill>
                  <a:srgbClr val="13314F"/>
                </a:solidFill>
                <a:latin typeface="Meiryo"/>
                <a:ea typeface="Meiryo"/>
              </a:rPr>
              <a:t>制度の準備・運用</a:t>
            </a:r>
          </a:p>
        </p:txBody>
      </p:sp>
      <p:sp>
        <p:nvSpPr>
          <p:cNvPr id="7" name="TextBox 6"/>
          <p:cNvSpPr txBox="1"/>
          <p:nvPr/>
        </p:nvSpPr>
        <p:spPr>
          <a:xfrm>
            <a:off x="1188720" y="3063240"/>
            <a:ext cx="4572000" cy="640080"/>
          </a:xfrm>
          <a:prstGeom prst="rect">
            <a:avLst/>
          </a:prstGeom>
          <a:noFill/>
        </p:spPr>
        <p:txBody>
          <a:bodyPr wrap="square" anchor="t" lIns="0" rIns="0" tIns="0" bIns="0">
            <a:spAutoFit/>
          </a:bodyPr>
          <a:lstStyle/>
          <a:p>
            <a:pPr algn="l">
              <a:lnSpc>
                <a:spcPct val="115000"/>
              </a:lnSpc>
            </a:pPr>
            <a:r>
              <a:rPr sz="3200" b="1">
                <a:solidFill>
                  <a:srgbClr val="F2762E"/>
                </a:solidFill>
                <a:latin typeface="Meiryo"/>
                <a:ea typeface="Meiryo"/>
              </a:rPr>
              <a:t>上限 1,000万円</a:t>
            </a:r>
          </a:p>
        </p:txBody>
      </p:sp>
      <p:sp>
        <p:nvSpPr>
          <p:cNvPr id="8" name="TextBox 7"/>
          <p:cNvSpPr txBox="1"/>
          <p:nvPr/>
        </p:nvSpPr>
        <p:spPr>
          <a:xfrm>
            <a:off x="1188720" y="3840480"/>
            <a:ext cx="4480560" cy="822960"/>
          </a:xfrm>
          <a:prstGeom prst="rect">
            <a:avLst/>
          </a:prstGeom>
          <a:noFill/>
        </p:spPr>
        <p:txBody>
          <a:bodyPr wrap="square" anchor="t" lIns="0" rIns="0" tIns="0" bIns="0">
            <a:spAutoFit/>
          </a:bodyPr>
          <a:lstStyle/>
          <a:p>
            <a:pPr algn="l">
              <a:lnSpc>
                <a:spcPct val="115000"/>
              </a:lnSpc>
            </a:pPr>
            <a:r>
              <a:rPr sz="1400" b="0">
                <a:solidFill>
                  <a:srgbClr val="1B2733"/>
                </a:solidFill>
                <a:latin typeface="Meiryo"/>
                <a:ea typeface="Meiryo"/>
              </a:rPr>
              <a:t>事業費1,000万円を上限に、50％×財政力補正により特別交付税措置。本業務への活用も可能です。</a:t>
            </a:r>
          </a:p>
        </p:txBody>
      </p:sp>
      <p:sp>
        <p:nvSpPr>
          <p:cNvPr id="9" name="Rounded Rectangle 8"/>
          <p:cNvSpPr/>
          <p:nvPr/>
        </p:nvSpPr>
        <p:spPr>
          <a:xfrm>
            <a:off x="1188720" y="4343400"/>
            <a:ext cx="2103120" cy="411480"/>
          </a:xfrm>
          <a:prstGeom prst="roundRect">
            <a:avLst>
              <a:gd name="adj" fmla="val 8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1F8A4D"/>
                </a:solidFill>
                <a:latin typeface="Meiryo"/>
                <a:ea typeface="Meiryo"/>
              </a:rPr>
              <a:t>✓ 総務省に確認済み</a:t>
            </a:r>
          </a:p>
        </p:txBody>
      </p:sp>
      <p:sp>
        <p:nvSpPr>
          <p:cNvPr id="10" name="Rounded Rectangle 9"/>
          <p:cNvSpPr/>
          <p:nvPr/>
        </p:nvSpPr>
        <p:spPr>
          <a:xfrm>
            <a:off x="6355080" y="2103120"/>
            <a:ext cx="5212080" cy="2743200"/>
          </a:xfrm>
          <a:prstGeom prst="roundRect">
            <a:avLst>
              <a:gd name="adj" fmla="val 8000"/>
            </a:avLst>
          </a:prstGeom>
          <a:solidFill>
            <a:srgbClr val="F1F6FB"/>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2423160"/>
            <a:ext cx="4480560" cy="548640"/>
          </a:xfrm>
          <a:prstGeom prst="rect">
            <a:avLst/>
          </a:prstGeom>
          <a:noFill/>
        </p:spPr>
        <p:txBody>
          <a:bodyPr wrap="square" anchor="t" lIns="0" rIns="0" tIns="0" bIns="0">
            <a:spAutoFit/>
          </a:bodyPr>
          <a:lstStyle/>
          <a:p>
            <a:pPr algn="l">
              <a:lnSpc>
                <a:spcPct val="115000"/>
              </a:lnSpc>
            </a:pPr>
            <a:r>
              <a:rPr sz="1800" b="1">
                <a:solidFill>
                  <a:srgbClr val="13314F"/>
                </a:solidFill>
                <a:latin typeface="Meiryo"/>
                <a:ea typeface="Meiryo"/>
              </a:rPr>
              <a:t>ふるさと住民コーディネーターの設置</a:t>
            </a:r>
          </a:p>
        </p:txBody>
      </p:sp>
      <p:sp>
        <p:nvSpPr>
          <p:cNvPr id="12" name="TextBox 11"/>
          <p:cNvSpPr txBox="1"/>
          <p:nvPr/>
        </p:nvSpPr>
        <p:spPr>
          <a:xfrm>
            <a:off x="6720840" y="3063240"/>
            <a:ext cx="4572000" cy="640080"/>
          </a:xfrm>
          <a:prstGeom prst="rect">
            <a:avLst/>
          </a:prstGeom>
          <a:noFill/>
        </p:spPr>
        <p:txBody>
          <a:bodyPr wrap="square" anchor="t" lIns="0" rIns="0" tIns="0" bIns="0">
            <a:spAutoFit/>
          </a:bodyPr>
          <a:lstStyle/>
          <a:p>
            <a:pPr algn="l">
              <a:lnSpc>
                <a:spcPct val="115000"/>
              </a:lnSpc>
            </a:pPr>
            <a:r>
              <a:rPr sz="3200" b="1">
                <a:solidFill>
                  <a:srgbClr val="F2762E"/>
                </a:solidFill>
                <a:latin typeface="Meiryo"/>
                <a:ea typeface="Meiryo"/>
              </a:rPr>
              <a:t>500万円</a:t>
            </a:r>
          </a:p>
        </p:txBody>
      </p:sp>
      <p:sp>
        <p:nvSpPr>
          <p:cNvPr id="13" name="TextBox 12"/>
          <p:cNvSpPr txBox="1"/>
          <p:nvPr/>
        </p:nvSpPr>
        <p:spPr>
          <a:xfrm>
            <a:off x="6720840" y="3840480"/>
            <a:ext cx="4480560" cy="822960"/>
          </a:xfrm>
          <a:prstGeom prst="rect">
            <a:avLst/>
          </a:prstGeom>
          <a:noFill/>
        </p:spPr>
        <p:txBody>
          <a:bodyPr wrap="square" anchor="t" lIns="0" rIns="0" tIns="0" bIns="0">
            <a:spAutoFit/>
          </a:bodyPr>
          <a:lstStyle/>
          <a:p>
            <a:pPr algn="l">
              <a:lnSpc>
                <a:spcPct val="115000"/>
              </a:lnSpc>
            </a:pPr>
            <a:r>
              <a:rPr sz="1400" b="0">
                <a:solidFill>
                  <a:srgbClr val="1B2733"/>
                </a:solidFill>
                <a:latin typeface="Meiryo"/>
                <a:ea typeface="Meiryo"/>
              </a:rPr>
              <a:t>500万円の特別交付税措置。自治体採用ではなく、事業者が業務委託として受託しても問題ありません。</a:t>
            </a:r>
          </a:p>
        </p:txBody>
      </p:sp>
      <p:sp>
        <p:nvSpPr>
          <p:cNvPr id="14" name="Rounded Rectangle 13"/>
          <p:cNvSpPr/>
          <p:nvPr/>
        </p:nvSpPr>
        <p:spPr>
          <a:xfrm>
            <a:off x="6720840" y="4343400"/>
            <a:ext cx="2103120" cy="411480"/>
          </a:xfrm>
          <a:prstGeom prst="roundRect">
            <a:avLst>
              <a:gd name="adj" fmla="val 8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a:solidFill>
                  <a:srgbClr val="1F8A4D"/>
                </a:solidFill>
                <a:latin typeface="Meiryo"/>
                <a:ea typeface="Meiryo"/>
              </a:rPr>
              <a:t>✓ 総務省に確認済み</a:t>
            </a:r>
          </a:p>
        </p:txBody>
      </p:sp>
      <p:sp>
        <p:nvSpPr>
          <p:cNvPr id="15" name="TextBox 14"/>
          <p:cNvSpPr txBox="1"/>
          <p:nvPr/>
        </p:nvSpPr>
        <p:spPr>
          <a:xfrm>
            <a:off x="0" y="5212080"/>
            <a:ext cx="12191695" cy="457200"/>
          </a:xfrm>
          <a:prstGeom prst="rect">
            <a:avLst/>
          </a:prstGeom>
          <a:noFill/>
        </p:spPr>
        <p:txBody>
          <a:bodyPr wrap="square" anchor="t" lIns="0" rIns="0" tIns="0" bIns="0">
            <a:spAutoFit/>
          </a:bodyPr>
          <a:lstStyle/>
          <a:p>
            <a:pPr algn="ctr">
              <a:lnSpc>
                <a:spcPct val="115000"/>
              </a:lnSpc>
            </a:pPr>
            <a:r>
              <a:rPr sz="1500" b="1">
                <a:solidFill>
                  <a:srgbClr val="5D6F80"/>
                </a:solidFill>
                <a:latin typeface="Meiryo"/>
                <a:ea typeface="Meiryo"/>
              </a:rPr>
              <a:t>自治体様ごとに課題が異なるため、取り組む内容や予算に応じて柔軟にご相談可能です。</a:t>
            </a:r>
          </a:p>
        </p:txBody>
      </p:sp>
      <p:sp>
        <p:nvSpPr>
          <p:cNvPr id="16" name="TextBox 1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7" name="TextBox 1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代表メッセージ</a:t>
            </a:r>
          </a:p>
        </p:txBody>
      </p:sp>
      <p:sp>
        <p:nvSpPr>
          <p:cNvPr id="4" name="Rounded Rectangle 3"/>
          <p:cNvSpPr/>
          <p:nvPr/>
        </p:nvSpPr>
        <p:spPr>
          <a:xfrm>
            <a:off x="822960" y="1371600"/>
            <a:ext cx="3108960" cy="457200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37360" y="1920240"/>
            <a:ext cx="1280160" cy="1280160"/>
          </a:xfrm>
          <a:prstGeom prst="ellipse">
            <a:avLst/>
          </a:prstGeom>
          <a:solidFill>
            <a:srgbClr val="355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4000" b="1">
                <a:solidFill>
                  <a:srgbClr val="CFE0F0"/>
                </a:solidFill>
                <a:latin typeface="Meiryo"/>
                <a:ea typeface="Meiryo"/>
              </a:rPr>
              <a:t>◠</a:t>
            </a:r>
          </a:p>
        </p:txBody>
      </p:sp>
      <p:sp>
        <p:nvSpPr>
          <p:cNvPr id="6" name="TextBox 5"/>
          <p:cNvSpPr txBox="1"/>
          <p:nvPr/>
        </p:nvSpPr>
        <p:spPr>
          <a:xfrm>
            <a:off x="1005840" y="4572000"/>
            <a:ext cx="2743200" cy="548640"/>
          </a:xfrm>
          <a:prstGeom prst="rect">
            <a:avLst/>
          </a:prstGeom>
          <a:noFill/>
        </p:spPr>
        <p:txBody>
          <a:bodyPr wrap="square" anchor="t" lIns="0" rIns="0" tIns="0" bIns="0">
            <a:spAutoFit/>
          </a:bodyPr>
          <a:lstStyle/>
          <a:p>
            <a:pPr algn="l">
              <a:lnSpc>
                <a:spcPct val="115000"/>
              </a:lnSpc>
            </a:pPr>
            <a:r>
              <a:rPr sz="2400" b="1">
                <a:solidFill>
                  <a:srgbClr val="FFFFFF"/>
                </a:solidFill>
                <a:latin typeface="Meiryo"/>
                <a:ea typeface="Meiryo"/>
              </a:rPr>
              <a:t>佐近 航</a:t>
            </a:r>
          </a:p>
        </p:txBody>
      </p:sp>
      <p:sp>
        <p:nvSpPr>
          <p:cNvPr id="7" name="TextBox 6"/>
          <p:cNvSpPr txBox="1"/>
          <p:nvPr/>
        </p:nvSpPr>
        <p:spPr>
          <a:xfrm>
            <a:off x="1005840" y="5120640"/>
            <a:ext cx="2743200" cy="731520"/>
          </a:xfrm>
          <a:prstGeom prst="rect">
            <a:avLst/>
          </a:prstGeom>
          <a:noFill/>
        </p:spPr>
        <p:txBody>
          <a:bodyPr wrap="square" anchor="t" lIns="0" rIns="0" tIns="0" bIns="0">
            <a:spAutoFit/>
          </a:bodyPr>
          <a:lstStyle/>
          <a:p>
            <a:pPr algn="l">
              <a:lnSpc>
                <a:spcPct val="115000"/>
              </a:lnSpc>
            </a:pPr>
            <a:r>
              <a:rPr sz="1200" b="0">
                <a:solidFill>
                  <a:srgbClr val="A9C0D6"/>
                </a:solidFill>
                <a:latin typeface="Meiryo"/>
                <a:ea typeface="Meiryo"/>
              </a:rPr>
              <a:t>株式会社KITAICHI 代表取締役</a:t>
            </a:r>
          </a:p>
          <a:p>
            <a:pPr algn="l">
              <a:lnSpc>
                <a:spcPct val="115000"/>
              </a:lnSpc>
            </a:pPr>
            <a:r>
              <a:rPr sz="1200" b="0">
                <a:solidFill>
                  <a:srgbClr val="A9C0D6"/>
                </a:solidFill>
                <a:latin typeface="Meiryo"/>
                <a:ea typeface="Meiryo"/>
              </a:rPr>
              <a:t>（さこん わたる）</a:t>
            </a:r>
          </a:p>
        </p:txBody>
      </p:sp>
      <p:sp>
        <p:nvSpPr>
          <p:cNvPr id="8" name="TextBox 7"/>
          <p:cNvSpPr txBox="1"/>
          <p:nvPr/>
        </p:nvSpPr>
        <p:spPr>
          <a:xfrm>
            <a:off x="4297680" y="1554480"/>
            <a:ext cx="7315200" cy="2560320"/>
          </a:xfrm>
          <a:prstGeom prst="rect">
            <a:avLst/>
          </a:prstGeom>
          <a:noFill/>
        </p:spPr>
        <p:txBody>
          <a:bodyPr wrap="square" anchor="t" lIns="0" rIns="0" tIns="0" bIns="0">
            <a:spAutoFit/>
          </a:bodyPr>
          <a:lstStyle/>
          <a:p>
            <a:pPr algn="l">
              <a:lnSpc>
                <a:spcPct val="115000"/>
              </a:lnSpc>
            </a:pPr>
            <a:r>
              <a:rPr sz="1600" b="0">
                <a:solidFill>
                  <a:srgbClr val="1B2733"/>
                </a:solidFill>
                <a:latin typeface="Meiryo"/>
                <a:ea typeface="Meiryo"/>
              </a:rPr>
              <a:t>財政破綻を経験した夕張市役所で、地域再生を担当していました。そこで痛感したのが「地域のプレイヤー不足」です。良いアイデアや知恵があっても、それを実行する担い手が足りていません。</a:t>
            </a:r>
          </a:p>
          <a:p>
            <a:pPr algn="l">
              <a:lnSpc>
                <a:spcPct val="115000"/>
              </a:lnSpc>
            </a:pPr>
            <a:r>
              <a:rPr sz="800" b="0">
                <a:solidFill>
                  <a:srgbClr val="1B2733"/>
                </a:solidFill>
                <a:latin typeface="Meiryo"/>
                <a:ea typeface="Meiryo"/>
              </a:rPr>
              <a:t/>
            </a:r>
          </a:p>
          <a:p>
            <a:pPr algn="l">
              <a:lnSpc>
                <a:spcPct val="115000"/>
              </a:lnSpc>
            </a:pPr>
            <a:r>
              <a:rPr sz="1600" b="0">
                <a:solidFill>
                  <a:srgbClr val="1B2733"/>
                </a:solidFill>
                <a:latin typeface="Meiryo"/>
                <a:ea typeface="Meiryo"/>
              </a:rPr>
              <a:t>その課題を解決するためにKITAICHIを創業。地域に新しいことを起こす人たちのクラウドファンディングを通じて、情報発信や応援者との継続的な関係づくりに取り組んでいます。</a:t>
            </a:r>
          </a:p>
        </p:txBody>
      </p:sp>
      <p:sp>
        <p:nvSpPr>
          <p:cNvPr id="9" name="Rounded Rectangle 8"/>
          <p:cNvSpPr/>
          <p:nvPr/>
        </p:nvSpPr>
        <p:spPr>
          <a:xfrm>
            <a:off x="4297680" y="4297680"/>
            <a:ext cx="7315200" cy="1371600"/>
          </a:xfrm>
          <a:prstGeom prst="roundRect">
            <a:avLst>
              <a:gd name="adj" fmla="val 8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4297680"/>
            <a:ext cx="73152" cy="137160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4526280"/>
            <a:ext cx="6858000" cy="1005840"/>
          </a:xfrm>
          <a:prstGeom prst="rect">
            <a:avLst/>
          </a:prstGeom>
          <a:noFill/>
        </p:spPr>
        <p:txBody>
          <a:bodyPr wrap="square" anchor="t" lIns="0" rIns="0" tIns="0" bIns="0">
            <a:spAutoFit/>
          </a:bodyPr>
          <a:lstStyle/>
          <a:p>
            <a:pPr algn="l">
              <a:lnSpc>
                <a:spcPct val="115000"/>
              </a:lnSpc>
            </a:pPr>
            <a:r>
              <a:rPr sz="1600" b="1">
                <a:solidFill>
                  <a:srgbClr val="13314F"/>
                </a:solidFill>
                <a:latin typeface="Meiryo"/>
                <a:ea typeface="Meiryo"/>
              </a:rPr>
              <a:t>ふるさと住民登録制度は、地域の価値に共感する応援者の「質と量」を高め、プレイヤー不足を解決する制度。最大限活用するため、協働させてください。</a:t>
            </a:r>
          </a:p>
        </p:txBody>
      </p:sp>
      <p:sp>
        <p:nvSpPr>
          <p:cNvPr id="12" name="TextBox 11"/>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13" name="TextBox 12"/>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58952" y="640080"/>
            <a:ext cx="292608" cy="45720"/>
          </a:xfrm>
          <a:prstGeom prst="rect">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7315200" cy="320040"/>
          </a:xfrm>
          <a:prstGeom prst="rect">
            <a:avLst/>
          </a:prstGeom>
          <a:noFill/>
        </p:spPr>
        <p:txBody>
          <a:bodyPr wrap="square" anchor="t" lIns="0" rIns="0" tIns="0" bIns="0">
            <a:spAutoFit/>
          </a:bodyPr>
          <a:lstStyle/>
          <a:p>
            <a:pPr algn="l">
              <a:lnSpc>
                <a:spcPct val="115000"/>
              </a:lnSpc>
            </a:pPr>
            <a:r>
              <a:rPr sz="1300" b="1">
                <a:solidFill>
                  <a:srgbClr val="F2762E"/>
                </a:solidFill>
                <a:latin typeface="Meiryo"/>
                <a:ea typeface="Meiryo"/>
              </a:rPr>
              <a:t>運営スタッフ</a:t>
            </a:r>
          </a:p>
        </p:txBody>
      </p:sp>
      <p:sp>
        <p:nvSpPr>
          <p:cNvPr id="4" name="TextBox 3"/>
          <p:cNvSpPr txBox="1"/>
          <p:nvPr/>
        </p:nvSpPr>
        <p:spPr>
          <a:xfrm>
            <a:off x="758952" y="1005840"/>
            <a:ext cx="10058400" cy="640080"/>
          </a:xfrm>
          <a:prstGeom prst="rect">
            <a:avLst/>
          </a:prstGeom>
          <a:noFill/>
        </p:spPr>
        <p:txBody>
          <a:bodyPr wrap="square" anchor="t" lIns="0" rIns="0" tIns="0" bIns="0">
            <a:spAutoFit/>
          </a:bodyPr>
          <a:lstStyle/>
          <a:p>
            <a:pPr algn="l">
              <a:lnSpc>
                <a:spcPct val="115000"/>
              </a:lnSpc>
            </a:pPr>
            <a:r>
              <a:rPr sz="3000" b="1">
                <a:solidFill>
                  <a:srgbClr val="13314F"/>
                </a:solidFill>
                <a:latin typeface="Meiryo"/>
                <a:ea typeface="Meiryo"/>
              </a:rPr>
              <a:t>私たちがサポートします。</a:t>
            </a:r>
          </a:p>
        </p:txBody>
      </p:sp>
      <p:sp>
        <p:nvSpPr>
          <p:cNvPr id="5" name="Rounded Rectangle 4"/>
          <p:cNvSpPr/>
          <p:nvPr/>
        </p:nvSpPr>
        <p:spPr>
          <a:xfrm>
            <a:off x="777240" y="2286000"/>
            <a:ext cx="2606040" cy="29260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7340" y="2651760"/>
            <a:ext cx="1005840" cy="1005840"/>
          </a:xfrm>
          <a:prstGeom prst="ellipse">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7" name="TextBox 6"/>
          <p:cNvSpPr txBox="1"/>
          <p:nvPr/>
        </p:nvSpPr>
        <p:spPr>
          <a:xfrm>
            <a:off x="777240" y="3794760"/>
            <a:ext cx="2606040" cy="365760"/>
          </a:xfrm>
          <a:prstGeom prst="rect">
            <a:avLst/>
          </a:prstGeom>
          <a:noFill/>
        </p:spPr>
        <p:txBody>
          <a:bodyPr wrap="square" anchor="t" lIns="0" rIns="0" tIns="0" bIns="0">
            <a:spAutoFit/>
          </a:bodyPr>
          <a:lstStyle/>
          <a:p>
            <a:pPr algn="ctr">
              <a:lnSpc>
                <a:spcPct val="115000"/>
              </a:lnSpc>
            </a:pPr>
            <a:r>
              <a:rPr sz="1800" b="1">
                <a:solidFill>
                  <a:srgbClr val="13314F"/>
                </a:solidFill>
                <a:latin typeface="Meiryo"/>
                <a:ea typeface="Meiryo"/>
              </a:rPr>
              <a:t>佐近 航</a:t>
            </a:r>
          </a:p>
        </p:txBody>
      </p:sp>
      <p:sp>
        <p:nvSpPr>
          <p:cNvPr id="8" name="TextBox 7"/>
          <p:cNvSpPr txBox="1"/>
          <p:nvPr/>
        </p:nvSpPr>
        <p:spPr>
          <a:xfrm>
            <a:off x="1005840" y="4251960"/>
            <a:ext cx="2148840" cy="914400"/>
          </a:xfrm>
          <a:prstGeom prst="rect">
            <a:avLst/>
          </a:prstGeom>
          <a:noFill/>
        </p:spPr>
        <p:txBody>
          <a:bodyPr wrap="square" anchor="t" lIns="0" rIns="0" tIns="0" bIns="0">
            <a:spAutoFit/>
          </a:bodyPr>
          <a:lstStyle/>
          <a:p>
            <a:pPr algn="ctr">
              <a:lnSpc>
                <a:spcPct val="115000"/>
              </a:lnSpc>
            </a:pPr>
            <a:r>
              <a:rPr sz="1300" b="0">
                <a:solidFill>
                  <a:srgbClr val="5D6F80"/>
                </a:solidFill>
                <a:latin typeface="Meiryo"/>
                <a:ea typeface="Meiryo"/>
              </a:rPr>
              <a:t>行政経験とふるさと納税サイト運営の経験。地域創生はお任せください。</a:t>
            </a:r>
          </a:p>
        </p:txBody>
      </p:sp>
      <p:sp>
        <p:nvSpPr>
          <p:cNvPr id="9" name="Rounded Rectangle 8"/>
          <p:cNvSpPr/>
          <p:nvPr/>
        </p:nvSpPr>
        <p:spPr>
          <a:xfrm>
            <a:off x="3593592" y="2286000"/>
            <a:ext cx="2606040" cy="29260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93692" y="2651760"/>
            <a:ext cx="1005840" cy="1005840"/>
          </a:xfrm>
          <a:prstGeom prst="ellipse">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11" name="TextBox 10"/>
          <p:cNvSpPr txBox="1"/>
          <p:nvPr/>
        </p:nvSpPr>
        <p:spPr>
          <a:xfrm>
            <a:off x="3593592" y="3794760"/>
            <a:ext cx="2606040" cy="365760"/>
          </a:xfrm>
          <a:prstGeom prst="rect">
            <a:avLst/>
          </a:prstGeom>
          <a:noFill/>
        </p:spPr>
        <p:txBody>
          <a:bodyPr wrap="square" anchor="t" lIns="0" rIns="0" tIns="0" bIns="0">
            <a:spAutoFit/>
          </a:bodyPr>
          <a:lstStyle/>
          <a:p>
            <a:pPr algn="ctr">
              <a:lnSpc>
                <a:spcPct val="115000"/>
              </a:lnSpc>
            </a:pPr>
            <a:r>
              <a:rPr sz="1800" b="1">
                <a:solidFill>
                  <a:srgbClr val="13314F"/>
                </a:solidFill>
                <a:latin typeface="Meiryo"/>
                <a:ea typeface="Meiryo"/>
              </a:rPr>
              <a:t>宮岸 由海</a:t>
            </a:r>
          </a:p>
        </p:txBody>
      </p:sp>
      <p:sp>
        <p:nvSpPr>
          <p:cNvPr id="12" name="TextBox 11"/>
          <p:cNvSpPr txBox="1"/>
          <p:nvPr/>
        </p:nvSpPr>
        <p:spPr>
          <a:xfrm>
            <a:off x="3822192" y="4251960"/>
            <a:ext cx="2148840" cy="914400"/>
          </a:xfrm>
          <a:prstGeom prst="rect">
            <a:avLst/>
          </a:prstGeom>
          <a:noFill/>
        </p:spPr>
        <p:txBody>
          <a:bodyPr wrap="square" anchor="t" lIns="0" rIns="0" tIns="0" bIns="0">
            <a:spAutoFit/>
          </a:bodyPr>
          <a:lstStyle/>
          <a:p>
            <a:pPr algn="ctr">
              <a:lnSpc>
                <a:spcPct val="115000"/>
              </a:lnSpc>
            </a:pPr>
            <a:r>
              <a:rPr sz="1300" b="0">
                <a:solidFill>
                  <a:srgbClr val="5D6F80"/>
                </a:solidFill>
                <a:latin typeface="Meiryo"/>
                <a:ea typeface="Meiryo"/>
              </a:rPr>
              <a:t>ふるさと納税サイト運営を経験。学生のプロジェクトに多く関わっています。</a:t>
            </a:r>
          </a:p>
        </p:txBody>
      </p:sp>
      <p:sp>
        <p:nvSpPr>
          <p:cNvPr id="13" name="Rounded Rectangle 12"/>
          <p:cNvSpPr/>
          <p:nvPr/>
        </p:nvSpPr>
        <p:spPr>
          <a:xfrm>
            <a:off x="6409944" y="2286000"/>
            <a:ext cx="2606040" cy="29260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10044" y="2651760"/>
            <a:ext cx="1005840" cy="1005840"/>
          </a:xfrm>
          <a:prstGeom prst="ellipse">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15" name="TextBox 14"/>
          <p:cNvSpPr txBox="1"/>
          <p:nvPr/>
        </p:nvSpPr>
        <p:spPr>
          <a:xfrm>
            <a:off x="6409944" y="3794760"/>
            <a:ext cx="2606040" cy="365760"/>
          </a:xfrm>
          <a:prstGeom prst="rect">
            <a:avLst/>
          </a:prstGeom>
          <a:noFill/>
        </p:spPr>
        <p:txBody>
          <a:bodyPr wrap="square" anchor="t" lIns="0" rIns="0" tIns="0" bIns="0">
            <a:spAutoFit/>
          </a:bodyPr>
          <a:lstStyle/>
          <a:p>
            <a:pPr algn="ctr">
              <a:lnSpc>
                <a:spcPct val="115000"/>
              </a:lnSpc>
            </a:pPr>
            <a:r>
              <a:rPr sz="1800" b="1">
                <a:solidFill>
                  <a:srgbClr val="13314F"/>
                </a:solidFill>
                <a:latin typeface="Meiryo"/>
                <a:ea typeface="Meiryo"/>
              </a:rPr>
              <a:t>佐藤 千咲</a:t>
            </a:r>
          </a:p>
        </p:txBody>
      </p:sp>
      <p:sp>
        <p:nvSpPr>
          <p:cNvPr id="16" name="TextBox 15"/>
          <p:cNvSpPr txBox="1"/>
          <p:nvPr/>
        </p:nvSpPr>
        <p:spPr>
          <a:xfrm>
            <a:off x="6638544" y="4251960"/>
            <a:ext cx="2148840" cy="914400"/>
          </a:xfrm>
          <a:prstGeom prst="rect">
            <a:avLst/>
          </a:prstGeom>
          <a:noFill/>
        </p:spPr>
        <p:txBody>
          <a:bodyPr wrap="square" anchor="t" lIns="0" rIns="0" tIns="0" bIns="0">
            <a:spAutoFit/>
          </a:bodyPr>
          <a:lstStyle/>
          <a:p>
            <a:pPr algn="ctr">
              <a:lnSpc>
                <a:spcPct val="115000"/>
              </a:lnSpc>
            </a:pPr>
            <a:r>
              <a:rPr sz="1300" b="0">
                <a:solidFill>
                  <a:srgbClr val="5D6F80"/>
                </a:solidFill>
                <a:latin typeface="Meiryo"/>
                <a:ea typeface="Meiryo"/>
              </a:rPr>
              <a:t>准認定ファンドレイザー。地域イベントの企画運営にも従事しています。</a:t>
            </a:r>
          </a:p>
        </p:txBody>
      </p:sp>
      <p:sp>
        <p:nvSpPr>
          <p:cNvPr id="17" name="Rounded Rectangle 16"/>
          <p:cNvSpPr/>
          <p:nvPr/>
        </p:nvSpPr>
        <p:spPr>
          <a:xfrm>
            <a:off x="9226296" y="2286000"/>
            <a:ext cx="2606040" cy="2926080"/>
          </a:xfrm>
          <a:prstGeom prst="roundRect">
            <a:avLst>
              <a:gd name="adj" fmla="val 8000"/>
            </a:avLst>
          </a:prstGeom>
          <a:solidFill>
            <a:srgbClr val="F6F9FC"/>
          </a:solidFill>
          <a:ln w="12700">
            <a:solidFill>
              <a:srgbClr val="E2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26396" y="2651760"/>
            <a:ext cx="1005840" cy="1005840"/>
          </a:xfrm>
          <a:prstGeom prst="ellipse">
            <a:avLst/>
          </a:prstGeom>
          <a:solidFill>
            <a:srgbClr val="E7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3000" b="1">
                <a:solidFill>
                  <a:srgbClr val="1F4D77"/>
                </a:solidFill>
                <a:latin typeface="Meiryo"/>
                <a:ea typeface="Meiryo"/>
              </a:rPr>
              <a:t>◠</a:t>
            </a:r>
          </a:p>
        </p:txBody>
      </p:sp>
      <p:sp>
        <p:nvSpPr>
          <p:cNvPr id="19" name="TextBox 18"/>
          <p:cNvSpPr txBox="1"/>
          <p:nvPr/>
        </p:nvSpPr>
        <p:spPr>
          <a:xfrm>
            <a:off x="9226296" y="3794760"/>
            <a:ext cx="2606040" cy="365760"/>
          </a:xfrm>
          <a:prstGeom prst="rect">
            <a:avLst/>
          </a:prstGeom>
          <a:noFill/>
        </p:spPr>
        <p:txBody>
          <a:bodyPr wrap="square" anchor="t" lIns="0" rIns="0" tIns="0" bIns="0">
            <a:spAutoFit/>
          </a:bodyPr>
          <a:lstStyle/>
          <a:p>
            <a:pPr algn="ctr">
              <a:lnSpc>
                <a:spcPct val="115000"/>
              </a:lnSpc>
            </a:pPr>
            <a:r>
              <a:rPr sz="1800" b="1">
                <a:solidFill>
                  <a:srgbClr val="13314F"/>
                </a:solidFill>
                <a:latin typeface="Meiryo"/>
                <a:ea typeface="Meiryo"/>
              </a:rPr>
              <a:t>松代 空</a:t>
            </a:r>
          </a:p>
        </p:txBody>
      </p:sp>
      <p:sp>
        <p:nvSpPr>
          <p:cNvPr id="20" name="TextBox 19"/>
          <p:cNvSpPr txBox="1"/>
          <p:nvPr/>
        </p:nvSpPr>
        <p:spPr>
          <a:xfrm>
            <a:off x="9454896" y="4251960"/>
            <a:ext cx="2148840" cy="914400"/>
          </a:xfrm>
          <a:prstGeom prst="rect">
            <a:avLst/>
          </a:prstGeom>
          <a:noFill/>
        </p:spPr>
        <p:txBody>
          <a:bodyPr wrap="square" anchor="t" lIns="0" rIns="0" tIns="0" bIns="0">
            <a:spAutoFit/>
          </a:bodyPr>
          <a:lstStyle/>
          <a:p>
            <a:pPr algn="ctr">
              <a:lnSpc>
                <a:spcPct val="115000"/>
              </a:lnSpc>
            </a:pPr>
            <a:r>
              <a:rPr sz="1300" b="0">
                <a:solidFill>
                  <a:srgbClr val="5D6F80"/>
                </a:solidFill>
                <a:latin typeface="Meiryo"/>
                <a:ea typeface="Meiryo"/>
              </a:rPr>
              <a:t>宿・カフェ運営を経験。宿や飲食の立ち上げはぜひご相談を。</a:t>
            </a:r>
          </a:p>
        </p:txBody>
      </p:sp>
      <p:sp>
        <p:nvSpPr>
          <p:cNvPr id="21" name="TextBox 20"/>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AAB8C4"/>
                </a:solidFill>
                <a:latin typeface="Meiryo"/>
                <a:ea typeface="Meiryo"/>
              </a:rPr>
              <a:t>KITAICHI</a:t>
            </a:r>
          </a:p>
        </p:txBody>
      </p:sp>
      <p:sp>
        <p:nvSpPr>
          <p:cNvPr id="22" name="TextBox 21"/>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AAB8C4"/>
                </a:solidFill>
                <a:latin typeface="Meiryo"/>
                <a:ea typeface="Meiry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Oval 1"/>
          <p:cNvSpPr/>
          <p:nvPr/>
        </p:nvSpPr>
        <p:spPr>
          <a:xfrm>
            <a:off x="8686800" y="4114800"/>
            <a:ext cx="4572000" cy="4572000"/>
          </a:xfrm>
          <a:prstGeom prst="ellipse">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737360"/>
            <a:ext cx="12191695" cy="365760"/>
          </a:xfrm>
          <a:prstGeom prst="rect">
            <a:avLst/>
          </a:prstGeom>
          <a:noFill/>
        </p:spPr>
        <p:txBody>
          <a:bodyPr wrap="square" anchor="t" lIns="0" rIns="0" tIns="0" bIns="0">
            <a:spAutoFit/>
          </a:bodyPr>
          <a:lstStyle/>
          <a:p>
            <a:pPr algn="ctr">
              <a:lnSpc>
                <a:spcPct val="115000"/>
              </a:lnSpc>
            </a:pPr>
            <a:r>
              <a:rPr sz="1400" b="1">
                <a:solidFill>
                  <a:srgbClr val="FFB066"/>
                </a:solidFill>
                <a:latin typeface="Meiryo"/>
                <a:ea typeface="Meiryo"/>
              </a:rPr>
              <a:t>最後に</a:t>
            </a:r>
          </a:p>
        </p:txBody>
      </p:sp>
      <p:sp>
        <p:nvSpPr>
          <p:cNvPr id="4" name="TextBox 3"/>
          <p:cNvSpPr txBox="1"/>
          <p:nvPr/>
        </p:nvSpPr>
        <p:spPr>
          <a:xfrm>
            <a:off x="914400" y="2286000"/>
            <a:ext cx="10332720" cy="1828800"/>
          </a:xfrm>
          <a:prstGeom prst="rect">
            <a:avLst/>
          </a:prstGeom>
          <a:noFill/>
        </p:spPr>
        <p:txBody>
          <a:bodyPr wrap="square" anchor="t" lIns="0" rIns="0" tIns="0" bIns="0">
            <a:spAutoFit/>
          </a:bodyPr>
          <a:lstStyle/>
          <a:p>
            <a:pPr algn="ctr">
              <a:lnSpc>
                <a:spcPct val="115000"/>
              </a:lnSpc>
            </a:pPr>
            <a:r>
              <a:rPr sz="3200" b="1">
                <a:solidFill>
                  <a:srgbClr val="FFFFFF"/>
                </a:solidFill>
                <a:latin typeface="Meiryo"/>
                <a:ea typeface="Meiryo"/>
              </a:rPr>
              <a:t>地域の担い手と応援者をつなぎ、</a:t>
            </a:r>
          </a:p>
          <a:p>
            <a:pPr algn="ctr">
              <a:lnSpc>
                <a:spcPct val="115000"/>
              </a:lnSpc>
            </a:pPr>
            <a:r>
              <a:rPr sz="3200" b="1">
                <a:solidFill>
                  <a:srgbClr val="FFFFFF"/>
                </a:solidFill>
                <a:latin typeface="Meiryo"/>
                <a:ea typeface="Meiryo"/>
              </a:rPr>
              <a:t>地域の活性化と担い手不足の解消に</a:t>
            </a:r>
          </a:p>
          <a:p>
            <a:pPr algn="ctr">
              <a:lnSpc>
                <a:spcPct val="115000"/>
              </a:lnSpc>
            </a:pPr>
            <a:r>
              <a:rPr sz="3200" b="1">
                <a:solidFill>
                  <a:srgbClr val="FFFFFF"/>
                </a:solidFill>
                <a:latin typeface="Meiryo"/>
                <a:ea typeface="Meiryo"/>
              </a:rPr>
              <a:t>貢献させてください。</a:t>
            </a:r>
          </a:p>
        </p:txBody>
      </p:sp>
      <p:sp>
        <p:nvSpPr>
          <p:cNvPr id="5" name="TextBox 4"/>
          <p:cNvSpPr txBox="1"/>
          <p:nvPr/>
        </p:nvSpPr>
        <p:spPr>
          <a:xfrm>
            <a:off x="2194560" y="4754880"/>
            <a:ext cx="7772400" cy="1097280"/>
          </a:xfrm>
          <a:prstGeom prst="rect">
            <a:avLst/>
          </a:prstGeom>
          <a:noFill/>
        </p:spPr>
        <p:txBody>
          <a:bodyPr wrap="square" anchor="t" lIns="0" rIns="0" tIns="0" bIns="0">
            <a:spAutoFit/>
          </a:bodyPr>
          <a:lstStyle/>
          <a:p>
            <a:pPr algn="ctr">
              <a:lnSpc>
                <a:spcPct val="115000"/>
              </a:lnSpc>
            </a:pPr>
            <a:r>
              <a:rPr sz="1600" b="0">
                <a:solidFill>
                  <a:srgbClr val="CDDDF0"/>
                </a:solidFill>
                <a:latin typeface="Meiryo"/>
                <a:ea typeface="Meiryo"/>
              </a:rPr>
              <a:t>KITAICHIは、クラウドファンディングを通じて地域の挑戦を全国へ届けてきました。その力を、ふるさと住民登録制度の運用に活かします。</a:t>
            </a:r>
          </a:p>
        </p:txBody>
      </p:sp>
      <p:sp>
        <p:nvSpPr>
          <p:cNvPr id="6" name="TextBox 5"/>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7" name="TextBox 6"/>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3314F"/>
        </a:solidFill>
        <a:effectLst/>
      </p:bgPr>
    </p:bg>
    <p:spTree>
      <p:nvGrpSpPr>
        <p:cNvPr id="1" name=""/>
        <p:cNvGrpSpPr/>
        <p:nvPr/>
      </p:nvGrpSpPr>
      <p:grpSpPr/>
      <p:sp>
        <p:nvSpPr>
          <p:cNvPr id="2" name="TextBox 1"/>
          <p:cNvSpPr txBox="1"/>
          <p:nvPr/>
        </p:nvSpPr>
        <p:spPr>
          <a:xfrm>
            <a:off x="0" y="1371600"/>
            <a:ext cx="12191695" cy="365760"/>
          </a:xfrm>
          <a:prstGeom prst="rect">
            <a:avLst/>
          </a:prstGeom>
          <a:noFill/>
        </p:spPr>
        <p:txBody>
          <a:bodyPr wrap="square" anchor="t" lIns="0" rIns="0" tIns="0" bIns="0">
            <a:spAutoFit/>
          </a:bodyPr>
          <a:lstStyle/>
          <a:p>
            <a:pPr algn="ctr">
              <a:lnSpc>
                <a:spcPct val="115000"/>
              </a:lnSpc>
            </a:pPr>
            <a:r>
              <a:rPr sz="1400" b="1">
                <a:solidFill>
                  <a:srgbClr val="FFB066"/>
                </a:solidFill>
                <a:latin typeface="Meiryo"/>
                <a:ea typeface="Meiryo"/>
              </a:rPr>
              <a:t>ご相談・お問い合わせ</a:t>
            </a:r>
          </a:p>
        </p:txBody>
      </p:sp>
      <p:sp>
        <p:nvSpPr>
          <p:cNvPr id="3" name="TextBox 2"/>
          <p:cNvSpPr txBox="1"/>
          <p:nvPr/>
        </p:nvSpPr>
        <p:spPr>
          <a:xfrm>
            <a:off x="0" y="1874519"/>
            <a:ext cx="12191695" cy="640080"/>
          </a:xfrm>
          <a:prstGeom prst="rect">
            <a:avLst/>
          </a:prstGeom>
          <a:noFill/>
        </p:spPr>
        <p:txBody>
          <a:bodyPr wrap="square" anchor="t" lIns="0" rIns="0" tIns="0" bIns="0">
            <a:spAutoFit/>
          </a:bodyPr>
          <a:lstStyle/>
          <a:p>
            <a:pPr algn="ctr">
              <a:lnSpc>
                <a:spcPct val="115000"/>
              </a:lnSpc>
            </a:pPr>
            <a:r>
              <a:rPr sz="3200" b="1">
                <a:solidFill>
                  <a:srgbClr val="FFFFFF"/>
                </a:solidFill>
                <a:latin typeface="Meiryo"/>
                <a:ea typeface="Meiryo"/>
              </a:rPr>
              <a:t>まずは雑談レベルでも大丈夫です。</a:t>
            </a:r>
          </a:p>
        </p:txBody>
      </p:sp>
      <p:sp>
        <p:nvSpPr>
          <p:cNvPr id="4" name="Rounded Rectangle 3"/>
          <p:cNvSpPr/>
          <p:nvPr/>
        </p:nvSpPr>
        <p:spPr>
          <a:xfrm>
            <a:off x="3355848" y="2926080"/>
            <a:ext cx="5486400" cy="868680"/>
          </a:xfrm>
          <a:prstGeom prst="roundRect">
            <a:avLst>
              <a:gd name="adj" fmla="val 50000"/>
            </a:avLst>
          </a:prstGeom>
          <a:solidFill>
            <a:srgbClr val="F276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200" b="1">
                <a:solidFill>
                  <a:srgbClr val="FFFFFF"/>
                </a:solidFill>
                <a:latin typeface="Meiryo"/>
                <a:ea typeface="Meiryo"/>
              </a:rPr>
              <a:t>まず30分のオンライン相談から</a:t>
            </a:r>
          </a:p>
        </p:txBody>
      </p:sp>
      <p:sp>
        <p:nvSpPr>
          <p:cNvPr id="5" name="TextBox 4"/>
          <p:cNvSpPr txBox="1"/>
          <p:nvPr/>
        </p:nvSpPr>
        <p:spPr>
          <a:xfrm>
            <a:off x="2194560" y="4023360"/>
            <a:ext cx="7772400" cy="914400"/>
          </a:xfrm>
          <a:prstGeom prst="rect">
            <a:avLst/>
          </a:prstGeom>
          <a:noFill/>
        </p:spPr>
        <p:txBody>
          <a:bodyPr wrap="square" anchor="t" lIns="0" rIns="0" tIns="0" bIns="0">
            <a:spAutoFit/>
          </a:bodyPr>
          <a:lstStyle/>
          <a:p>
            <a:pPr algn="ctr">
              <a:lnSpc>
                <a:spcPct val="115000"/>
              </a:lnSpc>
            </a:pPr>
            <a:r>
              <a:rPr sz="1700" b="0">
                <a:solidFill>
                  <a:srgbClr val="CDDDF0"/>
                </a:solidFill>
                <a:latin typeface="Meiryo"/>
                <a:ea typeface="Meiryo"/>
              </a:rPr>
              <a:t>御地に合った活用アイデアを、無料でご提案します。</a:t>
            </a:r>
          </a:p>
          <a:p>
            <a:pPr algn="ctr">
              <a:lnSpc>
                <a:spcPct val="115000"/>
              </a:lnSpc>
            </a:pPr>
            <a:r>
              <a:rPr sz="1700" b="0">
                <a:solidFill>
                  <a:srgbClr val="CDDDF0"/>
                </a:solidFill>
                <a:latin typeface="Meiryo"/>
                <a:ea typeface="Meiryo"/>
              </a:rPr>
              <a:t>「うちの町だと何ができる？」を、一緒に考えるところから。</a:t>
            </a:r>
          </a:p>
        </p:txBody>
      </p:sp>
      <p:sp>
        <p:nvSpPr>
          <p:cNvPr id="6" name="Rounded Rectangle 5"/>
          <p:cNvSpPr/>
          <p:nvPr/>
        </p:nvSpPr>
        <p:spPr>
          <a:xfrm>
            <a:off x="3813048" y="5212080"/>
            <a:ext cx="4572000" cy="640080"/>
          </a:xfrm>
          <a:prstGeom prst="roundRect">
            <a:avLst>
              <a:gd name="adj" fmla="val 8000"/>
            </a:avLst>
          </a:prstGeom>
          <a:solidFill>
            <a:srgbClr val="1F4D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2000" b="1">
                <a:solidFill>
                  <a:srgbClr val="FFFFFF"/>
                </a:solidFill>
                <a:latin typeface="Meiryo"/>
                <a:ea typeface="Meiryo"/>
              </a:rPr>
              <a:t>担当：佐近　　✉ info@kita1.jp</a:t>
            </a:r>
          </a:p>
        </p:txBody>
      </p:sp>
      <p:sp>
        <p:nvSpPr>
          <p:cNvPr id="7" name="TextBox 6"/>
          <p:cNvSpPr txBox="1"/>
          <p:nvPr/>
        </p:nvSpPr>
        <p:spPr>
          <a:xfrm>
            <a:off x="457200" y="6446520"/>
            <a:ext cx="2743200" cy="274320"/>
          </a:xfrm>
          <a:prstGeom prst="rect">
            <a:avLst/>
          </a:prstGeom>
          <a:noFill/>
        </p:spPr>
        <p:txBody>
          <a:bodyPr wrap="square" anchor="t" lIns="0" rIns="0" tIns="0" bIns="0">
            <a:spAutoFit/>
          </a:bodyPr>
          <a:lstStyle/>
          <a:p>
            <a:pPr algn="l">
              <a:lnSpc>
                <a:spcPct val="115000"/>
              </a:lnSpc>
            </a:pPr>
            <a:r>
              <a:rPr sz="1000" b="1">
                <a:solidFill>
                  <a:srgbClr val="CDD9E3"/>
                </a:solidFill>
                <a:latin typeface="Meiryo"/>
                <a:ea typeface="Meiryo"/>
              </a:rPr>
              <a:t>KITAICHI</a:t>
            </a:r>
          </a:p>
        </p:txBody>
      </p:sp>
      <p:sp>
        <p:nvSpPr>
          <p:cNvPr id="8" name="TextBox 7"/>
          <p:cNvSpPr txBox="1"/>
          <p:nvPr/>
        </p:nvSpPr>
        <p:spPr>
          <a:xfrm>
            <a:off x="10789920" y="6446520"/>
            <a:ext cx="914400" cy="274320"/>
          </a:xfrm>
          <a:prstGeom prst="rect">
            <a:avLst/>
          </a:prstGeom>
          <a:noFill/>
        </p:spPr>
        <p:txBody>
          <a:bodyPr wrap="square" anchor="t" lIns="0" rIns="0" tIns="0" bIns="0">
            <a:spAutoFit/>
          </a:bodyPr>
          <a:lstStyle/>
          <a:p>
            <a:pPr algn="r">
              <a:lnSpc>
                <a:spcPct val="115000"/>
              </a:lnSpc>
            </a:pPr>
            <a:r>
              <a:rPr sz="1000" b="0">
                <a:solidFill>
                  <a:srgbClr val="CDD9E3"/>
                </a:solidFill>
                <a:latin typeface="Meiryo"/>
                <a:ea typeface="Meiryo"/>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