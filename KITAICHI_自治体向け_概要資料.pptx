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373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0972800" cy="548640"/>
          </a:xfrm>
          <a:prstGeom prst="rect">
            <a:avLst/>
          </a:prstGeom>
          <a:noFill/>
        </p:spPr>
        <p:txBody>
          <a:bodyPr wrap="square" anchor="t" lIns="101600" rIns="101600" tIns="50800" bIns="50800">
            <a:spAutoFit/>
          </a:bodyPr>
          <a:lstStyle/>
          <a:p>
            <a:pPr algn="l">
              <a:spcBef>
                <a:spcPts val="0"/>
              </a:spcBef>
              <a:spcAft>
                <a:spcPts val="300"/>
              </a:spcAft>
            </a:pPr>
            <a:r>
              <a:rPr sz="1800" b="1">
                <a:solidFill>
                  <a:srgbClr val="FFFFFF"/>
                </a:solidFill>
                <a:latin typeface="Yu Gothic"/>
              </a:rPr>
              <a:t>株式会社KITAICHI　ご提案資料</a:t>
            </a:r>
          </a:p>
        </p:txBody>
      </p:sp>
      <p:sp>
        <p:nvSpPr>
          <p:cNvPr id="5" name="TextBox 4"/>
          <p:cNvSpPr txBox="1"/>
          <p:nvPr/>
        </p:nvSpPr>
        <p:spPr>
          <a:xfrm>
            <a:off x="548640" y="777240"/>
            <a:ext cx="11064240" cy="914400"/>
          </a:xfrm>
          <a:prstGeom prst="rect">
            <a:avLst/>
          </a:prstGeom>
          <a:noFill/>
        </p:spPr>
        <p:txBody>
          <a:bodyPr wrap="square" anchor="t" lIns="101600" rIns="101600" tIns="50800" bIns="50800">
            <a:spAutoFit/>
          </a:bodyPr>
          <a:lstStyle/>
          <a:p>
            <a:pPr algn="l">
              <a:spcBef>
                <a:spcPts val="0"/>
              </a:spcBef>
              <a:spcAft>
                <a:spcPts val="300"/>
              </a:spcAft>
            </a:pPr>
            <a:r>
              <a:rPr sz="2600" b="1">
                <a:solidFill>
                  <a:srgbClr val="FFFFFF"/>
                </a:solidFill>
                <a:latin typeface="Yu Gothic"/>
              </a:rPr>
              <a:t>卒業後も地域に残りたい地域おこし協力隊のための</a:t>
            </a:r>
          </a:p>
          <a:p>
            <a:pPr algn="l">
              <a:spcBef>
                <a:spcPts val="0"/>
              </a:spcBef>
              <a:spcAft>
                <a:spcPts val="300"/>
              </a:spcAft>
            </a:pPr>
            <a:r>
              <a:rPr sz="2600" b="1">
                <a:solidFill>
                  <a:srgbClr val="FFFFFF"/>
                </a:solidFill>
                <a:latin typeface="Yu Gothic"/>
              </a:rPr>
              <a:t>定住・起業に向けた伴走支援サポート</a:t>
            </a:r>
          </a:p>
        </p:txBody>
      </p:sp>
      <p:sp>
        <p:nvSpPr>
          <p:cNvPr id="6" name="TextBox 5"/>
          <p:cNvSpPr txBox="1"/>
          <p:nvPr/>
        </p:nvSpPr>
        <p:spPr>
          <a:xfrm>
            <a:off x="548640" y="1965960"/>
            <a:ext cx="10972800" cy="457200"/>
          </a:xfrm>
          <a:prstGeom prst="rect">
            <a:avLst/>
          </a:prstGeom>
          <a:noFill/>
        </p:spPr>
        <p:txBody>
          <a:bodyPr wrap="square" anchor="t" lIns="101600" rIns="101600" tIns="50800" bIns="50800">
            <a:spAutoFit/>
          </a:bodyPr>
          <a:lstStyle/>
          <a:p>
            <a:pPr algn="l">
              <a:spcBef>
                <a:spcPts val="0"/>
              </a:spcBef>
              <a:spcAft>
                <a:spcPts val="300"/>
              </a:spcAft>
            </a:pPr>
            <a:r>
              <a:rPr sz="1800" b="1">
                <a:solidFill>
                  <a:srgbClr val="E06C1F"/>
                </a:solidFill>
                <a:latin typeface="Yu Gothic"/>
              </a:rPr>
              <a:t>■ こんなお悩みはありませんか？</a:t>
            </a:r>
          </a:p>
        </p:txBody>
      </p:sp>
      <p:sp>
        <p:nvSpPr>
          <p:cNvPr id="7" name="Rounded Rectangle 6"/>
          <p:cNvSpPr/>
          <p:nvPr/>
        </p:nvSpPr>
        <p:spPr>
          <a:xfrm>
            <a:off x="548640" y="2468880"/>
            <a:ext cx="5486400" cy="1554480"/>
          </a:xfrm>
          <a:prstGeom prst="roundRect">
            <a:avLst/>
          </a:prstGeom>
          <a:solidFill>
            <a:srgbClr val="F0F4F8"/>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400" b="0">
                <a:solidFill>
                  <a:srgbClr val="555555"/>
                </a:solidFill>
                <a:latin typeface="Yu Gothic"/>
              </a:rPr>
              <a:t>・担当職員が多忙で、協力隊の相談先がない</a:t>
            </a:r>
          </a:p>
          <a:p>
            <a:pPr algn="l">
              <a:spcBef>
                <a:spcPts val="0"/>
              </a:spcBef>
              <a:spcAft>
                <a:spcPts val="300"/>
              </a:spcAft>
            </a:pPr>
            <a:r>
              <a:rPr sz="1400" b="0">
                <a:solidFill>
                  <a:srgbClr val="555555"/>
                </a:solidFill>
                <a:latin typeface="Yu Gothic"/>
              </a:rPr>
              <a:t>・起業・定住したい協力隊への支援方法が分からない</a:t>
            </a:r>
          </a:p>
          <a:p>
            <a:pPr algn="l">
              <a:spcBef>
                <a:spcPts val="0"/>
              </a:spcBef>
              <a:spcAft>
                <a:spcPts val="300"/>
              </a:spcAft>
            </a:pPr>
            <a:r>
              <a:rPr sz="1400" b="0">
                <a:solidFill>
                  <a:srgbClr val="555555"/>
                </a:solidFill>
                <a:latin typeface="Yu Gothic"/>
              </a:rPr>
              <a:t>・貴重な地域プレイヤーの離脱やSNS炎上などの</a:t>
            </a:r>
          </a:p>
          <a:p>
            <a:pPr algn="l">
              <a:spcBef>
                <a:spcPts val="0"/>
              </a:spcBef>
              <a:spcAft>
                <a:spcPts val="300"/>
              </a:spcAft>
            </a:pPr>
            <a:r>
              <a:rPr sz="1400" b="0">
                <a:solidFill>
                  <a:srgbClr val="555555"/>
                </a:solidFill>
                <a:latin typeface="Yu Gothic"/>
              </a:rPr>
              <a:t>　最悪の事態を防ぎたい</a:t>
            </a:r>
          </a:p>
        </p:txBody>
      </p:sp>
      <p:sp>
        <p:nvSpPr>
          <p:cNvPr id="8" name="Rounded Rectangle 7"/>
          <p:cNvSpPr/>
          <p:nvPr/>
        </p:nvSpPr>
        <p:spPr>
          <a:xfrm>
            <a:off x="6355080" y="2468880"/>
            <a:ext cx="5257800" cy="1554480"/>
          </a:xfrm>
          <a:prstGeom prst="round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500" b="1">
                <a:solidFill>
                  <a:srgbClr val="1F3A5F"/>
                </a:solidFill>
                <a:latin typeface="Yu Gothic"/>
              </a:rPr>
              <a:t>会社概要</a:t>
            </a:r>
          </a:p>
          <a:p>
            <a:pPr algn="l">
              <a:spcBef>
                <a:spcPts val="0"/>
              </a:spcBef>
              <a:spcAft>
                <a:spcPts val="300"/>
              </a:spcAft>
            </a:pPr>
            <a:r>
              <a:rPr sz="1200" b="0">
                <a:solidFill>
                  <a:srgbClr val="555555"/>
                </a:solidFill>
                <a:latin typeface="Yu Gothic"/>
              </a:rPr>
              <a:t>株式会社KITAICHI（北海道）／設立：2023年2月</a:t>
            </a:r>
          </a:p>
          <a:p>
            <a:pPr algn="l">
              <a:spcBef>
                <a:spcPts val="0"/>
              </a:spcBef>
              <a:spcAft>
                <a:spcPts val="300"/>
              </a:spcAft>
            </a:pPr>
            <a:r>
              <a:rPr sz="1200" b="0">
                <a:solidFill>
                  <a:srgbClr val="555555"/>
                </a:solidFill>
                <a:latin typeface="Yu Gothic"/>
              </a:rPr>
              <a:t>代表：佐近 航（さこん わたる）</a:t>
            </a:r>
          </a:p>
          <a:p>
            <a:pPr algn="l">
              <a:spcBef>
                <a:spcPts val="0"/>
              </a:spcBef>
              <a:spcAft>
                <a:spcPts val="300"/>
              </a:spcAft>
            </a:pPr>
            <a:r>
              <a:rPr sz="1200" b="0">
                <a:solidFill>
                  <a:srgbClr val="555555"/>
                </a:solidFill>
                <a:latin typeface="Yu Gothic"/>
              </a:rPr>
              <a:t>元・夕張市役所で地域再生を担当。地域のプレイヤー</a:t>
            </a:r>
          </a:p>
          <a:p>
            <a:pPr algn="l">
              <a:spcBef>
                <a:spcPts val="0"/>
              </a:spcBef>
              <a:spcAft>
                <a:spcPts val="300"/>
              </a:spcAft>
            </a:pPr>
            <a:r>
              <a:rPr sz="1200" b="0">
                <a:solidFill>
                  <a:srgbClr val="555555"/>
                </a:solidFill>
                <a:latin typeface="Yu Gothic"/>
              </a:rPr>
              <a:t>不足という課題を解決するため創業しました。</a:t>
            </a:r>
          </a:p>
        </p:txBody>
      </p:sp>
      <p:sp>
        <p:nvSpPr>
          <p:cNvPr id="9" name="Rounded Rectangle 8"/>
          <p:cNvSpPr/>
          <p:nvPr/>
        </p:nvSpPr>
        <p:spPr>
          <a:xfrm>
            <a:off x="548640" y="4251960"/>
            <a:ext cx="11064240" cy="868680"/>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800" b="1">
                <a:solidFill>
                  <a:srgbClr val="FFFFFF"/>
                </a:solidFill>
                <a:latin typeface="Yu Gothic"/>
              </a:rPr>
              <a:t>地域に新しいコトを起こし、たくさんの人から愛される地域をつくる</a:t>
            </a:r>
          </a:p>
        </p:txBody>
      </p:sp>
      <p:sp>
        <p:nvSpPr>
          <p:cNvPr id="10" name="TextBox 9"/>
          <p:cNvSpPr txBox="1"/>
          <p:nvPr/>
        </p:nvSpPr>
        <p:spPr>
          <a:xfrm>
            <a:off x="548640" y="5303520"/>
            <a:ext cx="10972800" cy="411480"/>
          </a:xfrm>
          <a:prstGeom prst="rect">
            <a:avLst/>
          </a:prstGeom>
          <a:noFill/>
        </p:spPr>
        <p:txBody>
          <a:bodyPr wrap="square" anchor="t" lIns="101600" rIns="101600" tIns="50800" bIns="50800">
            <a:spAutoFit/>
          </a:bodyPr>
          <a:lstStyle/>
          <a:p>
            <a:pPr algn="l">
              <a:spcBef>
                <a:spcPts val="0"/>
              </a:spcBef>
              <a:spcAft>
                <a:spcPts val="300"/>
              </a:spcAft>
            </a:pPr>
            <a:r>
              <a:rPr sz="1600" b="1">
                <a:solidFill>
                  <a:srgbClr val="1F3A5F"/>
                </a:solidFill>
                <a:latin typeface="Yu Gothic"/>
              </a:rPr>
              <a:t>■ 事業内容</a:t>
            </a:r>
          </a:p>
        </p:txBody>
      </p:sp>
      <p:sp>
        <p:nvSpPr>
          <p:cNvPr id="11" name="Rounded Rectangle 10"/>
          <p:cNvSpPr/>
          <p:nvPr/>
        </p:nvSpPr>
        <p:spPr>
          <a:xfrm>
            <a:off x="548640" y="5760720"/>
            <a:ext cx="3566160" cy="731520"/>
          </a:xfrm>
          <a:prstGeom prst="roundRect">
            <a:avLst/>
          </a:prstGeom>
          <a:solidFill>
            <a:srgbClr val="F0F4F8"/>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300" b="1">
                <a:solidFill>
                  <a:srgbClr val="1F3A5F"/>
                </a:solidFill>
                <a:latin typeface="Yu Gothic"/>
              </a:rPr>
              <a:t>伴走型クラウドファンディング支援</a:t>
            </a:r>
          </a:p>
        </p:txBody>
      </p:sp>
      <p:sp>
        <p:nvSpPr>
          <p:cNvPr id="12" name="Rounded Rectangle 11"/>
          <p:cNvSpPr/>
          <p:nvPr/>
        </p:nvSpPr>
        <p:spPr>
          <a:xfrm>
            <a:off x="4297680" y="5760720"/>
            <a:ext cx="3566160" cy="731520"/>
          </a:xfrm>
          <a:prstGeom prst="roundRect">
            <a:avLst/>
          </a:prstGeom>
          <a:solidFill>
            <a:srgbClr val="F0F4F8"/>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300" b="1">
                <a:solidFill>
                  <a:srgbClr val="1F3A5F"/>
                </a:solidFill>
                <a:latin typeface="Yu Gothic"/>
              </a:rPr>
              <a:t>ふるさと納税型CF支援</a:t>
            </a:r>
          </a:p>
        </p:txBody>
      </p:sp>
      <p:sp>
        <p:nvSpPr>
          <p:cNvPr id="13" name="Rounded Rectangle 12"/>
          <p:cNvSpPr/>
          <p:nvPr/>
        </p:nvSpPr>
        <p:spPr>
          <a:xfrm>
            <a:off x="8046720" y="5760720"/>
            <a:ext cx="3566160" cy="731520"/>
          </a:xfrm>
          <a:prstGeom prst="roundRect">
            <a:avLst/>
          </a:prstGeom>
          <a:solidFill>
            <a:srgbClr val="F0F4F8"/>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300" b="1">
                <a:solidFill>
                  <a:srgbClr val="1F3A5F"/>
                </a:solidFill>
                <a:latin typeface="Yu Gothic"/>
              </a:rPr>
              <a:t>地域おこし協力隊の活動支援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548640"/>
          </a:xfrm>
          <a:prstGeom prst="rect">
            <a:avLst/>
          </a:prstGeom>
          <a:noFill/>
        </p:spPr>
        <p:txBody>
          <a:bodyPr wrap="square" anchor="t" lIns="101600" rIns="101600" tIns="50800" bIns="50800">
            <a:spAutoFit/>
          </a:bodyPr>
          <a:lstStyle/>
          <a:p>
            <a:pPr algn="l">
              <a:spcBef>
                <a:spcPts val="0"/>
              </a:spcBef>
              <a:spcAft>
                <a:spcPts val="300"/>
              </a:spcAft>
            </a:pPr>
            <a:r>
              <a:rPr sz="2200" b="1">
                <a:solidFill>
                  <a:srgbClr val="FFFFFF"/>
                </a:solidFill>
                <a:latin typeface="Yu Gothic"/>
              </a:rPr>
              <a:t>ご提案内容｜協力隊の定住・起業支援に伴走します</a:t>
            </a:r>
          </a:p>
        </p:txBody>
      </p:sp>
      <p:sp>
        <p:nvSpPr>
          <p:cNvPr id="5" name="TextBox 4"/>
          <p:cNvSpPr txBox="1"/>
          <p:nvPr/>
        </p:nvSpPr>
        <p:spPr>
          <a:xfrm>
            <a:off x="548640" y="1097280"/>
            <a:ext cx="11064240" cy="1188720"/>
          </a:xfrm>
          <a:prstGeom prst="rect">
            <a:avLst/>
          </a:prstGeom>
          <a:noFill/>
        </p:spPr>
        <p:txBody>
          <a:bodyPr wrap="square" anchor="t" lIns="101600" rIns="101600" tIns="50800" bIns="50800">
            <a:spAutoFit/>
          </a:bodyPr>
          <a:lstStyle/>
          <a:p>
            <a:pPr algn="l">
              <a:spcBef>
                <a:spcPts val="0"/>
              </a:spcBef>
              <a:spcAft>
                <a:spcPts val="300"/>
              </a:spcAft>
            </a:pPr>
            <a:r>
              <a:rPr sz="1400" b="0">
                <a:solidFill>
                  <a:srgbClr val="555555"/>
                </a:solidFill>
                <a:latin typeface="Yu Gothic"/>
              </a:rPr>
              <a:t>起業したい協力隊に対し、公益財団法人はまなす財団や商工会等の団体と連携し、事業計画の策定に伴走します。</a:t>
            </a:r>
          </a:p>
          <a:p>
            <a:pPr algn="l">
              <a:spcBef>
                <a:spcPts val="0"/>
              </a:spcBef>
              <a:spcAft>
                <a:spcPts val="300"/>
              </a:spcAft>
            </a:pPr>
            <a:r>
              <a:rPr sz="1400" b="0">
                <a:solidFill>
                  <a:srgbClr val="555555"/>
                </a:solidFill>
                <a:latin typeface="Yu Gothic"/>
              </a:rPr>
              <a:t>融資・補助金に加え、クラウドファンディングを活用して起業の資金調達とファン獲得に貢献します。</a:t>
            </a:r>
          </a:p>
          <a:p>
            <a:pPr algn="l">
              <a:spcBef>
                <a:spcPts val="0"/>
              </a:spcBef>
              <a:spcAft>
                <a:spcPts val="300"/>
              </a:spcAft>
            </a:pPr>
            <a:r>
              <a:rPr sz="1500" b="1">
                <a:solidFill>
                  <a:srgbClr val="2E8B57"/>
                </a:solidFill>
                <a:latin typeface="Yu Gothic"/>
              </a:rPr>
              <a:t>→ 地域プレイヤーとして自立し、地域の未来に貢献する人材へ。</a:t>
            </a:r>
          </a:p>
        </p:txBody>
      </p:sp>
      <p:sp>
        <p:nvSpPr>
          <p:cNvPr id="6" name="TextBox 5"/>
          <p:cNvSpPr txBox="1"/>
          <p:nvPr/>
        </p:nvSpPr>
        <p:spPr>
          <a:xfrm>
            <a:off x="548640" y="2606040"/>
            <a:ext cx="10972800" cy="411480"/>
          </a:xfrm>
          <a:prstGeom prst="rect">
            <a:avLst/>
          </a:prstGeom>
          <a:noFill/>
        </p:spPr>
        <p:txBody>
          <a:bodyPr wrap="square" anchor="t" lIns="101600" rIns="101600" tIns="50800" bIns="50800">
            <a:spAutoFit/>
          </a:bodyPr>
          <a:lstStyle/>
          <a:p>
            <a:pPr algn="l">
              <a:spcBef>
                <a:spcPts val="0"/>
              </a:spcBef>
              <a:spcAft>
                <a:spcPts val="300"/>
              </a:spcAft>
            </a:pPr>
            <a:r>
              <a:rPr sz="1800" b="1">
                <a:solidFill>
                  <a:srgbClr val="1F3A5F"/>
                </a:solidFill>
                <a:latin typeface="Yu Gothic"/>
              </a:rPr>
              <a:t>■ ご支援の流れ</a:t>
            </a:r>
          </a:p>
        </p:txBody>
      </p:sp>
      <p:sp>
        <p:nvSpPr>
          <p:cNvPr id="7" name="Rounded Rectangle 6"/>
          <p:cNvSpPr/>
          <p:nvPr/>
        </p:nvSpPr>
        <p:spPr>
          <a:xfrm>
            <a:off x="548640" y="3108960"/>
            <a:ext cx="2468880" cy="1188720"/>
          </a:xfrm>
          <a:prstGeom prst="round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500" b="1">
                <a:solidFill>
                  <a:srgbClr val="FFFFFF"/>
                </a:solidFill>
                <a:latin typeface="Yu Gothic"/>
              </a:rPr>
              <a:t>ヒアリング</a:t>
            </a:r>
          </a:p>
          <a:p>
            <a:pPr algn="ctr">
              <a:spcBef>
                <a:spcPts val="0"/>
              </a:spcBef>
              <a:spcAft>
                <a:spcPts val="300"/>
              </a:spcAft>
            </a:pPr>
            <a:r>
              <a:rPr sz="1500" b="1">
                <a:solidFill>
                  <a:srgbClr val="FFFFFF"/>
                </a:solidFill>
                <a:latin typeface="Yu Gothic"/>
              </a:rPr>
              <a:t>相談対応</a:t>
            </a:r>
          </a:p>
        </p:txBody>
      </p:sp>
      <p:sp>
        <p:nvSpPr>
          <p:cNvPr id="8" name="TextBox 7"/>
          <p:cNvSpPr txBox="1"/>
          <p:nvPr/>
        </p:nvSpPr>
        <p:spPr>
          <a:xfrm>
            <a:off x="3017520" y="3108960"/>
            <a:ext cx="411480" cy="1188720"/>
          </a:xfrm>
          <a:prstGeom prst="rect">
            <a:avLst/>
          </a:prstGeom>
          <a:noFill/>
        </p:spPr>
        <p:txBody>
          <a:bodyPr wrap="square" anchor="ctr" lIns="101600" rIns="101600" tIns="50800" bIns="50800">
            <a:spAutoFit/>
          </a:bodyPr>
          <a:lstStyle/>
          <a:p>
            <a:pPr algn="ctr">
              <a:spcBef>
                <a:spcPts val="0"/>
              </a:spcBef>
              <a:spcAft>
                <a:spcPts val="300"/>
              </a:spcAft>
            </a:pPr>
            <a:r>
              <a:rPr sz="2000" b="1">
                <a:solidFill>
                  <a:srgbClr val="1F3A5F"/>
                </a:solidFill>
                <a:latin typeface="Yu Gothic"/>
              </a:rPr>
              <a:t>▶</a:t>
            </a:r>
          </a:p>
        </p:txBody>
      </p:sp>
      <p:sp>
        <p:nvSpPr>
          <p:cNvPr id="9" name="Rounded Rectangle 8"/>
          <p:cNvSpPr/>
          <p:nvPr/>
        </p:nvSpPr>
        <p:spPr>
          <a:xfrm>
            <a:off x="3429000" y="3108960"/>
            <a:ext cx="2468880" cy="1188720"/>
          </a:xfrm>
          <a:prstGeom prst="round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500" b="1">
                <a:solidFill>
                  <a:srgbClr val="FFFFFF"/>
                </a:solidFill>
                <a:latin typeface="Yu Gothic"/>
              </a:rPr>
              <a:t>事業計画の</a:t>
            </a:r>
          </a:p>
          <a:p>
            <a:pPr algn="ctr">
              <a:spcBef>
                <a:spcPts val="0"/>
              </a:spcBef>
              <a:spcAft>
                <a:spcPts val="300"/>
              </a:spcAft>
            </a:pPr>
            <a:r>
              <a:rPr sz="1500" b="1">
                <a:solidFill>
                  <a:srgbClr val="FFFFFF"/>
                </a:solidFill>
                <a:latin typeface="Yu Gothic"/>
              </a:rPr>
              <a:t>策定支援</a:t>
            </a:r>
          </a:p>
        </p:txBody>
      </p:sp>
      <p:sp>
        <p:nvSpPr>
          <p:cNvPr id="10" name="TextBox 9"/>
          <p:cNvSpPr txBox="1"/>
          <p:nvPr/>
        </p:nvSpPr>
        <p:spPr>
          <a:xfrm>
            <a:off x="5897880" y="3108960"/>
            <a:ext cx="411480" cy="1188720"/>
          </a:xfrm>
          <a:prstGeom prst="rect">
            <a:avLst/>
          </a:prstGeom>
          <a:noFill/>
        </p:spPr>
        <p:txBody>
          <a:bodyPr wrap="square" anchor="ctr" lIns="101600" rIns="101600" tIns="50800" bIns="50800">
            <a:spAutoFit/>
          </a:bodyPr>
          <a:lstStyle/>
          <a:p>
            <a:pPr algn="ctr">
              <a:spcBef>
                <a:spcPts val="0"/>
              </a:spcBef>
              <a:spcAft>
                <a:spcPts val="300"/>
              </a:spcAft>
            </a:pPr>
            <a:r>
              <a:rPr sz="2000" b="1">
                <a:solidFill>
                  <a:srgbClr val="1F3A5F"/>
                </a:solidFill>
                <a:latin typeface="Yu Gothic"/>
              </a:rPr>
              <a:t>▶</a:t>
            </a:r>
          </a:p>
        </p:txBody>
      </p:sp>
      <p:sp>
        <p:nvSpPr>
          <p:cNvPr id="11" name="Rounded Rectangle 10"/>
          <p:cNvSpPr/>
          <p:nvPr/>
        </p:nvSpPr>
        <p:spPr>
          <a:xfrm>
            <a:off x="6309360" y="3108960"/>
            <a:ext cx="2468880" cy="1188720"/>
          </a:xfrm>
          <a:prstGeom prst="roundRect">
            <a:avLst/>
          </a:prstGeom>
          <a:solidFill>
            <a:srgbClr val="2E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500" b="1">
                <a:solidFill>
                  <a:srgbClr val="FFFFFF"/>
                </a:solidFill>
                <a:latin typeface="Yu Gothic"/>
              </a:rPr>
              <a:t>クラウド</a:t>
            </a:r>
          </a:p>
          <a:p>
            <a:pPr algn="ctr">
              <a:spcBef>
                <a:spcPts val="0"/>
              </a:spcBef>
              <a:spcAft>
                <a:spcPts val="300"/>
              </a:spcAft>
            </a:pPr>
            <a:r>
              <a:rPr sz="1500" b="1">
                <a:solidFill>
                  <a:srgbClr val="FFFFFF"/>
                </a:solidFill>
                <a:latin typeface="Yu Gothic"/>
              </a:rPr>
              <a:t>ファンディング</a:t>
            </a:r>
          </a:p>
          <a:p>
            <a:pPr algn="ctr">
              <a:spcBef>
                <a:spcPts val="0"/>
              </a:spcBef>
              <a:spcAft>
                <a:spcPts val="300"/>
              </a:spcAft>
            </a:pPr>
            <a:r>
              <a:rPr sz="1500" b="1">
                <a:solidFill>
                  <a:srgbClr val="FFFFFF"/>
                </a:solidFill>
                <a:latin typeface="Yu Gothic"/>
              </a:rPr>
              <a:t>伴走支援</a:t>
            </a:r>
          </a:p>
        </p:txBody>
      </p:sp>
      <p:sp>
        <p:nvSpPr>
          <p:cNvPr id="12" name="TextBox 11"/>
          <p:cNvSpPr txBox="1"/>
          <p:nvPr/>
        </p:nvSpPr>
        <p:spPr>
          <a:xfrm>
            <a:off x="8778240" y="3108960"/>
            <a:ext cx="411480" cy="1188720"/>
          </a:xfrm>
          <a:prstGeom prst="rect">
            <a:avLst/>
          </a:prstGeom>
          <a:noFill/>
        </p:spPr>
        <p:txBody>
          <a:bodyPr wrap="square" anchor="ctr" lIns="101600" rIns="101600" tIns="50800" bIns="50800">
            <a:spAutoFit/>
          </a:bodyPr>
          <a:lstStyle/>
          <a:p>
            <a:pPr algn="ctr">
              <a:spcBef>
                <a:spcPts val="0"/>
              </a:spcBef>
              <a:spcAft>
                <a:spcPts val="300"/>
              </a:spcAft>
            </a:pPr>
            <a:r>
              <a:rPr sz="2000" b="1">
                <a:solidFill>
                  <a:srgbClr val="1F3A5F"/>
                </a:solidFill>
                <a:latin typeface="Yu Gothic"/>
              </a:rPr>
              <a:t>▶</a:t>
            </a:r>
          </a:p>
        </p:txBody>
      </p:sp>
      <p:sp>
        <p:nvSpPr>
          <p:cNvPr id="13" name="Rounded Rectangle 12"/>
          <p:cNvSpPr/>
          <p:nvPr/>
        </p:nvSpPr>
        <p:spPr>
          <a:xfrm>
            <a:off x="9189720" y="3108960"/>
            <a:ext cx="2468880" cy="1188720"/>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500" b="1">
                <a:solidFill>
                  <a:srgbClr val="FFFFFF"/>
                </a:solidFill>
                <a:latin typeface="Yu Gothic"/>
              </a:rPr>
              <a:t>起業の実現</a:t>
            </a:r>
          </a:p>
        </p:txBody>
      </p:sp>
      <p:sp>
        <p:nvSpPr>
          <p:cNvPr id="14" name="Rounded Rectangle 13"/>
          <p:cNvSpPr/>
          <p:nvPr/>
        </p:nvSpPr>
        <p:spPr>
          <a:xfrm>
            <a:off x="548640" y="4572000"/>
            <a:ext cx="11064240" cy="1463040"/>
          </a:xfrm>
          <a:prstGeom prst="roundRect">
            <a:avLst/>
          </a:prstGeom>
          <a:solidFill>
            <a:srgbClr val="F0F4F8"/>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500" b="1">
                <a:solidFill>
                  <a:srgbClr val="E06C1F"/>
                </a:solidFill>
                <a:latin typeface="Yu Gothic"/>
              </a:rPr>
              <a:t>ポイント</a:t>
            </a:r>
          </a:p>
          <a:p>
            <a:pPr algn="l">
              <a:spcBef>
                <a:spcPts val="0"/>
              </a:spcBef>
              <a:spcAft>
                <a:spcPts val="300"/>
              </a:spcAft>
            </a:pPr>
            <a:r>
              <a:rPr sz="1400" b="0">
                <a:solidFill>
                  <a:srgbClr val="555555"/>
                </a:solidFill>
                <a:latin typeface="Yu Gothic"/>
              </a:rPr>
              <a:t>・各自治体様のご状況を踏まえ、サポート内容を柔軟にご提案いたします。</a:t>
            </a:r>
          </a:p>
          <a:p>
            <a:pPr algn="l">
              <a:spcBef>
                <a:spcPts val="0"/>
              </a:spcBef>
              <a:spcAft>
                <a:spcPts val="300"/>
              </a:spcAft>
            </a:pPr>
            <a:r>
              <a:rPr sz="1400" b="0">
                <a:solidFill>
                  <a:srgbClr val="555555"/>
                </a:solidFill>
                <a:latin typeface="Yu Gothic"/>
              </a:rPr>
              <a:t>・契約締結後からサポートを開始いたします。</a:t>
            </a:r>
          </a:p>
          <a:p>
            <a:pPr algn="l">
              <a:spcBef>
                <a:spcPts val="0"/>
              </a:spcBef>
              <a:spcAft>
                <a:spcPts val="300"/>
              </a:spcAft>
            </a:pPr>
            <a:r>
              <a:rPr sz="1400" b="0">
                <a:solidFill>
                  <a:srgbClr val="555555"/>
                </a:solidFill>
                <a:latin typeface="Yu Gothic"/>
              </a:rPr>
              <a:t>・特別交付税措置の範囲内での実施が可能です。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972800" cy="548640"/>
          </a:xfrm>
          <a:prstGeom prst="rect">
            <a:avLst/>
          </a:prstGeom>
          <a:noFill/>
        </p:spPr>
        <p:txBody>
          <a:bodyPr wrap="square" anchor="t" lIns="101600" rIns="101600" tIns="50800" bIns="50800">
            <a:spAutoFit/>
          </a:bodyPr>
          <a:lstStyle/>
          <a:p>
            <a:pPr algn="l">
              <a:spcBef>
                <a:spcPts val="0"/>
              </a:spcBef>
              <a:spcAft>
                <a:spcPts val="300"/>
              </a:spcAft>
            </a:pPr>
            <a:r>
              <a:rPr sz="2200" b="1">
                <a:solidFill>
                  <a:srgbClr val="FFFFFF"/>
                </a:solidFill>
                <a:latin typeface="Yu Gothic"/>
              </a:rPr>
              <a:t>実績とサポートの強み</a:t>
            </a:r>
          </a:p>
        </p:txBody>
      </p:sp>
      <p:sp>
        <p:nvSpPr>
          <p:cNvPr id="5" name="TextBox 4"/>
          <p:cNvSpPr txBox="1"/>
          <p:nvPr/>
        </p:nvSpPr>
        <p:spPr>
          <a:xfrm>
            <a:off x="548640" y="1097280"/>
            <a:ext cx="10972800" cy="411480"/>
          </a:xfrm>
          <a:prstGeom prst="rect">
            <a:avLst/>
          </a:prstGeom>
          <a:noFill/>
        </p:spPr>
        <p:txBody>
          <a:bodyPr wrap="square" anchor="t" lIns="101600" rIns="101600" tIns="50800" bIns="50800">
            <a:spAutoFit/>
          </a:bodyPr>
          <a:lstStyle/>
          <a:p>
            <a:pPr algn="l">
              <a:spcBef>
                <a:spcPts val="0"/>
              </a:spcBef>
              <a:spcAft>
                <a:spcPts val="300"/>
              </a:spcAft>
            </a:pPr>
            <a:r>
              <a:rPr sz="1800" b="1">
                <a:solidFill>
                  <a:srgbClr val="1F3A5F"/>
                </a:solidFill>
                <a:latin typeface="Yu Gothic"/>
              </a:rPr>
              <a:t>■ 実績</a:t>
            </a:r>
          </a:p>
        </p:txBody>
      </p:sp>
      <p:sp>
        <p:nvSpPr>
          <p:cNvPr id="6" name="Rounded Rectangle 5"/>
          <p:cNvSpPr/>
          <p:nvPr/>
        </p:nvSpPr>
        <p:spPr>
          <a:xfrm>
            <a:off x="548640" y="1554480"/>
            <a:ext cx="5394960" cy="1737360"/>
          </a:xfrm>
          <a:prstGeom prst="roundRect">
            <a:avLst/>
          </a:prstGeom>
          <a:solidFill>
            <a:srgbClr val="F0F4F8"/>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400" b="1">
                <a:solidFill>
                  <a:srgbClr val="1F3A5F"/>
                </a:solidFill>
                <a:latin typeface="Yu Gothic"/>
              </a:rPr>
              <a:t>地域おこし協力隊CFアワード2023 日本一</a:t>
            </a:r>
          </a:p>
          <a:p>
            <a:pPr algn="l">
              <a:spcBef>
                <a:spcPts val="0"/>
              </a:spcBef>
              <a:spcAft>
                <a:spcPts val="300"/>
              </a:spcAft>
            </a:pPr>
            <a:r>
              <a:rPr sz="1300" b="0">
                <a:solidFill>
                  <a:srgbClr val="555555"/>
                </a:solidFill>
                <a:latin typeface="Yu Gothic"/>
              </a:rPr>
              <a:t>CAMPFIREとパートナー連携し起業支援を実施。</a:t>
            </a:r>
          </a:p>
          <a:p>
            <a:pPr algn="l">
              <a:spcBef>
                <a:spcPts val="0"/>
              </a:spcBef>
              <a:spcAft>
                <a:spcPts val="300"/>
              </a:spcAft>
            </a:pPr>
            <a:r>
              <a:rPr sz="1300" b="0">
                <a:solidFill>
                  <a:srgbClr val="555555"/>
                </a:solidFill>
                <a:latin typeface="Yu Gothic"/>
              </a:rPr>
              <a:t>ふるさとチョイスCF（令和7年度）運営受託、</a:t>
            </a:r>
          </a:p>
          <a:p>
            <a:pPr algn="l">
              <a:spcBef>
                <a:spcPts val="0"/>
              </a:spcBef>
              <a:spcAft>
                <a:spcPts val="300"/>
              </a:spcAft>
            </a:pPr>
            <a:r>
              <a:rPr sz="1300" b="0">
                <a:solidFill>
                  <a:srgbClr val="555555"/>
                </a:solidFill>
                <a:latin typeface="Yu Gothic"/>
              </a:rPr>
              <a:t>全国850プロジェクトの立ち上げをサポート。</a:t>
            </a:r>
          </a:p>
        </p:txBody>
      </p:sp>
      <p:sp>
        <p:nvSpPr>
          <p:cNvPr id="7" name="Rounded Rectangle 6"/>
          <p:cNvSpPr/>
          <p:nvPr/>
        </p:nvSpPr>
        <p:spPr>
          <a:xfrm>
            <a:off x="6217920" y="1554480"/>
            <a:ext cx="5394960" cy="1737360"/>
          </a:xfrm>
          <a:prstGeom prst="roundRect">
            <a:avLst/>
          </a:prstGeom>
          <a:solidFill>
            <a:srgbClr val="F0F4F8"/>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400" b="1">
                <a:solidFill>
                  <a:srgbClr val="1F3A5F"/>
                </a:solidFill>
                <a:latin typeface="Yu Gothic"/>
              </a:rPr>
              <a:t>北海道上川町・協力隊の起業プロジェクト</a:t>
            </a:r>
          </a:p>
          <a:p>
            <a:pPr algn="l">
              <a:spcBef>
                <a:spcPts val="0"/>
              </a:spcBef>
              <a:spcAft>
                <a:spcPts val="300"/>
              </a:spcAft>
            </a:pPr>
            <a:r>
              <a:rPr sz="1300" b="0">
                <a:solidFill>
                  <a:srgbClr val="555555"/>
                </a:solidFill>
                <a:latin typeface="Yu Gothic"/>
              </a:rPr>
              <a:t>ページ制作・リターン設計・プロモーション戦略を支援。</a:t>
            </a:r>
          </a:p>
          <a:p>
            <a:pPr algn="l">
              <a:spcBef>
                <a:spcPts val="0"/>
              </a:spcBef>
              <a:spcAft>
                <a:spcPts val="300"/>
              </a:spcAft>
            </a:pPr>
            <a:r>
              <a:rPr sz="1300" b="1">
                <a:solidFill>
                  <a:srgbClr val="2E8B57"/>
                </a:solidFill>
                <a:latin typeface="Yu Gothic"/>
              </a:rPr>
              <a:t>開始1週間で230万円、最終的に400万円の支援を獲得。</a:t>
            </a:r>
          </a:p>
        </p:txBody>
      </p:sp>
      <p:sp>
        <p:nvSpPr>
          <p:cNvPr id="8" name="TextBox 7"/>
          <p:cNvSpPr txBox="1"/>
          <p:nvPr/>
        </p:nvSpPr>
        <p:spPr>
          <a:xfrm>
            <a:off x="548640" y="3474720"/>
            <a:ext cx="10972800" cy="411480"/>
          </a:xfrm>
          <a:prstGeom prst="rect">
            <a:avLst/>
          </a:prstGeom>
          <a:noFill/>
        </p:spPr>
        <p:txBody>
          <a:bodyPr wrap="square" anchor="t" lIns="101600" rIns="101600" tIns="50800" bIns="50800">
            <a:spAutoFit/>
          </a:bodyPr>
          <a:lstStyle/>
          <a:p>
            <a:pPr algn="l">
              <a:spcBef>
                <a:spcPts val="0"/>
              </a:spcBef>
              <a:spcAft>
                <a:spcPts val="300"/>
              </a:spcAft>
            </a:pPr>
            <a:r>
              <a:rPr sz="1800" b="1">
                <a:solidFill>
                  <a:srgbClr val="1F3A5F"/>
                </a:solidFill>
                <a:latin typeface="Yu Gothic"/>
              </a:rPr>
              <a:t>■ サポートの3つの強み</a:t>
            </a:r>
          </a:p>
        </p:txBody>
      </p:sp>
      <p:sp>
        <p:nvSpPr>
          <p:cNvPr id="9" name="Rounded Rectangle 8"/>
          <p:cNvSpPr/>
          <p:nvPr/>
        </p:nvSpPr>
        <p:spPr>
          <a:xfrm>
            <a:off x="548640" y="3931920"/>
            <a:ext cx="3566160" cy="1371600"/>
          </a:xfrm>
          <a:prstGeom prst="roundRect">
            <a:avLst/>
          </a:prstGeom>
          <a:solidFill>
            <a:srgbClr val="FFFFFF"/>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400" b="1">
                <a:solidFill>
                  <a:srgbClr val="2E6FB5"/>
                </a:solidFill>
                <a:latin typeface="Yu Gothic"/>
              </a:rPr>
              <a:t>① 全体の見える化</a:t>
            </a:r>
          </a:p>
          <a:p>
            <a:pPr algn="l">
              <a:spcBef>
                <a:spcPts val="0"/>
              </a:spcBef>
              <a:spcAft>
                <a:spcPts val="300"/>
              </a:spcAft>
            </a:pPr>
            <a:r>
              <a:rPr sz="1200" b="0">
                <a:solidFill>
                  <a:srgbClr val="555555"/>
                </a:solidFill>
                <a:latin typeface="Yu Gothic"/>
              </a:rPr>
              <a:t>「いつ・何を」やるか全体を設計し、的確なプロジェクト管理を実現。</a:t>
            </a:r>
          </a:p>
        </p:txBody>
      </p:sp>
      <p:sp>
        <p:nvSpPr>
          <p:cNvPr id="10" name="Rounded Rectangle 9"/>
          <p:cNvSpPr/>
          <p:nvPr/>
        </p:nvSpPr>
        <p:spPr>
          <a:xfrm>
            <a:off x="4297680" y="3931920"/>
            <a:ext cx="3566160" cy="1371600"/>
          </a:xfrm>
          <a:prstGeom prst="roundRect">
            <a:avLst/>
          </a:prstGeom>
          <a:solidFill>
            <a:srgbClr val="FFFFFF"/>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400" b="1">
                <a:solidFill>
                  <a:srgbClr val="2E6FB5"/>
                </a:solidFill>
                <a:latin typeface="Yu Gothic"/>
              </a:rPr>
              <a:t>② CFのプロが戦略立案</a:t>
            </a:r>
          </a:p>
          <a:p>
            <a:pPr algn="l">
              <a:spcBef>
                <a:spcPts val="0"/>
              </a:spcBef>
              <a:spcAft>
                <a:spcPts val="300"/>
              </a:spcAft>
            </a:pPr>
            <a:r>
              <a:rPr sz="1200" b="0">
                <a:solidFill>
                  <a:srgbClr val="555555"/>
                </a:solidFill>
                <a:latin typeface="Yu Gothic"/>
              </a:rPr>
              <a:t>元自治体職員・元サイト運営者・ファンドレイザーが戦略を立案。</a:t>
            </a:r>
          </a:p>
        </p:txBody>
      </p:sp>
      <p:sp>
        <p:nvSpPr>
          <p:cNvPr id="11" name="Rounded Rectangle 10"/>
          <p:cNvSpPr/>
          <p:nvPr/>
        </p:nvSpPr>
        <p:spPr>
          <a:xfrm>
            <a:off x="8046720" y="3931920"/>
            <a:ext cx="3566160" cy="1371600"/>
          </a:xfrm>
          <a:prstGeom prst="roundRect">
            <a:avLst/>
          </a:prstGeom>
          <a:solidFill>
            <a:srgbClr val="FFFFFF"/>
          </a:solidFill>
          <a:ln w="12700">
            <a:solidFill>
              <a:srgbClr val="2E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l">
              <a:spcBef>
                <a:spcPts val="0"/>
              </a:spcBef>
              <a:spcAft>
                <a:spcPts val="300"/>
              </a:spcAft>
            </a:pPr>
            <a:r>
              <a:rPr sz="1400" b="1">
                <a:solidFill>
                  <a:srgbClr val="2E6FB5"/>
                </a:solidFill>
                <a:latin typeface="Yu Gothic"/>
              </a:rPr>
              <a:t>③ 最後まで寄り添う伴走力</a:t>
            </a:r>
          </a:p>
          <a:p>
            <a:pPr algn="l">
              <a:spcBef>
                <a:spcPts val="0"/>
              </a:spcBef>
              <a:spcAft>
                <a:spcPts val="300"/>
              </a:spcAft>
            </a:pPr>
            <a:r>
              <a:rPr sz="1200" b="0">
                <a:solidFill>
                  <a:srgbClr val="555555"/>
                </a:solidFill>
                <a:latin typeface="Yu Gothic"/>
              </a:rPr>
              <a:t>密なコミュニケーションと進行管理で一人にしません。</a:t>
            </a:r>
          </a:p>
        </p:txBody>
      </p:sp>
      <p:sp>
        <p:nvSpPr>
          <p:cNvPr id="12" name="Rounded Rectangle 11"/>
          <p:cNvSpPr/>
          <p:nvPr/>
        </p:nvSpPr>
        <p:spPr>
          <a:xfrm>
            <a:off x="548640" y="5532120"/>
            <a:ext cx="11064240" cy="96012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spcBef>
                <a:spcPts val="0"/>
              </a:spcBef>
              <a:spcAft>
                <a:spcPts val="300"/>
              </a:spcAft>
            </a:pPr>
            <a:r>
              <a:rPr sz="1600" b="1">
                <a:solidFill>
                  <a:srgbClr val="FFFFFF"/>
                </a:solidFill>
                <a:latin typeface="Yu Gothic"/>
              </a:rPr>
              <a:t>ご相談・お問い合わせ</a:t>
            </a:r>
          </a:p>
          <a:p>
            <a:pPr algn="ctr">
              <a:spcBef>
                <a:spcPts val="0"/>
              </a:spcBef>
              <a:spcAft>
                <a:spcPts val="300"/>
              </a:spcAft>
            </a:pPr>
            <a:r>
              <a:rPr sz="1300" b="0">
                <a:solidFill>
                  <a:srgbClr val="FFFFFF"/>
                </a:solidFill>
                <a:latin typeface="Yu Gothic"/>
              </a:rPr>
              <a:t>状況に応じてサポート内容は柔軟に変更可能です。雑談レベルでもお気軽にどうぞ。</a:t>
            </a:r>
          </a:p>
          <a:p>
            <a:pPr algn="ctr">
              <a:spcBef>
                <a:spcPts val="0"/>
              </a:spcBef>
              <a:spcAft>
                <a:spcPts val="300"/>
              </a:spcAft>
            </a:pPr>
            <a:r>
              <a:rPr sz="1400" b="1">
                <a:solidFill>
                  <a:srgbClr val="FFFFFF"/>
                </a:solidFill>
                <a:latin typeface="Yu Gothic"/>
              </a:rPr>
              <a:t>担当：佐近　／　メール：info@kita1.jp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