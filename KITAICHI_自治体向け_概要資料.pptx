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20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Yu Gothic"/>
              </a:rPr>
              <a:t>株式会社KITAICHI　ご提案資料（自治体・地域おこし協力隊向け）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064240" cy="10058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Yu Gothic"/>
              </a:rPr>
              <a:t>地域おこし協力隊の挑戦を支える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Yu Gothic"/>
              </a:rPr>
              <a:t>クラウドファンディング活用のご提案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7315200" cy="41148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F3A5F"/>
                </a:solidFill>
                <a:latin typeface="Yu Gothic"/>
              </a:rPr>
              <a:t>■ KITAICHIの想い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6766560" cy="2743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Yu Gothic"/>
              </a:rPr>
              <a:t>クラウドファンディングは、単なる資金調達の手段ではなく、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Yu Gothic"/>
              </a:rPr>
              <a:t>地域で新しい挑戦を始める人が応援者と出会い、活動を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Yu Gothic"/>
              </a:rPr>
              <a:t>継続していくための「仕組み」だと考えています。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Yu Gothic"/>
              </a:rPr>
              <a:t>協力隊の皆さまは、任期後の起業・事業化・定住に向けて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Yu Gothic"/>
              </a:rPr>
              <a:t>挑戦を始められる存在です。一方で、資金面に加え発信・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Yu Gothic"/>
              </a:rPr>
              <a:t>応援者づくり・実績づくりなど多くの壁に直面します。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Yu Gothic"/>
              </a:rPr>
              <a:t>本提案は特定サービスの利用を前提とするものではなく、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8B57"/>
                </a:solidFill>
                <a:latin typeface="Yu Gothic"/>
              </a:rPr>
              <a:t>挑戦を始める際の「選択肢」を知っていただく機会です。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2606040"/>
            <a:ext cx="4069080" cy="2743200"/>
          </a:xfrm>
          <a:prstGeom prst="rect">
            <a:avLst/>
          </a:prstGeom>
          <a:solidFill>
            <a:srgbClr val="D9E2EC"/>
          </a:solidFill>
          <a:ln w="15875">
            <a:solidFill>
              <a:srgbClr val="A9B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6B7B8C"/>
                </a:solidFill>
                <a:latin typeface="Yu Gothic"/>
              </a:rPr>
              <a:t>［写真枠］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6B7B8C"/>
                </a:solidFill>
                <a:latin typeface="Yu Gothic"/>
              </a:rPr>
              <a:t>代表 佐近／協力隊の活動風景など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532120"/>
            <a:ext cx="11064240" cy="7315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Yu Gothic"/>
              </a:rPr>
              <a:t>地域に新しいコトを起こし、たくさんの人から愛される地域をつくる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55555"/>
                </a:solidFill>
                <a:latin typeface="Yu Gothic"/>
              </a:rPr>
              <a:t>株式会社KITAICHI　地域おこし協力隊向け クラウドファンディング活用のご提案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555555"/>
                </a:solidFill>
                <a:latin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5486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Yu Gothic"/>
              </a:rPr>
              <a:t>クラウドファンディングの5つのメリット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Yu Gothic"/>
              </a:rPr>
              <a:t>資金調達以外にも、協力隊の活動を後押しするさまざまな効果があります。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61188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2E6FB5"/>
                </a:solidFill>
                <a:latin typeface="Yu Gothic"/>
              </a:rPr>
              <a:t>① 活動を知ってもらうきっかけ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Yu Gothic"/>
              </a:rPr>
              <a:t>想いをページに整理して発信し、これまで接点のなかった人にも取り組みを知ってもらえます。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61188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2E6FB5"/>
                </a:solidFill>
                <a:latin typeface="Yu Gothic"/>
              </a:rPr>
              <a:t>② 応援者・ファンづくり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Yu Gothic"/>
              </a:rPr>
              <a:t>支援者は背景や想いに共感する応援者。任期後の活動を支えるファンづくりにつながります。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56616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2E6FB5"/>
                </a:solidFill>
                <a:latin typeface="Yu Gothic"/>
              </a:rPr>
              <a:t>③ ニーズの確認（テスト）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Yu Gothic"/>
              </a:rPr>
              <a:t>支援が集まるかを通じて地域内外の反応を確認。事業化前のテストマーケティングにも。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7639"/>
            <a:ext cx="361188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2E6FB5"/>
                </a:solidFill>
                <a:latin typeface="Yu Gothic"/>
              </a:rPr>
              <a:t>④ 地域内の協力者を増やす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Yu Gothic"/>
              </a:rPr>
              <a:t>公開の過程で事業者・自治体・住民・関係団体との連携が生まれるコミュニケーションツール。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977639"/>
            <a:ext cx="361188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2E6FB5"/>
                </a:solidFill>
                <a:latin typeface="Yu Gothic"/>
              </a:rPr>
              <a:t>⑤ 任期後に向けた初期実績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Yu Gothic"/>
              </a:rPr>
              <a:t>資金に加え、支援者数・反応・メディア掲載・協力体制など任期後につながる実績に。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3977639"/>
            <a:ext cx="3566160" cy="2103120"/>
          </a:xfrm>
          <a:prstGeom prst="rect">
            <a:avLst/>
          </a:prstGeom>
          <a:solidFill>
            <a:srgbClr val="D9E2EC"/>
          </a:solidFill>
          <a:ln w="15875">
            <a:solidFill>
              <a:srgbClr val="A9B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6B7B8C"/>
                </a:solidFill>
                <a:latin typeface="Yu Gothic"/>
              </a:rPr>
              <a:t>［写真枠］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6B7B8C"/>
                </a:solidFill>
                <a:latin typeface="Yu Gothic"/>
              </a:rPr>
              <a:t>プロジェクトページ／支援者との交流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55555"/>
                </a:solidFill>
                <a:latin typeface="Yu Gothic"/>
              </a:rPr>
              <a:t>株式会社KITAICHI　地域おこし協力隊向け クラウドファンディング活用のご提案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555555"/>
                </a:solidFill>
                <a:latin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5486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Yu Gothic"/>
              </a:rPr>
              <a:t>実績・事例紹介とサポート内容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F3A5F"/>
                </a:solidFill>
                <a:latin typeface="Yu Gothic"/>
              </a:rPr>
              <a:t>■ 実績・事例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86400" cy="1143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3A5F"/>
                </a:solidFill>
                <a:latin typeface="Yu Gothic"/>
              </a:rPr>
              <a:t>北海道上川町・協力隊の起業プロジェクト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Yu Gothic"/>
              </a:rPr>
              <a:t>ページ制作・リターン設計・プロモーションを支援。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8B57"/>
                </a:solidFill>
                <a:latin typeface="Yu Gothic"/>
              </a:rPr>
              <a:t>開始1週間で230万円、最終的に400万円を獲得。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0" cy="10515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3A5F"/>
                </a:solidFill>
                <a:latin typeface="Yu Gothic"/>
              </a:rPr>
              <a:t>全国規模の実績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Yu Gothic"/>
              </a:rPr>
              <a:t>協力隊CFアワード2023 日本一／ふるさとチョイス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Yu Gothic"/>
              </a:rPr>
              <a:t>CF運営受託で全国850PJの立ち上げを支援。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17320"/>
            <a:ext cx="5394960" cy="2286000"/>
          </a:xfrm>
          <a:prstGeom prst="rect">
            <a:avLst/>
          </a:prstGeom>
          <a:solidFill>
            <a:srgbClr val="D9E2EC"/>
          </a:solidFill>
          <a:ln w="15875">
            <a:solidFill>
              <a:srgbClr val="A9B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6B7B8C"/>
                </a:solidFill>
                <a:latin typeface="Yu Gothic"/>
              </a:rPr>
              <a:t>［写真枠］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6B7B8C"/>
                </a:solidFill>
                <a:latin typeface="Yu Gothic"/>
              </a:rPr>
              <a:t>上川町プロジェクト／事例の写真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F3A5F"/>
                </a:solidFill>
                <a:latin typeface="Yu Gothic"/>
              </a:rPr>
              <a:t>■ KITAICHIのサポート内容（企画から公開後まで伴走）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43400"/>
            <a:ext cx="2157984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6FB5"/>
                </a:solidFill>
                <a:latin typeface="Yu Gothic"/>
              </a:rPr>
              <a:t>① 企画整理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5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Yu Gothic"/>
              </a:rPr>
              <a:t>やりたいこと・地域での意味・魅力を整理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70632" y="4343400"/>
            <a:ext cx="2157984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6FB5"/>
                </a:solidFill>
                <a:latin typeface="Yu Gothic"/>
              </a:rPr>
              <a:t>② 目標金額・リターン設計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5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Yu Gothic"/>
              </a:rPr>
              <a:t>金額の考え方とリターン・導線を設計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2624" y="4343400"/>
            <a:ext cx="2157984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6FB5"/>
                </a:solidFill>
                <a:latin typeface="Yu Gothic"/>
              </a:rPr>
              <a:t>③ ページ構成・文章作成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5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Yu Gothic"/>
              </a:rPr>
              <a:t>タイトル・本文・写真で想いが伝わる形に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14616" y="4343400"/>
            <a:ext cx="2157984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6FB5"/>
                </a:solidFill>
                <a:latin typeface="Yu Gothic"/>
              </a:rPr>
              <a:t>④ 広報・発信計画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5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Yu Gothic"/>
              </a:rPr>
              <a:t>時期ごとの発信とSNS・周知の進め方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4343400"/>
            <a:ext cx="2157984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6FB5"/>
                </a:solidFill>
                <a:latin typeface="Yu Gothic"/>
              </a:rPr>
              <a:t>⑤ 公開後の伴走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5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555555"/>
                </a:solidFill>
                <a:latin typeface="Yu Gothic"/>
              </a:rPr>
              <a:t>状況を見て追加施策・ネクストゴール対応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55555"/>
                </a:solidFill>
                <a:latin typeface="Yu Gothic"/>
              </a:rPr>
              <a:t>株式会社KITAICHI　地域おこし協力隊向け クラウドファンディング活用のご提案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555555"/>
                </a:solidFill>
                <a:latin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5486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Yu Gothic"/>
              </a:rPr>
              <a:t>サポートの強みとご案内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F3A5F"/>
                </a:solidFill>
                <a:latin typeface="Yu Gothic"/>
              </a:rPr>
              <a:t>■ サポートの3つの強み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61188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2E6FB5"/>
                </a:solidFill>
                <a:latin typeface="Yu Gothic"/>
              </a:rPr>
              <a:t>① 全体の見える化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5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Yu Gothic"/>
              </a:rPr>
              <a:t>「いつ・何を」やるか全体を設計し、的確に管理。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61188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2E6FB5"/>
                </a:solidFill>
                <a:latin typeface="Yu Gothic"/>
              </a:rPr>
              <a:t>② CFのプロが戦略立案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5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Yu Gothic"/>
              </a:rPr>
              <a:t>元自治体職員・元サイト運営者・ファンドレイザーが立案。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17320"/>
            <a:ext cx="361188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2E6FB5"/>
                </a:solidFill>
                <a:latin typeface="Yu Gothic"/>
              </a:rPr>
              <a:t>③ 最後まで寄り添う伴走力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5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Yu Gothic"/>
              </a:rPr>
              <a:t>密な連絡と進行管理で挑戦者を一人にしません。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F3A5F"/>
                </a:solidFill>
                <a:latin typeface="Yu Gothic"/>
              </a:rPr>
              <a:t>■ 協力隊向け クラウドファンディング活用セミナーのご案内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91840"/>
            <a:ext cx="6766560" cy="210312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50800" bIns="508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Yu Gothic"/>
              </a:rPr>
              <a:t>研修・定例会・相談会・勉強会・庁内の情報共有など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Yu Gothic"/>
              </a:rPr>
              <a:t>さまざまな場でセミナーをご紹介いただけます。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3A5F"/>
                </a:solidFill>
                <a:latin typeface="Yu Gothic"/>
              </a:rPr>
              <a:t>内容：CFの基本／活用事例／協力隊活動との相性／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3A5F"/>
                </a:solidFill>
                <a:latin typeface="Yu Gothic"/>
              </a:rPr>
              <a:t>　　　挑戦する際の注意点　など（情報提供の場）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555555"/>
                </a:solidFill>
                <a:latin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06C1F"/>
                </a:solidFill>
                <a:latin typeface="Yu Gothic"/>
              </a:rPr>
              <a:t>特別交付税措置の範囲内での実施が可能です。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3291840"/>
            <a:ext cx="4069080" cy="2103120"/>
          </a:xfrm>
          <a:prstGeom prst="rect">
            <a:avLst/>
          </a:prstGeom>
          <a:solidFill>
            <a:srgbClr val="D9E2EC"/>
          </a:solidFill>
          <a:ln w="15875">
            <a:solidFill>
              <a:srgbClr val="A9B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6B7B8C"/>
                </a:solidFill>
                <a:latin typeface="Yu Gothic"/>
              </a:rPr>
              <a:t>［写真枠］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6B7B8C"/>
                </a:solidFill>
                <a:latin typeface="Yu Gothic"/>
              </a:rPr>
              <a:t>セミナー・相談会の様子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77840"/>
            <a:ext cx="11064240" cy="7772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Yu Gothic"/>
              </a:rPr>
              <a:t>ご相談・お問い合わせ　｜　状況に応じてサポート内容は柔軟に変更可能です。雑談レベルでもお気軽にどうぞ。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Yu Gothic"/>
              </a:rPr>
              <a:t>担当：佐近　／　メール：info@kita1.jp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55555"/>
                </a:solidFill>
                <a:latin typeface="Yu Gothic"/>
              </a:rPr>
              <a:t>株式会社KITAICHI　地域おこし協力隊向け クラウドファンディング活用のご提案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 lIns="101600" rIns="101600" tIns="50800" bIns="50800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555555"/>
                </a:solidFill>
                <a:latin typeface="Yu Gothic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