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6400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Noto Sans JP"/>
              </a:rPr>
              <a:t>KITAICHI ｜ 地域おこし協力隊のためのクラウドファンディング活用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FDBE8"/>
                </a:solidFill>
                <a:latin typeface="Noto Sans JP"/>
              </a:rPr>
              <a:t>～ 地域での新しい挑戦を、応援者とともに 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Noto Sans JP"/>
              </a:rPr>
              <a:t>1. KITAICHIの想い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00" cy="45262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943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  <a:latin typeface="Noto Sans JP"/>
              </a:rPr>
              <a:t>クラウドファンディングは、単なる資金調達ではなく、地域で新しい挑戦を始める人が、地域内外の応援者と出会い、活動を継続していくための仕組みです。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  <a:latin typeface="Noto Sans JP"/>
              </a:rPr>
              <a:t>地域おこし協力隊の皆さまは、任期中に地域の課題や資源に深く関わり、任期後の起業・事業化・定住に向けて挑戦を始める可能性を持った存在です。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  <a:latin typeface="Noto Sans JP"/>
              </a:rPr>
              <a:t>一方で、いざ活動を立ち上げると、資金面だけでなく、発信・応援者づくり・見せ方・初期の実績づくりなど、さまざまな壁に直面します。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  <a:latin typeface="Noto Sans JP"/>
              </a:rPr>
              <a:t>KITAICHIは、特定サービスの利用を前提とせず、協力隊の皆さまが「地域で挑戦を始める選択肢」としてクラウドファンディングを知り、活かせるかを考えるきっかけを提供します。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Noto Sans JP"/>
              </a:rPr>
              <a:t>自治体の皆さまにとっても、任期後の定着・起業支援・関係人口づくりにつながる情報提供としてご活用いただけます。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3716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Noto Sans JP"/>
              </a:rPr>
              <a:t>2. クラウドファンディングのメリット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828800"/>
            <a:ext cx="4434840" cy="4526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23760" y="1828800"/>
            <a:ext cx="109728" cy="452628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2011680"/>
            <a:ext cx="4023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Noto Sans JP"/>
              </a:rPr>
              <a:t>① 活動を知ってもらうきっかけ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44444"/>
                </a:solidFill>
                <a:latin typeface="Noto Sans JP"/>
              </a:rPr>
              <a:t>想いをページに整理し、これまで接点のなかった人にも発信できる。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Noto Sans JP"/>
              </a:rPr>
              <a:t>② 応援者・ファンづくり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44444"/>
                </a:solidFill>
                <a:latin typeface="Noto Sans JP"/>
              </a:rPr>
              <a:t>共感して応援してくれる人と出会い、任期後を支える基盤になる。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Noto Sans JP"/>
              </a:rPr>
              <a:t>③ ニーズの確認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44444"/>
                </a:solidFill>
                <a:latin typeface="Noto Sans JP"/>
              </a:rPr>
              <a:t>支援の集まり方で反応を確認。事業化前のテストマーケに。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Noto Sans JP"/>
              </a:rPr>
              <a:t>④ 地域内の協力者を増やす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44444"/>
                </a:solidFill>
                <a:latin typeface="Noto Sans JP"/>
              </a:rPr>
              <a:t>事業者・自治体・住民との連携が生まれる。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Noto Sans JP"/>
              </a:rPr>
              <a:t>⑤ 任期後に向けた初期実績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44444"/>
                </a:solidFill>
                <a:latin typeface="Noto Sans JP"/>
              </a:rPr>
              <a:t>資金・支援者数・メディア掲載・協力体制などが実績に。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64008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Noto Sans JP"/>
              </a:rPr>
              <a:t>事例紹介とKITAICHIのサポート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Noto Sans JP"/>
              </a:rPr>
              <a:t>3. 事例紹介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120640" cy="35661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09728" cy="356616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Noto Sans JP"/>
              </a:rPr>
              <a:t>事例A｜北海道・上川町（れいちぇるさん）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Noto Sans JP"/>
              </a:rPr>
              <a:t>「人生をちょっと好きになれる」カフェ＆フォトスタジオ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7A2B"/>
                </a:solidFill>
                <a:latin typeface="Noto Sans JP"/>
              </a:rPr>
              <a:t>達成 4,178,638円 / 361人 / 139%</a:t>
            </a:r>
            <a:r>
              <a:rPr sz="1000" b="0">
                <a:solidFill>
                  <a:srgbClr val="444444"/>
                </a:solidFill>
                <a:latin typeface="Noto Sans JP"/>
              </a:rPr>
              <a:t>（目標300万円）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0">
                <a:solidFill>
                  <a:srgbClr val="444444"/>
                </a:solidFill>
                <a:latin typeface="Noto Sans JP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Noto Sans JP"/>
              </a:rPr>
              <a:t>事例B｜北海道・厚沢部町（協力隊・中村和恵さん）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Noto Sans JP"/>
              </a:rPr>
              <a:t>古民家カフェ「tabele」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7A2B"/>
                </a:solidFill>
                <a:latin typeface="Noto Sans JP"/>
              </a:rPr>
              <a:t>達成 1,105,000円 / 107人 / 110%</a:t>
            </a:r>
            <a:r>
              <a:rPr sz="1000" b="0">
                <a:solidFill>
                  <a:srgbClr val="444444"/>
                </a:solidFill>
                <a:latin typeface="Noto Sans JP"/>
              </a:rPr>
              <a:t>（目標100万円）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0">
                <a:solidFill>
                  <a:srgbClr val="444444"/>
                </a:solidFill>
                <a:latin typeface="Noto Sans JP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88888"/>
                </a:solidFill>
                <a:latin typeface="Noto Sans JP"/>
              </a:rPr>
              <a:t>いずれも地域おこし協力隊による北海道の「食・地域づくり」事例。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1430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3A5F"/>
                </a:solidFill>
                <a:latin typeface="Noto Sans JP"/>
              </a:rPr>
              <a:t>4. KITAICHIのサポート内容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00200"/>
            <a:ext cx="553212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00200"/>
            <a:ext cx="109728" cy="356616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1206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Noto Sans JP"/>
              </a:rPr>
              <a:t>① 企画整理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44444"/>
                </a:solidFill>
                <a:latin typeface="Noto Sans JP"/>
              </a:rPr>
              <a:t>やりたいこと・地域での意味・魅力を整理し成立しやすい企画に。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Noto Sans JP"/>
              </a:rPr>
              <a:t>② 目標金額・リターン設計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44444"/>
                </a:solidFill>
                <a:latin typeface="Noto Sans JP"/>
              </a:rPr>
              <a:t>金額の考え方、リターン内容・価格、支援導線を一緒に設計。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Noto Sans JP"/>
              </a:rPr>
              <a:t>③ ページ構成・文章作成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44444"/>
                </a:solidFill>
                <a:latin typeface="Noto Sans JP"/>
              </a:rPr>
              <a:t>構成・タイトル・本文・写真など想いが伝わるページづくり。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Noto Sans JP"/>
              </a:rPr>
              <a:t>④ 広報・発信計画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44444"/>
                </a:solidFill>
                <a:latin typeface="Noto Sans JP"/>
              </a:rPr>
              <a:t>公開前～ラストスパートまで時期ごとの発信を整理。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Noto Sans JP"/>
              </a:rPr>
              <a:t>⑤ 公開後の伴走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44444"/>
                </a:solidFill>
                <a:latin typeface="Noto Sans JP"/>
              </a:rPr>
              <a:t>支援状況を見ながら追加施策・ネクストゴール・報告を支援。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Noto Sans JP"/>
              </a:rPr>
              <a:t>研修・定例会・相談会・勉強会などの場で、KITAICHIのクラウドファンディング活用セミナーをぜひご紹介ください。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ysClr val="windowText" lastClr="000000"/>
      </a:dk1>
      <a:lt1>
        <a:sysClr val="window" lastClr="FFFFFF"/>
      </a:lt1>
      <a:dk2>
        <a:srgbClr val="1F3A5F"/>
      </a:dk2>
      <a:lt2>
        <a:srgbClr val="F2F5F8"/>
      </a:lt2>
      <a:accent1>
        <a:srgbClr val="E87A2B"/>
      </a:accent1>
      <a:accent2>
        <a:srgbClr val="4472C4"/>
      </a:accent2>
      <a:accent3>
        <a:srgbClr val="70AD47"/>
      </a:accent3>
      <a:accent4>
        <a:srgbClr val="FFC000"/>
      </a:accent4>
      <a:accent5>
        <a:srgbClr val="5B9BD5"/>
      </a:accent5>
      <a:accent6>
        <a:srgbClr val="A5A5A5"/>
      </a:accent6>
      <a:hlink>
        <a:srgbClr val="0563C1"/>
      </a:hlink>
      <a:folHlink>
        <a:srgbClr val="954F72"/>
      </a:folHlink>
    </a:clrScheme>
    <a:fontScheme name="T">
      <a:majorFont>
        <a:latin typeface="Noto Sans JP"/>
        <a:ea typeface=""/>
        <a:cs typeface=""/>
      </a:majorFont>
      <a:minorFont>
        <a:latin typeface="Noto Sans JP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